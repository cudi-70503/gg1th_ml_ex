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2.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5.xml" ContentType="application/vnd.openxmlformats-officedocument.drawingml.chart+xml"/>
  <Override PartName="/ppt/notesSlides/notesSlide28.xml" ContentType="application/vnd.openxmlformats-officedocument.presentationml.notesSlide+xml"/>
  <Override PartName="/ppt/charts/chart6.xml" ContentType="application/vnd.openxmlformats-officedocument.drawingml.chart+xml"/>
  <Override PartName="/ppt/notesSlides/notesSlide29.xml" ContentType="application/vnd.openxmlformats-officedocument.presentationml.notesSlide+xml"/>
  <Override PartName="/ppt/charts/chart7.xml" ContentType="application/vnd.openxmlformats-officedocument.drawingml.chart+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rts/chart8.xml" ContentType="application/vnd.openxmlformats-officedocument.drawingml.chart+xml"/>
  <Override PartName="/ppt/charts/chart9.xml" ContentType="application/vnd.openxmlformats-officedocument.drawingml.chart+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80" r:id="rId24"/>
    <p:sldId id="281" r:id="rId25"/>
    <p:sldId id="282" r:id="rId26"/>
    <p:sldId id="283" r:id="rId27"/>
    <p:sldId id="284" r:id="rId28"/>
    <p:sldId id="285" r:id="rId29"/>
    <p:sldId id="286" r:id="rId30"/>
    <p:sldId id="287" r:id="rId31"/>
    <p:sldId id="289" r:id="rId32"/>
    <p:sldId id="288" r:id="rId33"/>
    <p:sldId id="290" r:id="rId34"/>
    <p:sldId id="291" r:id="rId35"/>
    <p:sldId id="292" r:id="rId36"/>
    <p:sldId id="293" r:id="rId37"/>
    <p:sldId id="295" r:id="rId3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56076" autoAdjust="0"/>
  </p:normalViewPr>
  <p:slideViewPr>
    <p:cSldViewPr snapToGrid="0" snapToObjects="1">
      <p:cViewPr varScale="1">
        <p:scale>
          <a:sx n="59" d="100"/>
          <a:sy n="59" d="100"/>
        </p:scale>
        <p:origin x="255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bar"/>
        <c:grouping val="clustered"/>
        <c:varyColors val="0"/>
        <c:ser>
          <c:idx val="0"/>
          <c:order val="0"/>
          <c:tx>
            <c:strRef>
              <c:f>Sheet1!$B$1</c:f>
              <c:strCache>
                <c:ptCount val="1"/>
                <c:pt idx="0">
                  <c:v>상관계수</c:v>
                </c:pt>
              </c:strCache>
            </c:strRef>
          </c:tx>
          <c:spPr>
            <a:solidFill>
              <a:srgbClr val="1C7293"/>
            </a:solidFill>
            <a:effectLst/>
          </c:spPr>
          <c:invertIfNegative val="0"/>
          <c:dLbls>
            <c:numFmt formatCode="0.000" sourceLinked="0"/>
            <c:spPr>
              <a:noFill/>
              <a:ln>
                <a:noFill/>
              </a:ln>
              <a:effectLst/>
            </c:spPr>
            <c:txPr>
              <a:bodyPr/>
              <a:lstStyle/>
              <a:p>
                <a:pPr>
                  <a:defRPr sz="1100" b="0" i="0" u="none" strike="noStrike">
                    <a:solidFill>
                      <a:srgbClr val="1A1A1A"/>
                    </a:solidFill>
                    <a:latin typeface="맑은 고딕"/>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배터리 온도</c:v>
                </c:pt>
                <c:pt idx="1">
                  <c:v>타이어 공기압</c:v>
                </c:pt>
                <c:pt idx="2">
                  <c:v>외기온</c:v>
                </c:pt>
                <c:pt idx="3">
                  <c:v>주행거리</c:v>
                </c:pt>
                <c:pt idx="4">
                  <c:v>운전 습관</c:v>
                </c:pt>
                <c:pt idx="5">
                  <c:v>공조 전력</c:v>
                </c:pt>
                <c:pt idx="6">
                  <c:v>주행 속도</c:v>
                </c:pt>
                <c:pt idx="7">
                  <c:v>적재중량</c:v>
                </c:pt>
                <c:pt idx="8">
                  <c:v>도로 경사도</c:v>
                </c:pt>
              </c:strCache>
            </c:strRef>
          </c:cat>
          <c:val>
            <c:numRef>
              <c:f>Sheet1!$B$2:$B$10</c:f>
              <c:numCache>
                <c:formatCode>General</c:formatCode>
                <c:ptCount val="9"/>
                <c:pt idx="0">
                  <c:v>-8.6999999999999994E-2</c:v>
                </c:pt>
                <c:pt idx="1">
                  <c:v>-9.5000000000000001E-2</c:v>
                </c:pt>
                <c:pt idx="2">
                  <c:v>-0.155</c:v>
                </c:pt>
                <c:pt idx="3">
                  <c:v>0.17199999999999999</c:v>
                </c:pt>
                <c:pt idx="4">
                  <c:v>0.25800000000000001</c:v>
                </c:pt>
                <c:pt idx="5">
                  <c:v>0.37</c:v>
                </c:pt>
                <c:pt idx="6">
                  <c:v>0.44800000000000001</c:v>
                </c:pt>
                <c:pt idx="7">
                  <c:v>0.46899999999999997</c:v>
                </c:pt>
                <c:pt idx="8">
                  <c:v>0.505</c:v>
                </c:pt>
              </c:numCache>
            </c:numRef>
          </c:val>
          <c:extLst>
            <c:ext xmlns:c16="http://schemas.microsoft.com/office/drawing/2014/chart" uri="{C3380CC4-5D6E-409C-BE32-E72D297353CC}">
              <c16:uniqueId val="{00000000-FB56-41E4-8085-A32C9056B8BA}"/>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F6B78"/>
                </a:solidFill>
                <a:latin typeface="맑은 고딕"/>
              </a:defRPr>
            </a:pPr>
            <a:endParaRPr lang="en-US"/>
          </a:p>
        </c:txPr>
        <c:crossAx val="2094734552"/>
        <c:crosses val="autoZero"/>
        <c:auto val="1"/>
        <c:lblAlgn val="ctr"/>
        <c:lblOffset val="100"/>
        <c:noMultiLvlLbl val="1"/>
      </c:catAx>
      <c:valAx>
        <c:axId val="2094734552"/>
        <c:scaling>
          <c:orientation val="minMax"/>
          <c:max val="0.6"/>
          <c:min val="-0.25"/>
        </c:scaling>
        <c:delete val="0"/>
        <c:axPos val="b"/>
        <c:majorGridlines>
          <c:spPr>
            <a:ln w="12700" cap="flat">
              <a:solidFill>
                <a:srgbClr val="E4EAE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F6B78"/>
                </a:solidFill>
                <a:latin typeface="맑은 고딕"/>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lineChart>
        <c:grouping val="standard"/>
        <c:varyColors val="0"/>
        <c:ser>
          <c:idx val="0"/>
          <c:order val="0"/>
          <c:tx>
            <c:strRef>
              <c:f>Sheet1!$B$1</c:f>
              <c:strCache>
                <c:ptCount val="1"/>
                <c:pt idx="0">
                  <c:v>구간 평균 소비율</c:v>
                </c:pt>
              </c:strCache>
            </c:strRef>
          </c:tx>
          <c:spPr>
            <a:ln w="38100" cap="flat">
              <a:solidFill>
                <a:srgbClr val="1C7293"/>
              </a:solidFill>
              <a:prstDash val="solid"/>
              <a:round/>
            </a:ln>
            <a:effectLst/>
          </c:spPr>
          <c:marker>
            <c:symbol val="circle"/>
            <c:size val="8"/>
            <c:spPr>
              <a:solidFill>
                <a:srgbClr val="1C7293"/>
              </a:solidFill>
              <a:ln w="9525" cap="flat">
                <a:solidFill>
                  <a:srgbClr val="1C7293"/>
                </a:solidFill>
                <a:prstDash val="solid"/>
                <a:round/>
              </a:ln>
              <a:effectLst/>
            </c:spPr>
          </c:marker>
          <c:dLbls>
            <c:numFmt formatCode="0.0" sourceLinked="0"/>
            <c:spPr>
              <a:noFill/>
              <a:ln>
                <a:noFill/>
              </a:ln>
              <a:effectLst/>
            </c:spPr>
            <c:txPr>
              <a:bodyPr/>
              <a:lstStyle/>
              <a:p>
                <a:pPr>
                  <a:defRPr sz="1100" b="0" i="0" u="none" strike="noStrike">
                    <a:solidFill>
                      <a:srgbClr val="1A1A1A"/>
                    </a:solidFill>
                    <a:latin typeface="맑은 고딕"/>
                  </a:defRPr>
                </a:pPr>
                <a:endParaRPr lang="ko-K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-7.4</c:v>
                </c:pt>
                <c:pt idx="1">
                  <c:v>-2.0</c:v>
                </c:pt>
                <c:pt idx="2">
                  <c:v>3.4</c:v>
                </c:pt>
                <c:pt idx="3">
                  <c:v>8.4</c:v>
                </c:pt>
                <c:pt idx="4">
                  <c:v>13.5</c:v>
                </c:pt>
                <c:pt idx="5">
                  <c:v>18.4</c:v>
                </c:pt>
                <c:pt idx="6">
                  <c:v>23.3</c:v>
                </c:pt>
                <c:pt idx="7">
                  <c:v>28.0</c:v>
                </c:pt>
                <c:pt idx="8">
                  <c:v>32.9</c:v>
                </c:pt>
                <c:pt idx="9">
                  <c:v>37.8</c:v>
                </c:pt>
              </c:strCache>
            </c:strRef>
          </c:cat>
          <c:val>
            <c:numRef>
              <c:f>Sheet1!$B$2:$B$11</c:f>
              <c:numCache>
                <c:formatCode>General</c:formatCode>
                <c:ptCount val="10"/>
                <c:pt idx="0">
                  <c:v>25.99</c:v>
                </c:pt>
                <c:pt idx="1">
                  <c:v>25.1</c:v>
                </c:pt>
                <c:pt idx="2">
                  <c:v>24.62</c:v>
                </c:pt>
                <c:pt idx="3">
                  <c:v>23.54</c:v>
                </c:pt>
                <c:pt idx="4">
                  <c:v>23.62</c:v>
                </c:pt>
                <c:pt idx="5">
                  <c:v>23.7</c:v>
                </c:pt>
                <c:pt idx="6">
                  <c:v>23.51</c:v>
                </c:pt>
                <c:pt idx="7">
                  <c:v>23.55</c:v>
                </c:pt>
                <c:pt idx="8">
                  <c:v>23.58</c:v>
                </c:pt>
                <c:pt idx="9">
                  <c:v>24.17</c:v>
                </c:pt>
              </c:numCache>
            </c:numRef>
          </c:val>
          <c:smooth val="0"/>
          <c:extLst>
            <c:ext xmlns:c16="http://schemas.microsoft.com/office/drawing/2014/chart" uri="{C3380CC4-5D6E-409C-BE32-E72D297353CC}">
              <c16:uniqueId val="{00000000-E640-4BC6-9B7B-91EA1F39D01B}"/>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100" b="0" i="0" u="none" strike="noStrike">
                    <a:solidFill>
                      <a:srgbClr val="5F6B78"/>
                    </a:solidFill>
                    <a:latin typeface="맑은 고딕"/>
                  </a:defRPr>
                </a:pPr>
                <a:r>
                  <a:rPr lang="ko-KR" altLang="en-US" sz="1100" b="0" i="0" u="none" strike="noStrike">
                    <a:solidFill>
                      <a:srgbClr val="5F6B78"/>
                    </a:solidFill>
                    <a:latin typeface="맑은 고딕"/>
                  </a:rPr>
                  <a:t>외기온 구간 평균 </a:t>
                </a:r>
                <a:r>
                  <a:rPr lang="en-US" altLang="ko-KR" sz="1100" b="0" i="0" u="none" strike="noStrike">
                    <a:solidFill>
                      <a:srgbClr val="5F6B78"/>
                    </a:solidFill>
                    <a:latin typeface="맑은 고딕"/>
                  </a:rPr>
                  <a:t>(°C)</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6B78"/>
                </a:solidFill>
                <a:latin typeface="맑은 고딕"/>
              </a:defRPr>
            </a:pPr>
            <a:endParaRPr lang="en-US"/>
          </a:p>
        </c:txPr>
        <c:crossAx val="2094734552"/>
        <c:crosses val="autoZero"/>
        <c:auto val="1"/>
        <c:lblAlgn val="ctr"/>
        <c:lblOffset val="100"/>
        <c:noMultiLvlLbl val="1"/>
      </c:catAx>
      <c:valAx>
        <c:axId val="2094734552"/>
        <c:scaling>
          <c:orientation val="minMax"/>
          <c:max val="26.9"/>
          <c:min val="22.7"/>
        </c:scaling>
        <c:delete val="0"/>
        <c:axPos val="l"/>
        <c:majorGridlines>
          <c:spPr>
            <a:ln w="12700" cap="flat">
              <a:solidFill>
                <a:srgbClr val="E4EAEF"/>
              </a:solidFill>
              <a:prstDash val="solid"/>
              <a:round/>
            </a:ln>
          </c:spPr>
        </c:majorGridlines>
        <c:title>
          <c:tx>
            <c:rich>
              <a:bodyPr/>
              <a:lstStyle/>
              <a:p>
                <a:pPr>
                  <a:defRPr sz="1100" b="0" i="0" u="none" strike="noStrike">
                    <a:solidFill>
                      <a:srgbClr val="5F6B78"/>
                    </a:solidFill>
                    <a:latin typeface="맑은 고딕"/>
                  </a:defRPr>
                </a:pPr>
                <a:r>
                  <a:rPr lang="en-US" sz="1100" b="0" i="0" u="none" strike="noStrike">
                    <a:solidFill>
                      <a:srgbClr val="5F6B78"/>
                    </a:solidFill>
                    <a:latin typeface="맑은 고딕"/>
                  </a:rPr>
                  <a:t>kWh/100km</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6B78"/>
                </a:solidFill>
                <a:latin typeface="맑은 고딕"/>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300" b="0" i="0" u="none" strike="noStrike">
                <a:solidFill>
                  <a:srgbClr val="0E3A5C"/>
                </a:solidFill>
                <a:latin typeface="맑은 고딕"/>
              </a:defRPr>
            </a:pPr>
            <a:r>
              <a:rPr lang="ko-KR" altLang="en-US" sz="1300" b="0" i="0" u="none" strike="noStrike">
                <a:solidFill>
                  <a:srgbClr val="0E3A5C"/>
                </a:solidFill>
                <a:latin typeface="맑은 고딕"/>
              </a:rPr>
              <a:t>테스트 </a:t>
            </a:r>
            <a:r>
              <a:rPr lang="en-US" altLang="ko-KR" sz="1300" b="0" i="0" u="none" strike="noStrike">
                <a:solidFill>
                  <a:srgbClr val="0E3A5C"/>
                </a:solidFill>
                <a:latin typeface="맑은 고딕"/>
              </a:rPr>
              <a:t>RMSE — </a:t>
            </a:r>
            <a:r>
              <a:rPr lang="ko-KR" altLang="en-US" sz="1300" b="0" i="0" u="none" strike="noStrike">
                <a:solidFill>
                  <a:srgbClr val="0E3A5C"/>
                </a:solidFill>
                <a:latin typeface="맑은 고딕"/>
              </a:rPr>
              <a:t>낮을수록 좋음</a:t>
            </a:r>
          </a:p>
        </c:rich>
      </c:tx>
      <c:overlay val="0"/>
    </c:title>
    <c:autoTitleDeleted val="0"/>
    <c:plotArea>
      <c:layout/>
      <c:barChart>
        <c:barDir val="col"/>
        <c:grouping val="clustered"/>
        <c:varyColors val="0"/>
        <c:ser>
          <c:idx val="0"/>
          <c:order val="0"/>
          <c:tx>
            <c:strRef>
              <c:f>Sheet1!$B$1</c:f>
              <c:strCache>
                <c:ptCount val="1"/>
                <c:pt idx="0">
                  <c:v>테스트 RMSE</c:v>
                </c:pt>
              </c:strCache>
            </c:strRef>
          </c:tx>
          <c:spPr>
            <a:solidFill>
              <a:srgbClr val="1C7293"/>
            </a:solidFill>
            <a:effectLst/>
          </c:spPr>
          <c:invertIfNegative val="0"/>
          <c:dPt>
            <c:idx val="0"/>
            <c:invertIfNegative val="0"/>
            <c:bubble3D val="0"/>
            <c:extLst>
              <c:ext xmlns:c16="http://schemas.microsoft.com/office/drawing/2014/chart" uri="{C3380CC4-5D6E-409C-BE32-E72D297353CC}">
                <c16:uniqueId val="{00000001-049A-41B3-98B9-5C56C6F9FF8F}"/>
              </c:ext>
            </c:extLst>
          </c:dPt>
          <c:dPt>
            <c:idx val="1"/>
            <c:invertIfNegative val="0"/>
            <c:bubble3D val="0"/>
            <c:spPr>
              <a:solidFill>
                <a:srgbClr val="9AB8C9"/>
              </a:solidFill>
              <a:effectLst/>
            </c:spPr>
            <c:extLst>
              <c:ext xmlns:c16="http://schemas.microsoft.com/office/drawing/2014/chart" uri="{C3380CC4-5D6E-409C-BE32-E72D297353CC}">
                <c16:uniqueId val="{00000003-049A-41B3-98B9-5C56C6F9FF8F}"/>
              </c:ext>
            </c:extLst>
          </c:dPt>
          <c:dPt>
            <c:idx val="2"/>
            <c:invertIfNegative val="0"/>
            <c:bubble3D val="0"/>
            <c:spPr>
              <a:solidFill>
                <a:srgbClr val="9AB8C9"/>
              </a:solidFill>
              <a:effectLst/>
            </c:spPr>
            <c:extLst>
              <c:ext xmlns:c16="http://schemas.microsoft.com/office/drawing/2014/chart" uri="{C3380CC4-5D6E-409C-BE32-E72D297353CC}">
                <c16:uniqueId val="{00000005-049A-41B3-98B9-5C56C6F9FF8F}"/>
              </c:ext>
            </c:extLst>
          </c:dPt>
          <c:dLbls>
            <c:numFmt formatCode="0.0000" sourceLinked="0"/>
            <c:spPr>
              <a:noFill/>
              <a:ln>
                <a:noFill/>
              </a:ln>
              <a:effectLst/>
            </c:spPr>
            <c:txPr>
              <a:bodyPr/>
              <a:lstStyle/>
              <a:p>
                <a:pPr>
                  <a:defRPr sz="1100" b="0" i="0" u="none" strike="noStrike">
                    <a:solidFill>
                      <a:srgbClr val="1A1A1A"/>
                    </a:solidFill>
                    <a:latin typeface="맑은 고딕"/>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선형회귀</c:v>
                </c:pt>
                <c:pt idx="1">
                  <c:v>튜닝 트리</c:v>
                </c:pt>
                <c:pt idx="2">
                  <c:v>기본 트리</c:v>
                </c:pt>
              </c:strCache>
            </c:strRef>
          </c:cat>
          <c:val>
            <c:numRef>
              <c:f>Sheet1!$B$2:$B$4</c:f>
              <c:numCache>
                <c:formatCode>General</c:formatCode>
                <c:ptCount val="3"/>
                <c:pt idx="0">
                  <c:v>1.0093000000000001</c:v>
                </c:pt>
                <c:pt idx="1">
                  <c:v>1.8064</c:v>
                </c:pt>
                <c:pt idx="2">
                  <c:v>1.9710000000000001</c:v>
                </c:pt>
              </c:numCache>
            </c:numRef>
          </c:val>
          <c:extLst>
            <c:ext xmlns:c16="http://schemas.microsoft.com/office/drawing/2014/chart" uri="{C3380CC4-5D6E-409C-BE32-E72D297353CC}">
              <c16:uniqueId val="{00000006-049A-41B3-98B9-5C56C6F9FF8F}"/>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F6B78"/>
                </a:solidFill>
                <a:latin typeface="맑은 고딕"/>
              </a:defRPr>
            </a:pPr>
            <a:endParaRPr lang="en-US"/>
          </a:p>
        </c:txPr>
        <c:crossAx val="2094734552"/>
        <c:crosses val="autoZero"/>
        <c:auto val="1"/>
        <c:lblAlgn val="ctr"/>
        <c:lblOffset val="100"/>
        <c:noMultiLvlLbl val="1"/>
      </c:catAx>
      <c:valAx>
        <c:axId val="2094734552"/>
        <c:scaling>
          <c:orientation val="minMax"/>
          <c:max val="2.4"/>
          <c:min val="0"/>
        </c:scaling>
        <c:delete val="0"/>
        <c:axPos val="l"/>
        <c:majorGridlines>
          <c:spPr>
            <a:ln w="12700" cap="flat">
              <a:solidFill>
                <a:srgbClr val="E4EA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6B78"/>
                </a:solidFill>
                <a:latin typeface="맑은 고딕"/>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300" b="0" i="0" u="none" strike="noStrike">
                <a:solidFill>
                  <a:srgbClr val="0E3A5C"/>
                </a:solidFill>
                <a:latin typeface="맑은 고딕"/>
              </a:defRPr>
            </a:pPr>
            <a:r>
              <a:rPr lang="ko-KR" altLang="en-US" sz="1300" b="0" i="0" u="none" strike="noStrike">
                <a:solidFill>
                  <a:srgbClr val="0E3A5C"/>
                </a:solidFill>
                <a:latin typeface="맑은 고딕"/>
              </a:rPr>
              <a:t>학습 </a:t>
            </a:r>
            <a:r>
              <a:rPr lang="en-US" altLang="ko-KR" sz="1300" b="0" i="0" u="none" strike="noStrike">
                <a:solidFill>
                  <a:srgbClr val="0E3A5C"/>
                </a:solidFill>
                <a:latin typeface="맑은 고딕"/>
              </a:rPr>
              <a:t>R² </a:t>
            </a:r>
            <a:r>
              <a:rPr lang="ko-KR" altLang="en-US" sz="1300" b="0" i="0" u="none" strike="noStrike">
                <a:solidFill>
                  <a:srgbClr val="0E3A5C"/>
                </a:solidFill>
                <a:latin typeface="맑은 고딕"/>
              </a:rPr>
              <a:t>대 테스트 </a:t>
            </a:r>
            <a:r>
              <a:rPr lang="en-US" altLang="ko-KR" sz="1300" b="0" i="0" u="none" strike="noStrike">
                <a:solidFill>
                  <a:srgbClr val="0E3A5C"/>
                </a:solidFill>
                <a:latin typeface="맑은 고딕"/>
              </a:rPr>
              <a:t>R² — </a:t>
            </a:r>
            <a:r>
              <a:rPr lang="ko-KR" altLang="en-US" sz="1300" b="0" i="0" u="none" strike="noStrike">
                <a:solidFill>
                  <a:srgbClr val="0E3A5C"/>
                </a:solidFill>
                <a:latin typeface="맑은 고딕"/>
              </a:rPr>
              <a:t>차이가 클수록 과적합</a:t>
            </a:r>
          </a:p>
        </c:rich>
      </c:tx>
      <c:overlay val="0"/>
    </c:title>
    <c:autoTitleDeleted val="0"/>
    <c:plotArea>
      <c:layout/>
      <c:barChart>
        <c:barDir val="col"/>
        <c:grouping val="clustered"/>
        <c:varyColors val="0"/>
        <c:ser>
          <c:idx val="0"/>
          <c:order val="0"/>
          <c:tx>
            <c:strRef>
              <c:f>Sheet1!$B$1</c:f>
              <c:strCache>
                <c:ptCount val="1"/>
                <c:pt idx="0">
                  <c:v>학습 R²</c:v>
                </c:pt>
              </c:strCache>
            </c:strRef>
          </c:tx>
          <c:spPr>
            <a:solidFill>
              <a:srgbClr val="9AB8C9"/>
            </a:solidFill>
            <a:effectLst/>
          </c:spPr>
          <c:invertIfNegative val="0"/>
          <c:dLbls>
            <c:numFmt formatCode="0.000" sourceLinked="0"/>
            <c:spPr>
              <a:noFill/>
              <a:ln>
                <a:noFill/>
              </a:ln>
              <a:effectLst/>
            </c:spPr>
            <c:txPr>
              <a:bodyPr/>
              <a:lstStyle/>
              <a:p>
                <a:pPr>
                  <a:defRPr sz="1000" b="0" i="0" u="none" strike="noStrike">
                    <a:solidFill>
                      <a:srgbClr val="1A1A1A"/>
                    </a:solidFill>
                    <a:latin typeface="맑은 고딕"/>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선형회귀</c:v>
                </c:pt>
                <c:pt idx="1">
                  <c:v>튜닝 트리</c:v>
                </c:pt>
                <c:pt idx="2">
                  <c:v>기본 트리</c:v>
                </c:pt>
              </c:strCache>
            </c:strRef>
          </c:cat>
          <c:val>
            <c:numRef>
              <c:f>Sheet1!$B$2:$B$4</c:f>
              <c:numCache>
                <c:formatCode>General</c:formatCode>
                <c:ptCount val="3"/>
                <c:pt idx="0">
                  <c:v>0.92849999999999999</c:v>
                </c:pt>
                <c:pt idx="1">
                  <c:v>0.89559999999999995</c:v>
                </c:pt>
                <c:pt idx="2">
                  <c:v>1</c:v>
                </c:pt>
              </c:numCache>
            </c:numRef>
          </c:val>
          <c:extLst>
            <c:ext xmlns:c16="http://schemas.microsoft.com/office/drawing/2014/chart" uri="{C3380CC4-5D6E-409C-BE32-E72D297353CC}">
              <c16:uniqueId val="{00000000-79AB-4762-9E21-332B614BD308}"/>
            </c:ext>
          </c:extLst>
        </c:ser>
        <c:ser>
          <c:idx val="1"/>
          <c:order val="1"/>
          <c:tx>
            <c:strRef>
              <c:f>Sheet1!$C$1</c:f>
              <c:strCache>
                <c:ptCount val="1"/>
                <c:pt idx="0">
                  <c:v>테스트 R²</c:v>
                </c:pt>
              </c:strCache>
            </c:strRef>
          </c:tx>
          <c:spPr>
            <a:solidFill>
              <a:srgbClr val="1C7293"/>
            </a:solidFill>
            <a:effectLst/>
          </c:spPr>
          <c:invertIfNegative val="0"/>
          <c:dLbls>
            <c:numFmt formatCode="0.000" sourceLinked="0"/>
            <c:spPr>
              <a:noFill/>
              <a:ln>
                <a:noFill/>
              </a:ln>
              <a:effectLst/>
            </c:spPr>
            <c:txPr>
              <a:bodyPr/>
              <a:lstStyle/>
              <a:p>
                <a:pPr>
                  <a:defRPr sz="1000" b="0" i="0" u="none" strike="noStrike">
                    <a:solidFill>
                      <a:srgbClr val="1A1A1A"/>
                    </a:solidFill>
                    <a:latin typeface="맑은 고딕"/>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선형회귀</c:v>
                </c:pt>
                <c:pt idx="1">
                  <c:v>튜닝 트리</c:v>
                </c:pt>
                <c:pt idx="2">
                  <c:v>기본 트리</c:v>
                </c:pt>
              </c:strCache>
            </c:strRef>
          </c:cat>
          <c:val>
            <c:numRef>
              <c:f>Sheet1!$C$2:$C$4</c:f>
              <c:numCache>
                <c:formatCode>General</c:formatCode>
                <c:ptCount val="3"/>
                <c:pt idx="0">
                  <c:v>0.92459999999999998</c:v>
                </c:pt>
                <c:pt idx="1">
                  <c:v>0.75849999999999995</c:v>
                </c:pt>
                <c:pt idx="2">
                  <c:v>0.71250000000000002</c:v>
                </c:pt>
              </c:numCache>
            </c:numRef>
          </c:val>
          <c:extLst>
            <c:ext xmlns:c16="http://schemas.microsoft.com/office/drawing/2014/chart" uri="{C3380CC4-5D6E-409C-BE32-E72D297353CC}">
              <c16:uniqueId val="{00000001-79AB-4762-9E21-332B614BD308}"/>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F6B78"/>
                </a:solidFill>
                <a:latin typeface="맑은 고딕"/>
              </a:defRPr>
            </a:pPr>
            <a:endParaRPr lang="en-US"/>
          </a:p>
        </c:txPr>
        <c:crossAx val="2094734552"/>
        <c:crosses val="autoZero"/>
        <c:auto val="1"/>
        <c:lblAlgn val="ctr"/>
        <c:lblOffset val="100"/>
        <c:noMultiLvlLbl val="1"/>
      </c:catAx>
      <c:valAx>
        <c:axId val="2094734552"/>
        <c:scaling>
          <c:orientation val="minMax"/>
          <c:max val="1.05"/>
          <c:min val="0.6"/>
        </c:scaling>
        <c:delete val="0"/>
        <c:axPos val="l"/>
        <c:majorGridlines>
          <c:spPr>
            <a:ln w="12700" cap="flat">
              <a:solidFill>
                <a:srgbClr val="E4EA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6B78"/>
                </a:solidFill>
                <a:latin typeface="맑은 고딕"/>
              </a:defRPr>
            </a:pPr>
            <a:endParaRPr lang="en-US"/>
          </a:p>
        </c:txPr>
        <c:crossAx val="2094734554"/>
        <c:crosses val="autoZero"/>
        <c:crossBetween val="between"/>
      </c:valAx>
      <c:spPr>
        <a:noFill/>
        <a:ln>
          <a:noFill/>
        </a:ln>
        <a:effectLst/>
      </c:spPr>
    </c:plotArea>
    <c:legend>
      <c:legendPos val="t"/>
      <c:overlay val="0"/>
      <c:txPr>
        <a:bodyPr/>
        <a:lstStyle/>
        <a:p>
          <a:pPr>
            <a:defRPr sz="1150">
              <a:solidFill>
                <a:srgbClr val="1A1A1A"/>
              </a:solidFill>
              <a:latin typeface="맑은 고딕"/>
              <a:cs typeface="맑은 고딕"/>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bar"/>
        <c:grouping val="clustered"/>
        <c:varyColors val="0"/>
        <c:ser>
          <c:idx val="0"/>
          <c:order val="0"/>
          <c:tx>
            <c:strRef>
              <c:f>Sheet1!$B$1</c:f>
              <c:strCache>
                <c:ptCount val="1"/>
                <c:pt idx="0">
                  <c:v>테스트 RMSE</c:v>
                </c:pt>
              </c:strCache>
            </c:strRef>
          </c:tx>
          <c:spPr>
            <a:solidFill>
              <a:srgbClr val="1C7293"/>
            </a:solidFill>
            <a:effectLst/>
          </c:spPr>
          <c:invertIfNegative val="0"/>
          <c:dPt>
            <c:idx val="0"/>
            <c:invertIfNegative val="0"/>
            <c:bubble3D val="0"/>
            <c:extLst>
              <c:ext xmlns:c16="http://schemas.microsoft.com/office/drawing/2014/chart" uri="{C3380CC4-5D6E-409C-BE32-E72D297353CC}">
                <c16:uniqueId val="{00000001-AFB1-4109-A11C-21DE0FB56AB1}"/>
              </c:ext>
            </c:extLst>
          </c:dPt>
          <c:dPt>
            <c:idx val="1"/>
            <c:invertIfNegative val="0"/>
            <c:bubble3D val="0"/>
            <c:spPr>
              <a:solidFill>
                <a:srgbClr val="6D9CB5"/>
              </a:solidFill>
              <a:effectLst/>
            </c:spPr>
            <c:extLst>
              <c:ext xmlns:c16="http://schemas.microsoft.com/office/drawing/2014/chart" uri="{C3380CC4-5D6E-409C-BE32-E72D297353CC}">
                <c16:uniqueId val="{00000003-AFB1-4109-A11C-21DE0FB56AB1}"/>
              </c:ext>
            </c:extLst>
          </c:dPt>
          <c:dPt>
            <c:idx val="2"/>
            <c:invertIfNegative val="0"/>
            <c:bubble3D val="0"/>
            <c:spPr>
              <a:solidFill>
                <a:srgbClr val="9AB8C9"/>
              </a:solidFill>
              <a:effectLst/>
            </c:spPr>
            <c:extLst>
              <c:ext xmlns:c16="http://schemas.microsoft.com/office/drawing/2014/chart" uri="{C3380CC4-5D6E-409C-BE32-E72D297353CC}">
                <c16:uniqueId val="{00000005-AFB1-4109-A11C-21DE0FB56AB1}"/>
              </c:ext>
            </c:extLst>
          </c:dPt>
          <c:dPt>
            <c:idx val="3"/>
            <c:invertIfNegative val="0"/>
            <c:bubble3D val="0"/>
            <c:spPr>
              <a:solidFill>
                <a:srgbClr val="BCCFDA"/>
              </a:solidFill>
              <a:effectLst/>
            </c:spPr>
            <c:extLst>
              <c:ext xmlns:c16="http://schemas.microsoft.com/office/drawing/2014/chart" uri="{C3380CC4-5D6E-409C-BE32-E72D297353CC}">
                <c16:uniqueId val="{00000007-AFB1-4109-A11C-21DE0FB56AB1}"/>
              </c:ext>
            </c:extLst>
          </c:dPt>
          <c:dLbls>
            <c:numFmt formatCode="0.0000" sourceLinked="0"/>
            <c:spPr>
              <a:noFill/>
              <a:ln>
                <a:noFill/>
              </a:ln>
              <a:effectLst/>
            </c:spPr>
            <c:txPr>
              <a:bodyPr/>
              <a:lstStyle/>
              <a:p>
                <a:pPr>
                  <a:defRPr sz="1100" b="0" i="0" u="none" strike="noStrike">
                    <a:solidFill>
                      <a:srgbClr val="1A1A1A"/>
                    </a:solidFill>
                    <a:latin typeface="맑은 고딕"/>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개선 선형회귀</c:v>
                </c:pt>
                <c:pt idx="1">
                  <c:v>선형회귀</c:v>
                </c:pt>
                <c:pt idx="2">
                  <c:v>튜닝 트리</c:v>
                </c:pt>
                <c:pt idx="3">
                  <c:v>기본 트리</c:v>
                </c:pt>
              </c:strCache>
            </c:strRef>
          </c:cat>
          <c:val>
            <c:numRef>
              <c:f>Sheet1!$B$2:$B$5</c:f>
              <c:numCache>
                <c:formatCode>General</c:formatCode>
                <c:ptCount val="4"/>
                <c:pt idx="0">
                  <c:v>0.81120000000000003</c:v>
                </c:pt>
                <c:pt idx="1">
                  <c:v>1.0093000000000001</c:v>
                </c:pt>
                <c:pt idx="2">
                  <c:v>1.8064</c:v>
                </c:pt>
                <c:pt idx="3">
                  <c:v>1.9710000000000001</c:v>
                </c:pt>
              </c:numCache>
            </c:numRef>
          </c:val>
          <c:extLst>
            <c:ext xmlns:c16="http://schemas.microsoft.com/office/drawing/2014/chart" uri="{C3380CC4-5D6E-409C-BE32-E72D297353CC}">
              <c16:uniqueId val="{00000008-AFB1-4109-A11C-21DE0FB56AB1}"/>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F6B78"/>
                </a:solidFill>
                <a:latin typeface="맑은 고딕"/>
              </a:defRPr>
            </a:pPr>
            <a:endParaRPr lang="en-US"/>
          </a:p>
        </c:txPr>
        <c:crossAx val="2094734552"/>
        <c:crosses val="autoZero"/>
        <c:auto val="1"/>
        <c:lblAlgn val="ctr"/>
        <c:lblOffset val="100"/>
        <c:noMultiLvlLbl val="1"/>
      </c:catAx>
      <c:valAx>
        <c:axId val="2094734552"/>
        <c:scaling>
          <c:orientation val="minMax"/>
          <c:max val="2.2999999999999998"/>
          <c:min val="0"/>
        </c:scaling>
        <c:delete val="0"/>
        <c:axPos val="b"/>
        <c:majorGridlines>
          <c:spPr>
            <a:ln w="12700" cap="flat">
              <a:solidFill>
                <a:srgbClr val="E4EAE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F6B78"/>
                </a:solidFill>
                <a:latin typeface="맑은 고딕"/>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300" b="0" i="0" u="none" strike="noStrike">
                <a:solidFill>
                  <a:srgbClr val="0E3A5C"/>
                </a:solidFill>
                <a:latin typeface="맑은 고딕"/>
              </a:defRPr>
            </a:pPr>
            <a:r>
              <a:rPr lang="ko-KR" altLang="en-US" sz="1300" b="0" i="0" u="none" strike="noStrike">
                <a:solidFill>
                  <a:srgbClr val="0E3A5C"/>
                </a:solidFill>
                <a:latin typeface="맑은 고딕"/>
              </a:rPr>
              <a:t>외기온 구간별 평균 잔차 </a:t>
            </a:r>
            <a:r>
              <a:rPr lang="en-US" altLang="ko-KR" sz="1300" b="0" i="0" u="none" strike="noStrike">
                <a:solidFill>
                  <a:srgbClr val="0E3A5C"/>
                </a:solidFill>
                <a:latin typeface="맑은 고딕"/>
              </a:rPr>
              <a:t>(0</a:t>
            </a:r>
            <a:r>
              <a:rPr lang="ko-KR" altLang="en-US" sz="1300" b="0" i="0" u="none" strike="noStrike">
                <a:solidFill>
                  <a:srgbClr val="0E3A5C"/>
                </a:solidFill>
                <a:latin typeface="맑은 고딕"/>
              </a:rPr>
              <a:t>에 가까울수록 좋음</a:t>
            </a:r>
            <a:r>
              <a:rPr lang="en-US" altLang="ko-KR" sz="1300" b="0" i="0" u="none" strike="noStrike">
                <a:solidFill>
                  <a:srgbClr val="0E3A5C"/>
                </a:solidFill>
                <a:latin typeface="맑은 고딕"/>
              </a:rPr>
              <a:t>)</a:t>
            </a:r>
          </a:p>
        </c:rich>
      </c:tx>
      <c:overlay val="0"/>
    </c:title>
    <c:autoTitleDeleted val="0"/>
    <c:plotArea>
      <c:layout/>
      <c:barChart>
        <c:barDir val="col"/>
        <c:grouping val="clustered"/>
        <c:varyColors val="0"/>
        <c:ser>
          <c:idx val="0"/>
          <c:order val="0"/>
          <c:tx>
            <c:strRef>
              <c:f>Sheet1!$B$1</c:f>
              <c:strCache>
                <c:ptCount val="1"/>
                <c:pt idx="0">
                  <c:v>기준 선형회귀</c:v>
                </c:pt>
              </c:strCache>
            </c:strRef>
          </c:tx>
          <c:spPr>
            <a:solidFill>
              <a:srgbClr val="9AB8C9"/>
            </a:solidFill>
            <a:effectLst/>
          </c:spPr>
          <c:invertIfNegative val="0"/>
          <c:dLbls>
            <c:numFmt formatCode="0.000" sourceLinked="0"/>
            <c:spPr>
              <a:noFill/>
              <a:ln>
                <a:noFill/>
              </a:ln>
              <a:effectLst/>
            </c:spPr>
            <c:txPr>
              <a:bodyPr/>
              <a:lstStyle/>
              <a:p>
                <a:pPr>
                  <a:defRPr sz="1000" b="0" i="0" u="none" strike="noStrike">
                    <a:solidFill>
                      <a:srgbClr val="1A1A1A"/>
                    </a:solidFill>
                    <a:latin typeface="맑은 고딕"/>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0°C 미만</c:v>
                </c:pt>
                <c:pt idx="1">
                  <c:v>0~10°C</c:v>
                </c:pt>
                <c:pt idx="2">
                  <c:v>10~20°C</c:v>
                </c:pt>
                <c:pt idx="3">
                  <c:v>20~30°C</c:v>
                </c:pt>
                <c:pt idx="4">
                  <c:v>30°C 초과</c:v>
                </c:pt>
              </c:strCache>
            </c:strRef>
          </c:cat>
          <c:val>
            <c:numRef>
              <c:f>Sheet1!$B$2:$B$6</c:f>
              <c:numCache>
                <c:formatCode>General</c:formatCode>
                <c:ptCount val="5"/>
                <c:pt idx="0">
                  <c:v>0.65500000000000003</c:v>
                </c:pt>
                <c:pt idx="1">
                  <c:v>-0.39</c:v>
                </c:pt>
                <c:pt idx="2">
                  <c:v>-0.7</c:v>
                </c:pt>
                <c:pt idx="3">
                  <c:v>-0.186</c:v>
                </c:pt>
                <c:pt idx="4">
                  <c:v>0.57499999999999996</c:v>
                </c:pt>
              </c:numCache>
            </c:numRef>
          </c:val>
          <c:extLst>
            <c:ext xmlns:c16="http://schemas.microsoft.com/office/drawing/2014/chart" uri="{C3380CC4-5D6E-409C-BE32-E72D297353CC}">
              <c16:uniqueId val="{00000000-9DDE-47A8-8F7D-8D8E548A3382}"/>
            </c:ext>
          </c:extLst>
        </c:ser>
        <c:ser>
          <c:idx val="1"/>
          <c:order val="1"/>
          <c:tx>
            <c:strRef>
              <c:f>Sheet1!$C$1</c:f>
              <c:strCache>
                <c:ptCount val="1"/>
                <c:pt idx="0">
                  <c:v>개선 선형회귀</c:v>
                </c:pt>
              </c:strCache>
            </c:strRef>
          </c:tx>
          <c:spPr>
            <a:solidFill>
              <a:srgbClr val="1C7293"/>
            </a:solidFill>
            <a:effectLst/>
          </c:spPr>
          <c:invertIfNegative val="0"/>
          <c:dLbls>
            <c:numFmt formatCode="0.000" sourceLinked="0"/>
            <c:spPr>
              <a:noFill/>
              <a:ln>
                <a:noFill/>
              </a:ln>
              <a:effectLst/>
            </c:spPr>
            <c:txPr>
              <a:bodyPr/>
              <a:lstStyle/>
              <a:p>
                <a:pPr>
                  <a:defRPr sz="1000" b="0" i="0" u="none" strike="noStrike">
                    <a:solidFill>
                      <a:srgbClr val="1A1A1A"/>
                    </a:solidFill>
                    <a:latin typeface="맑은 고딕"/>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0°C 미만</c:v>
                </c:pt>
                <c:pt idx="1">
                  <c:v>0~10°C</c:v>
                </c:pt>
                <c:pt idx="2">
                  <c:v>10~20°C</c:v>
                </c:pt>
                <c:pt idx="3">
                  <c:v>20~30°C</c:v>
                </c:pt>
                <c:pt idx="4">
                  <c:v>30°C 초과</c:v>
                </c:pt>
              </c:strCache>
            </c:strRef>
          </c:cat>
          <c:val>
            <c:numRef>
              <c:f>Sheet1!$C$2:$C$6</c:f>
              <c:numCache>
                <c:formatCode>General</c:formatCode>
                <c:ptCount val="5"/>
                <c:pt idx="0">
                  <c:v>-1.7999999999999999E-2</c:v>
                </c:pt>
                <c:pt idx="1">
                  <c:v>-1.6E-2</c:v>
                </c:pt>
                <c:pt idx="2">
                  <c:v>-4.3999999999999997E-2</c:v>
                </c:pt>
                <c:pt idx="3">
                  <c:v>5.3999999999999999E-2</c:v>
                </c:pt>
                <c:pt idx="4">
                  <c:v>-0.04</c:v>
                </c:pt>
              </c:numCache>
            </c:numRef>
          </c:val>
          <c:extLst>
            <c:ext xmlns:c16="http://schemas.microsoft.com/office/drawing/2014/chart" uri="{C3380CC4-5D6E-409C-BE32-E72D297353CC}">
              <c16:uniqueId val="{00000001-9DDE-47A8-8F7D-8D8E548A3382}"/>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6B78"/>
                </a:solidFill>
                <a:latin typeface="맑은 고딕"/>
              </a:defRPr>
            </a:pPr>
            <a:endParaRPr lang="en-US"/>
          </a:p>
        </c:txPr>
        <c:crossAx val="2094734552"/>
        <c:crosses val="autoZero"/>
        <c:auto val="1"/>
        <c:lblAlgn val="ctr"/>
        <c:lblOffset val="100"/>
        <c:noMultiLvlLbl val="1"/>
      </c:catAx>
      <c:valAx>
        <c:axId val="2094734552"/>
        <c:scaling>
          <c:orientation val="minMax"/>
          <c:max val="1"/>
          <c:min val="-1"/>
        </c:scaling>
        <c:delete val="0"/>
        <c:axPos val="l"/>
        <c:majorGridlines>
          <c:spPr>
            <a:ln w="12700" cap="flat">
              <a:solidFill>
                <a:srgbClr val="E4EA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6B78"/>
                </a:solidFill>
                <a:latin typeface="맑은 고딕"/>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A1A1A"/>
              </a:solidFill>
              <a:latin typeface="맑은 고딕"/>
              <a:cs typeface="맑은 고딕"/>
            </a:defRPr>
          </a:pPr>
          <a:endParaRPr lang="en-US"/>
        </a:p>
      </c:txPr>
    </c:legend>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bar"/>
        <c:grouping val="clustered"/>
        <c:varyColors val="0"/>
        <c:ser>
          <c:idx val="0"/>
          <c:order val="0"/>
          <c:tx>
            <c:strRef>
              <c:f>Sheet1!$B$1</c:f>
              <c:strCache>
                <c:ptCount val="1"/>
                <c:pt idx="0">
                  <c:v>표준화 영향도</c:v>
                </c:pt>
              </c:strCache>
            </c:strRef>
          </c:tx>
          <c:spPr>
            <a:solidFill>
              <a:srgbClr val="1C7293"/>
            </a:solidFill>
            <a:effectLst/>
          </c:spPr>
          <c:invertIfNegative val="0"/>
          <c:dLbls>
            <c:numFmt formatCode="0.000" sourceLinked="0"/>
            <c:spPr>
              <a:noFill/>
              <a:ln>
                <a:noFill/>
              </a:ln>
              <a:effectLst/>
            </c:spPr>
            <c:txPr>
              <a:bodyPr/>
              <a:lstStyle/>
              <a:p>
                <a:pPr>
                  <a:defRPr sz="1100" b="0" i="0" u="none" strike="noStrike">
                    <a:solidFill>
                      <a:srgbClr val="1A1A1A"/>
                    </a:solidFill>
                    <a:latin typeface="맑은 고딕"/>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ambient_temp_C</c:v>
                </c:pt>
                <c:pt idx="1">
                  <c:v>hot_penalty</c:v>
                </c:pt>
                <c:pt idx="2">
                  <c:v>battery_temp_C</c:v>
                </c:pt>
                <c:pt idx="3">
                  <c:v>tire_pressure_bar</c:v>
                </c:pt>
                <c:pt idx="4">
                  <c:v>trip_distance_km</c:v>
                </c:pt>
                <c:pt idx="5">
                  <c:v>cold_penalty</c:v>
                </c:pt>
                <c:pt idx="6">
                  <c:v>driving_style_index</c:v>
                </c:pt>
                <c:pt idx="7">
                  <c:v>hvac_power_kw</c:v>
                </c:pt>
                <c:pt idx="8">
                  <c:v>speed_kmh</c:v>
                </c:pt>
                <c:pt idx="9">
                  <c:v>payload_kg</c:v>
                </c:pt>
                <c:pt idx="10">
                  <c:v>road_grade_pct</c:v>
                </c:pt>
              </c:strCache>
            </c:strRef>
          </c:cat>
          <c:val>
            <c:numRef>
              <c:f>Sheet1!$B$2:$B$12</c:f>
              <c:numCache>
                <c:formatCode>General</c:formatCode>
                <c:ptCount val="11"/>
                <c:pt idx="0">
                  <c:v>-1.47E-2</c:v>
                </c:pt>
                <c:pt idx="1">
                  <c:v>5.8099999999999999E-2</c:v>
                </c:pt>
                <c:pt idx="2">
                  <c:v>-6.8199999999999997E-2</c:v>
                </c:pt>
                <c:pt idx="3">
                  <c:v>-9.0300000000000005E-2</c:v>
                </c:pt>
                <c:pt idx="4">
                  <c:v>0.15049999999999999</c:v>
                </c:pt>
                <c:pt idx="5">
                  <c:v>0.2278</c:v>
                </c:pt>
                <c:pt idx="6">
                  <c:v>0.26889999999999997</c:v>
                </c:pt>
                <c:pt idx="7">
                  <c:v>0.3448</c:v>
                </c:pt>
                <c:pt idx="8">
                  <c:v>0.439</c:v>
                </c:pt>
                <c:pt idx="9">
                  <c:v>0.46300000000000002</c:v>
                </c:pt>
                <c:pt idx="10">
                  <c:v>0.49609999999999999</c:v>
                </c:pt>
              </c:numCache>
            </c:numRef>
          </c:val>
          <c:extLst>
            <c:ext xmlns:c16="http://schemas.microsoft.com/office/drawing/2014/chart" uri="{C3380CC4-5D6E-409C-BE32-E72D297353CC}">
              <c16:uniqueId val="{00000000-ABE7-4503-BF28-A30BEEBD79A4}"/>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6B78"/>
                </a:solidFill>
                <a:latin typeface="맑은 고딕"/>
              </a:defRPr>
            </a:pPr>
            <a:endParaRPr lang="en-US"/>
          </a:p>
        </c:txPr>
        <c:crossAx val="2094734552"/>
        <c:crosses val="autoZero"/>
        <c:auto val="1"/>
        <c:lblAlgn val="ctr"/>
        <c:lblOffset val="100"/>
        <c:noMultiLvlLbl val="1"/>
      </c:catAx>
      <c:valAx>
        <c:axId val="2094734552"/>
        <c:scaling>
          <c:orientation val="minMax"/>
          <c:max val="0.6"/>
          <c:min val="-0.2"/>
        </c:scaling>
        <c:delete val="0"/>
        <c:axPos val="b"/>
        <c:majorGridlines>
          <c:spPr>
            <a:ln w="12700" cap="flat">
              <a:solidFill>
                <a:srgbClr val="E4EAE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F6B78"/>
                </a:solidFill>
                <a:latin typeface="맑은 고딕"/>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250" b="0" i="0" u="none" strike="noStrike">
                <a:solidFill>
                  <a:srgbClr val="0E3A5C"/>
                </a:solidFill>
                <a:latin typeface="맑은 고딕"/>
              </a:defRPr>
            </a:pPr>
            <a:r>
              <a:rPr lang="ko-KR" altLang="en-US" sz="1250" b="0" i="0" u="none" strike="noStrike">
                <a:solidFill>
                  <a:srgbClr val="0E3A5C"/>
                </a:solidFill>
                <a:latin typeface="맑은 고딕"/>
              </a:rPr>
              <a:t>예상 소비전력량 </a:t>
            </a:r>
            <a:r>
              <a:rPr lang="en-US" altLang="ko-KR" sz="1250" b="0" i="0" u="none" strike="noStrike">
                <a:solidFill>
                  <a:srgbClr val="0E3A5C"/>
                </a:solidFill>
                <a:latin typeface="맑은 고딕"/>
              </a:rPr>
              <a:t>(kWh)</a:t>
            </a:r>
          </a:p>
        </c:rich>
      </c:tx>
      <c:overlay val="0"/>
    </c:title>
    <c:autoTitleDeleted val="0"/>
    <c:plotArea>
      <c:layout/>
      <c:barChart>
        <c:barDir val="col"/>
        <c:grouping val="clustered"/>
        <c:varyColors val="0"/>
        <c:ser>
          <c:idx val="0"/>
          <c:order val="0"/>
          <c:tx>
            <c:strRef>
              <c:f>Sheet1!$B$1</c:f>
              <c:strCache>
                <c:ptCount val="1"/>
                <c:pt idx="0">
                  <c:v>예상 소비전력량</c:v>
                </c:pt>
              </c:strCache>
            </c:strRef>
          </c:tx>
          <c:spPr>
            <a:solidFill>
              <a:srgbClr val="9AB8C9"/>
            </a:solidFill>
            <a:effectLst/>
          </c:spPr>
          <c:invertIfNegative val="0"/>
          <c:dPt>
            <c:idx val="0"/>
            <c:invertIfNegative val="0"/>
            <c:bubble3D val="0"/>
            <c:extLst>
              <c:ext xmlns:c16="http://schemas.microsoft.com/office/drawing/2014/chart" uri="{C3380CC4-5D6E-409C-BE32-E72D297353CC}">
                <c16:uniqueId val="{00000001-7294-4E18-AC41-38F8504D4A35}"/>
              </c:ext>
            </c:extLst>
          </c:dPt>
          <c:dPt>
            <c:idx val="1"/>
            <c:invertIfNegative val="0"/>
            <c:bubble3D val="0"/>
            <c:extLst>
              <c:ext xmlns:c16="http://schemas.microsoft.com/office/drawing/2014/chart" uri="{C3380CC4-5D6E-409C-BE32-E72D297353CC}">
                <c16:uniqueId val="{00000003-7294-4E18-AC41-38F8504D4A35}"/>
              </c:ext>
            </c:extLst>
          </c:dPt>
          <c:dPt>
            <c:idx val="2"/>
            <c:invertIfNegative val="0"/>
            <c:bubble3D val="0"/>
            <c:spPr>
              <a:solidFill>
                <a:srgbClr val="2E8B57"/>
              </a:solidFill>
              <a:effectLst/>
            </c:spPr>
            <c:extLst>
              <c:ext xmlns:c16="http://schemas.microsoft.com/office/drawing/2014/chart" uri="{C3380CC4-5D6E-409C-BE32-E72D297353CC}">
                <c16:uniqueId val="{00000005-7294-4E18-AC41-38F8504D4A35}"/>
              </c:ext>
            </c:extLst>
          </c:dPt>
          <c:dLbls>
            <c:numFmt formatCode="0.00" sourceLinked="0"/>
            <c:spPr>
              <a:noFill/>
              <a:ln>
                <a:noFill/>
              </a:ln>
              <a:effectLst/>
            </c:spPr>
            <c:txPr>
              <a:bodyPr/>
              <a:lstStyle/>
              <a:p>
                <a:pPr>
                  <a:defRPr sz="1100" b="0" i="0" u="none" strike="noStrike">
                    <a:solidFill>
                      <a:srgbClr val="1A1A1A"/>
                    </a:solidFill>
                    <a:latin typeface="맑은 고딕"/>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 최단거리</c:v>
                </c:pt>
                <c:pt idx="1">
                  <c:v>B 고속도로</c:v>
                </c:pt>
                <c:pt idx="2">
                  <c:v>C 완만 우회</c:v>
                </c:pt>
              </c:strCache>
            </c:strRef>
          </c:cat>
          <c:val>
            <c:numRef>
              <c:f>Sheet1!$B$2:$B$4</c:f>
              <c:numCache>
                <c:formatCode>General</c:formatCode>
                <c:ptCount val="3"/>
                <c:pt idx="0">
                  <c:v>40.74</c:v>
                </c:pt>
                <c:pt idx="1">
                  <c:v>46.5</c:v>
                </c:pt>
                <c:pt idx="2">
                  <c:v>39.29</c:v>
                </c:pt>
              </c:numCache>
            </c:numRef>
          </c:val>
          <c:extLst>
            <c:ext xmlns:c16="http://schemas.microsoft.com/office/drawing/2014/chart" uri="{C3380CC4-5D6E-409C-BE32-E72D297353CC}">
              <c16:uniqueId val="{00000006-7294-4E18-AC41-38F8504D4A35}"/>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6B78"/>
                </a:solidFill>
                <a:latin typeface="맑은 고딕"/>
              </a:defRPr>
            </a:pPr>
            <a:endParaRPr lang="en-US"/>
          </a:p>
        </c:txPr>
        <c:crossAx val="2094734552"/>
        <c:crosses val="autoZero"/>
        <c:auto val="1"/>
        <c:lblAlgn val="ctr"/>
        <c:lblOffset val="100"/>
        <c:noMultiLvlLbl val="1"/>
      </c:catAx>
      <c:valAx>
        <c:axId val="2094734552"/>
        <c:scaling>
          <c:orientation val="minMax"/>
          <c:max val="56"/>
          <c:min val="0"/>
        </c:scaling>
        <c:delete val="0"/>
        <c:axPos val="l"/>
        <c:majorGridlines>
          <c:spPr>
            <a:ln w="12700" cap="flat">
              <a:solidFill>
                <a:srgbClr val="E4EA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6B78"/>
                </a:solidFill>
                <a:latin typeface="맑은 고딕"/>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250" b="0" i="0" u="none" strike="noStrike">
                <a:solidFill>
                  <a:srgbClr val="0E3A5C"/>
                </a:solidFill>
                <a:latin typeface="맑은 고딕"/>
              </a:defRPr>
            </a:pPr>
            <a:r>
              <a:rPr lang="ko-KR" altLang="en-US" sz="1250" b="0" i="0" u="none" strike="noStrike">
                <a:solidFill>
                  <a:srgbClr val="0E3A5C"/>
                </a:solidFill>
                <a:latin typeface="맑은 고딕"/>
              </a:rPr>
              <a:t>도착 예상 </a:t>
            </a:r>
            <a:r>
              <a:rPr lang="en-US" altLang="ko-KR" sz="1250" b="0" i="0" u="none" strike="noStrike">
                <a:solidFill>
                  <a:srgbClr val="0E3A5C"/>
                </a:solidFill>
                <a:latin typeface="맑은 고딕"/>
              </a:rPr>
              <a:t>SOC (%) — </a:t>
            </a:r>
            <a:r>
              <a:rPr lang="ko-KR" altLang="en-US" sz="1250" b="0" i="0" u="none" strike="noStrike">
                <a:solidFill>
                  <a:srgbClr val="0E3A5C"/>
                </a:solidFill>
                <a:latin typeface="맑은 고딕"/>
              </a:rPr>
              <a:t>안전 기준 </a:t>
            </a:r>
            <a:r>
              <a:rPr lang="en-US" altLang="ko-KR" sz="1250" b="0" i="0" u="none" strike="noStrike">
                <a:solidFill>
                  <a:srgbClr val="0E3A5C"/>
                </a:solidFill>
                <a:latin typeface="맑은 고딕"/>
              </a:rPr>
              <a:t>10%</a:t>
            </a:r>
          </a:p>
        </c:rich>
      </c:tx>
      <c:overlay val="0"/>
    </c:title>
    <c:autoTitleDeleted val="0"/>
    <c:plotArea>
      <c:layout/>
      <c:barChart>
        <c:barDir val="col"/>
        <c:grouping val="clustered"/>
        <c:varyColors val="0"/>
        <c:ser>
          <c:idx val="0"/>
          <c:order val="0"/>
          <c:tx>
            <c:strRef>
              <c:f>Sheet1!$B$1</c:f>
              <c:strCache>
                <c:ptCount val="1"/>
                <c:pt idx="0">
                  <c:v>도착 SOC</c:v>
                </c:pt>
              </c:strCache>
            </c:strRef>
          </c:tx>
          <c:spPr>
            <a:solidFill>
              <a:srgbClr val="1C7293"/>
            </a:solidFill>
            <a:effectLst/>
          </c:spPr>
          <c:invertIfNegative val="0"/>
          <c:dPt>
            <c:idx val="0"/>
            <c:invertIfNegative val="0"/>
            <c:bubble3D val="0"/>
            <c:extLst>
              <c:ext xmlns:c16="http://schemas.microsoft.com/office/drawing/2014/chart" uri="{C3380CC4-5D6E-409C-BE32-E72D297353CC}">
                <c16:uniqueId val="{00000001-1C01-4FFB-B129-6F693E57AE5E}"/>
              </c:ext>
            </c:extLst>
          </c:dPt>
          <c:dPt>
            <c:idx val="1"/>
            <c:invertIfNegative val="0"/>
            <c:bubble3D val="0"/>
            <c:spPr>
              <a:solidFill>
                <a:srgbClr val="C0392B"/>
              </a:solidFill>
              <a:effectLst/>
            </c:spPr>
            <c:extLst>
              <c:ext xmlns:c16="http://schemas.microsoft.com/office/drawing/2014/chart" uri="{C3380CC4-5D6E-409C-BE32-E72D297353CC}">
                <c16:uniqueId val="{00000003-1C01-4FFB-B129-6F693E57AE5E}"/>
              </c:ext>
            </c:extLst>
          </c:dPt>
          <c:dPt>
            <c:idx val="2"/>
            <c:invertIfNegative val="0"/>
            <c:bubble3D val="0"/>
            <c:extLst>
              <c:ext xmlns:c16="http://schemas.microsoft.com/office/drawing/2014/chart" uri="{C3380CC4-5D6E-409C-BE32-E72D297353CC}">
                <c16:uniqueId val="{00000005-1C01-4FFB-B129-6F693E57AE5E}"/>
              </c:ext>
            </c:extLst>
          </c:dPt>
          <c:dLbls>
            <c:numFmt formatCode="0.00" sourceLinked="0"/>
            <c:spPr>
              <a:noFill/>
              <a:ln>
                <a:noFill/>
              </a:ln>
              <a:effectLst/>
            </c:spPr>
            <c:txPr>
              <a:bodyPr/>
              <a:lstStyle/>
              <a:p>
                <a:pPr>
                  <a:defRPr sz="1100" b="0" i="0" u="none" strike="noStrike">
                    <a:solidFill>
                      <a:srgbClr val="1A1A1A"/>
                    </a:solidFill>
                    <a:latin typeface="맑은 고딕"/>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 최단거리</c:v>
                </c:pt>
                <c:pt idx="1">
                  <c:v>B 고속도로</c:v>
                </c:pt>
                <c:pt idx="2">
                  <c:v>C 완만 우회</c:v>
                </c:pt>
              </c:strCache>
            </c:strRef>
          </c:cat>
          <c:val>
            <c:numRef>
              <c:f>Sheet1!$B$2:$B$4</c:f>
              <c:numCache>
                <c:formatCode>General</c:formatCode>
                <c:ptCount val="3"/>
                <c:pt idx="0">
                  <c:v>12.1</c:v>
                </c:pt>
                <c:pt idx="1">
                  <c:v>2.5099999999999998</c:v>
                </c:pt>
                <c:pt idx="2">
                  <c:v>14.52</c:v>
                </c:pt>
              </c:numCache>
            </c:numRef>
          </c:val>
          <c:extLst>
            <c:ext xmlns:c16="http://schemas.microsoft.com/office/drawing/2014/chart" uri="{C3380CC4-5D6E-409C-BE32-E72D297353CC}">
              <c16:uniqueId val="{00000006-1C01-4FFB-B129-6F693E57AE5E}"/>
            </c:ext>
          </c:extLst>
        </c:ser>
        <c:dLbls>
          <c:dLblPos val="outEnd"/>
          <c:showLegendKey val="0"/>
          <c:showVal val="1"/>
          <c:showCatName val="0"/>
          <c:showSerName val="0"/>
          <c:showPercent val="0"/>
          <c:showBubbleSize val="0"/>
        </c:dLbls>
        <c:gapWidth val="55"/>
        <c:axId val="2094734554"/>
        <c:axId val="2094734552"/>
      </c:barChart>
      <c:lineChart>
        <c:grouping val="standard"/>
        <c:varyColors val="0"/>
        <c:ser>
          <c:idx val="1"/>
          <c:order val="1"/>
          <c:tx>
            <c:strRef>
              <c:f>Sheet1!$C$1</c:f>
              <c:strCache>
                <c:ptCount val="1"/>
                <c:pt idx="0">
                  <c:v>안전 기준 10%</c:v>
                </c:pt>
              </c:strCache>
            </c:strRef>
          </c:tx>
          <c:spPr>
            <a:ln w="25400" cap="flat">
              <a:solidFill>
                <a:srgbClr val="C0392B"/>
              </a:solidFill>
              <a:prstDash val="dash"/>
              <a:round/>
            </a:ln>
            <a:effectLst/>
          </c:spPr>
          <c:marker>
            <c:symbol val="none"/>
          </c:marker>
          <c:cat>
            <c:strRef>
              <c:f>Sheet1!$A$2:$A$4</c:f>
              <c:strCache>
                <c:ptCount val="3"/>
                <c:pt idx="0">
                  <c:v>A 최단거리</c:v>
                </c:pt>
                <c:pt idx="1">
                  <c:v>B 고속도로</c:v>
                </c:pt>
                <c:pt idx="2">
                  <c:v>C 완만 우회</c:v>
                </c:pt>
              </c:strCache>
            </c:strRef>
          </c:cat>
          <c:val>
            <c:numRef>
              <c:f>Sheet1!$C$2:$C$4</c:f>
              <c:numCache>
                <c:formatCode>General</c:formatCode>
                <c:ptCount val="3"/>
                <c:pt idx="0">
                  <c:v>10</c:v>
                </c:pt>
                <c:pt idx="1">
                  <c:v>10</c:v>
                </c:pt>
                <c:pt idx="2">
                  <c:v>10</c:v>
                </c:pt>
              </c:numCache>
            </c:numRef>
          </c:val>
          <c:smooth val="0"/>
          <c:extLst>
            <c:ext xmlns:c16="http://schemas.microsoft.com/office/drawing/2014/chart" uri="{C3380CC4-5D6E-409C-BE32-E72D297353CC}">
              <c16:uniqueId val="{00000007-1C01-4FFB-B129-6F693E57AE5E}"/>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6B78"/>
                </a:solidFill>
                <a:latin typeface="맑은 고딕"/>
              </a:defRPr>
            </a:pPr>
            <a:endParaRPr lang="en-US"/>
          </a:p>
        </c:txPr>
        <c:crossAx val="2094734552"/>
        <c:crosses val="autoZero"/>
        <c:auto val="1"/>
        <c:lblAlgn val="ctr"/>
        <c:lblOffset val="100"/>
        <c:noMultiLvlLbl val="1"/>
      </c:catAx>
      <c:valAx>
        <c:axId val="2094734552"/>
        <c:scaling>
          <c:orientation val="minMax"/>
          <c:max val="19"/>
          <c:min val="0"/>
        </c:scaling>
        <c:delete val="0"/>
        <c:axPos val="l"/>
        <c:majorGridlines>
          <c:spPr>
            <a:ln w="12700" cap="flat">
              <a:solidFill>
                <a:srgbClr val="E4EA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6B78"/>
                </a:solidFill>
                <a:latin typeface="맑은 고딕"/>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8327628"/>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안녕하십니까. 전기차 에너지 소비율 예측 프로젝트 발표를 시작하겠습니다.
핵심 질문은 하나입니다. "이 길로 가면 배터리를 얼마나 쓰는가."
주행 데이터 8천 건으로 이 값을 예측하는 회귀 모델을 만들고, 그 결과를 경로 선택에 어떻게 연결하는지까지 보여드리겠습니다.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발표는 노트북의 분석 순서를 그대로 따라갑니다.
문제 정의에서 시작해 데이터를 이해하고, EDA로 관계를 확인한 뒤, 기준 모델부터 차례로 비교합니다.
그다음 잔차를 진단해 모델을 한 번 더 개선하고, 마지막에 그 결과를 경로 선택에 연결합니다.
가장 중요한 두 장면은 3부의 "외기온 비선형 발견"과 5부의 "온도 편향 제거"입니다.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문제 정의입니다. 보고서 작성법에서 강조하듯이, 첫 장은 "왜 이 분석이 필요한가"에 답해야 합니다.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전기차의 소비율은 주행거리만으로 정해지지 않습니다. 이 데이터에서도 11.62에서 35kWh/100km까지, 최대 3배가 벌어집니다.
60kWh 배터리를 전부 쓴다고 단순 가정하면 주행가능거리로는 171km와 516km의 차이입니다. 가정값이지만 편차가 무시할 수준이 아니라는 건 분명합니다.
고정 평균 소비율 하나로 경로 에너지를 계산하면 이 차이를 반영할 수 없고, 그 오차는 도착 SOC 오차와 충전 계획 실패로 이어집니다.
아래 표가 이 프로젝트의 문제 정의입니다. 예측 대상은 100km당 소비율이고, 쓰는 곳은 경로별 에너지 비교, 쓰는 사람은 OEM 내비게이션과 운전자입니다.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업무 문제를 분석 문제로 번역하면 이렇게 됩니다.
9개 조건을 입력받아 100km당 에너지 소비율을 예측합니다. 목표값이 연속적인 숫자이므로 분류가 아니라 회귀입니다.
주의할 점은 목표변수가 "그 구간에서 쓴 총 전력량"이 아니라 "100km당 비율"이라는 겁니다. 그래서 서비스에서 쓰려면 아래 첫 번째 식처럼 구간 거리를 곱해 한 번 환산해야 합니다.
여기에 현재 SOC와 배터리 용량이 더해지면 두 번째 식으로 도착 SOC까지 계산됩니다. 이 두 식이 모델과 내비게이션을 이어주는 지점이고, 발표 마지막에 다시 나옵니다.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데이터를 봅니다. 데이터는 변수 목록이 아니라 문제의 구조라는 관점에서, 무엇을 확인했고 그래서 어떤 처리를 생략했는지까지 말씀드리겠습니다.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데이터는 8천 행, 10열입니다. 독립변수 9개와 종속변수 1개로 구성돼 있습니다.
먼저 품질을 점검했습니다. 결측치 0건, 중복행 0건, 그리고 모든 열이 float64 수치형이었습니다.
여기서 중요한 판단이 나옵니다. 보통 전처리라고 하면 결측치 채우고 인코딩하는 걸 떠올리는데, 이 데이터는 대상이 아예 없습니다. 그래서 두 처리 모두 생략했습니다. 처리할 게 없는데 억지로 하면 오히려 분포가 왜곡됩니다.
표의 관측 범위를 보면 값들이 모두 물리적으로 가능한 범위 안에 있습니다.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목표변수의 분포입니다. 평균 24.14, 중앙값 24.09로 거의 같고, 왜도는 0.033입니다.
왜도가 0에 가깝다는 건 좌우로 쏠리지 않았다는 뜻입니다. 만약 한쪽으로 길게 늘어진 분포였다면 로그 변환을 고려해야 했겠지만, 여기서는 필요하지 않았습니다.
이 판단이 뒤에도 영향을 줍니다. 분포가 대칭이라 RMSE와 MAE를 변환 없이 그대로 비교 지표로 쓸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EDA는 그림을 나열하는 과정이 아닙니다. 시각화마다 "그래서 무엇을 알 수 있는가"를 남기겠습니다.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어떤 조건이 소비율과 관련 있는지 상관계수로 봤습니다.
도로 경사도 0.505, 적재중량 0.469, 속도 0.448, 공조 전력 0.370 순입니다. 주행 저항과 부가 부하라는 두 축으로 정리되고, 물리적으로도 납득이 됩니다.
그런데 여기서 멈추면 안 됩니다. 상관계수는 직선 관계만 요약하는 값이라, 곡선 관계는 작게 나올 수 있습니다. 하위권 변수를 "영향 없다"고 읽으면 위험합니다.
그래서 다음 두 장에서 산점도와 구간별 평균으로 다시 확인했습니다.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산점도로 관계의 방향과 퍼짐 정도를 봤습니다.
경사도, 적재중량, 속도, 공조 전력에서 우상향 경향이 보입니다. 다만 점이 넓게 퍼져 있습니다. 이건 어떤 변수 하나만으로 소비율이 정해지지 않고 여러 조건이 함께 작용한다는 뜻입니다.
문제는 8천 개 점이 겹쳐 있어서, 곡선 관계가 숨어 있어도 눈으로는 잘 안 보인다는 겁니다.
그래서 보조 분석을 하나 더 했습니다.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각 변수를 관측 수가 비슷한 10개 구간으로 나누고, 구간별 평균 소비율을 선으로 이었습니다. 점의 안개가 걷히고 추세만 남습니다.
속도, 적재중량, 경사도, 공조 전력은 거의 직선으로 증가합니다. 상관계수가 알려준 그대로입니다.
그런데 딱 하나, 오른쪽 위 외기온만 모양이 다릅니다. 내려갔다가 다시 올라가는 U자형입니다. 이 한 칸을 다음 장에서 확대해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장이 이번 분석에서 가장 중요한 발견입니다.
외기온 구간별 평균을 확대해 보면, 영하에서 25.99로 가장 높고, 23도 부근에서 23.51로 가장 낮아졌다가, 37.8도에서 24.17로 다시 올라갑니다. 난방과 냉방이 모두 전력을 쓰기 때문으로 볼 수 있습니다.
앞 장에서 외기온의 상관계수가 -0.155로 7위였던 이유가 여기 있습니다. 영향이 작아서가 아니라, 올라가는 구간과 내려가는 구간이 서로 상쇄돼서 직선 하나로는 표현되지 않았던 겁니다.
이 발견은 그냥 흥미로운 관찰로 끝나지 않고, 5부에서 모델을 개선하는 직접적인 근거가 됩니다.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EDA 마지막으로 입력변수끼리의 관계를 봤습니다.
입력변수끼리 상관계수가 높으면 다중공선성이 생겨서 선형회귀 계수 해석이 불안정해집니다. 그래서 서로 같은 정보를 중복해 담고 있는지 확인한 겁니다.
결과는 대각선을 빼면 전부 0에 가깝습니다. 우려할 수준이 아닙니다.
그래서 변수를 미리 걸러내지 않고 9개를 모두 쓰기로 했습니다. 상관계수가 낮은 변수도 다른 변수와 함께 쓰이면 기여할 수 있기 때문입니다.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모델을 만듭니다. 하나만 만들지 않고 기준선을 먼저 세운 뒤 차례로 비교합니다.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모델 학습 준비입니다.
X와 y를 나누고 학습 6,400건, 테스트 1,600건으로 8대 2 분할했습니다. random_state를 42로 고정해서, 모든 모델이 똑같은 데이터로 비교되도록 했습니다.
가장 중요한 원칙은 네 번째 칸입니다. 테스트 데이터를 포함해서 전처리 기준을 정하면 성능이 실제보다 좋게 나옵니다. 데이터 누수입니다. 그래서 파생변수 온도 기준도, 트리 하이퍼파라미터도 전부 학습 데이터 안에서만 정했습니다.
아래 표는 "왜 그 처리를 안 했는가"를 정리한 것입니다. 보고서에서는 실행한 것보다 판단한 근거가 중요하다고 해서 이렇게 정리했습니다.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회귀 문제이므로 분류의 정확도는 쓰지 않고 세 지표를 씁니다.
R²는 설명력, MAE는 평균적인 오차, RMSE는 큰 오차에 더 큰 불이익을 주는 지표입니다.
이 프로젝트에서는 RMSE를 더 중요하게 봤습니다. 왜냐하면 내비게이션에서는 평균적으로 조금 틀리는 것보다, 한 번 크게 틀리는 게 더 위험하기 때문입니다. 도착 SOC를 과대평가하면 운전자가 충전 없이 출발했다가 목적지 전에 배터리가 부족해질 수 있습니다.
그리고 모든 모델에서 학습 성능과 테스트 성능을 함께 계산해 과적합 여부도 같이 봤습니다.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모델은 다중 선형회귀입니다. 가장 단순한 구조로 기준 성능을 만드는 것이 목적입니다.
테스트 MAE 0.8107, RMSE 1.0093, R² 0.9246이 나왔습니다. 주목할 점은 학습과 테스트 성능이 거의 같다는 겁니다. R² 차이가 0.0039밖에 안 됩니다. 이 시점에서 이미 과적합은 없습니다.
아래는 회귀계수입니다. 여기서 한 가지 주의할 점이 있습니다. driving_style_index의 계수가 3.5071로 가장 큰데, 이걸 보고 "운전 습관이 가장 중요하다"고 말하면 안 됩니다. 이 변수는 범위가 0에서 1뿐이고, 적재중량은 0에서 500입니다. 단위가 다르니까 계수 절댓값을 그대로 비교할 수 없습니다.
이 문제는 5부에서 표준화 영향도로 해결합니다.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번째는 의사결정트리입니다. 트리는 조건에 따라 데이터를 반복해서 나누기 때문에 곡선 관계와 변수 간 상호작용을 표현할 수 있습니다. 그래서 선형회귀보다 나을 거라고 기대할 만합니다.
그런데 결과가 흥미롭습니다. 학습 MAE와 RMSE가 정확히 0이고 학습 R²가 1.0입니다. 완벽해 보이지만, 사실 이건 학습 데이터의 정답을 그대로 외웠다는 뜻입니다.
테스트에서 확인됩니다. R²가 0.7125로 뚝 떨어집니다. 전형적인 과적합입니다.
깊이를 제한하지 않으면 트리는 잎마다 데이터를 하나까지 쪼갤 수 있습니다. 그러면 잡음까지 학습해 버립니다. 그래서 다음 단계로 복잡도를 제어했습니다.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GridSearchCV로 트리의 복잡도를 제어했습니다.
max_depth, min_samples_split, min_samples_leaf 세 가지를 조합해 80가지를 5-fold 교차검증으로 비교했습니다. 여기서도 테스트 데이터는 쓰지 않고 학습 데이터 안에서만 탐색했습니다.
선택된 조합은 min_samples_leaf가 10이었습니다. 잎 노드에 최소 10개는 있어야 한다는 제약입니다.
효과는 있었습니다. 학습 R²가 1.0에서 0.8956으로 내려오면서 테스트 R²는 0.7125에서 0.7585로 올라갔습니다. 외우는 걸 막으니 일반화가 회복된 겁니다.
다만 테스트 RMSE 1.8064는 기준 선형회귀의 1.0093보다 여전히 많이 나쁩니다.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모델을 한 표로 정리했습니다.
테스트 RMSE 기준으로 선형회귀 1.0093, 튜닝 트리 1.8064, 기본 트리 1.9710입니다. 선형회귀가 가장 좋았습니다.
오른쪽 그래프가 중요합니다. 회색이 학습, 파랑이 테스트 R²입니다. 기본 트리는 회색이 1.0으로 가장 높은데 파랑은 가장 낮습니다. 두 막대의 차이가 곧 과적합의 크기입니다.
반면 선형회귀는 두 막대가 거의 붙어 있습니다. 학습한 만큼 새 데이터에서도 낸다는 뜻입니다.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숫자만이 아니라 그림으로도 확인했습니다. 가로가 실제값, 세로가 예측값이고, 빨간 대각선에 가까울수록 정확한 예측입니다.
왼쪽 선형회귀는 점이 대각선을 따라 좁게 모여 있습니다. 전 구간에서 고르게 맞힙니다.
가운데와 오른쪽 트리는 점이 넓게 흩어져 있습니다. 그리고 자세히 보면 예측값이 몇 개 층으로 뭉쳐 있어서 가로 줄무늬처럼 보입니다. 트리가 예측값을 구간별 대푯값으로만 내놓기 때문입니다.
이 계단식 예측이 왜 불리했는지는 두 장 뒤에서 설명하겠습니다.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1차 모델링을 정리하겠습니다.
처음에는 트리가 나을 거라고 기대했습니다. 곡선 관계와 상호작용을 표현할 수 있으니까요.
그런데 실제로는 반대였습니다. 이 데이터의 주요 변수들이 목표변수와 거의 직선 관계였기 때문입니다. 트리는 예측값이 구간마다 계단식으로 끊기니까, 매끄럽게 증가하는 관계를 표현하는 데 오히려 불리했던 겁니다. 앞에서 본 가로 줄무늬가 그 흔적입니다.
교차검증 RMSE도 1.8888로 나빠서, 시드를 바꾼다고 뒤집힐 차이가 아니었습니다. 그래서 1차 결론은 선형회귀입니다.
그런데 여기서 끝내지 않았습니다. 지표가 가장 좋다고 모델이 옳다는 뜻은 아니기 때문입니다.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5부는 이 프로젝트에서 가장 중요한 부분입니다. 잔차를 진단해서 모델의 구조적 문제를 찾고, 그것을 고쳤습니다.</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선형회귀가 1차 비교에서 이겼지만, 잔차를 외기온 기준으로 다시 확인했습니다.
표를 보면 영하에서 +0.655, 10~20도에서 -0.700, 30도 초과에서 +0.575입니다. 저온과 고온에서 양수, 중간에서 음수인 U자형입니다.
이게 왜 문제냐면, 무작위 오차가 아니기 때문입니다. 특정 조건에서 모델이 일관되게 같은 방향으로 틀리고 있습니다. 이건 데이터 잡음이 아니라 모델 구조의 문제입니다.
원인은 3부에서 이미 봤습니다. 외기온과 소비율의 관계가 U자형인데, 선형회귀는 ambient_temp_C 하나에 계수 하나를 곱할 뿐입니다. 올라갔다 내려갔다 하는 관계를 직선 하나로 표현하라는 건 구조적으로 불가능한 요구입니다.</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해결책으로 두 개의 파생변수를 만들었습니다.
cold_penalty는 저온 기준보다 얼마나 추운지, hot_penalty는 고온 기준보다 얼마나 더운지입니다. 기준을 넘지 않으면 0이 되므로 중간 온도 구간의 예측에는 영향이 없습니다.
이렇게 하면 저온에서는 cold_penalty가 예측을 끌어올리고, 고온에서는 hot_penalty가 같은 역할을 합니다. 직선 하나로는 못 하던 U자형이 표현됩니다.
기준 온도를 정하는 방법이 중요합니다. 테스트 결과를 보고 정하면 그 자체가 데이터 누수입니다. 그래서 학습 데이터 6,400건을 다시 8대 2로 나눠 내부 검증셋을 만들고, 12개 조합을 비교했습니다.
1위가 저온 10도, 고온 30도였습니다. 순위 간 차이가 작다는 점도 확인했는데, 기준이 조금 달라져도 결과가 크게 흔들리지 않는다는 뜻이라 안심할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개선 결과입니다. 맨 윗줄이 새 모델입니다.
테스트 RMSE가 1.0093에서 0.8112로 19.62% 감소했고, MAE도 0.8107에서 0.6466으로 20.24% 줄었습니다. R²는 0.9246에서 0.9513으로 올랐습니다.
가장 중요한 건 네 번째 카드입니다. 변수를 두 개 늘렸는데도 학습 R²와 테스트 R² 차이가 0.0023밖에 안 됩니다. 변수를 늘리면 보통 과적합을 걱정해야 하는데, 이번엔 그런 징후가 없었습니다.
아래 막대에서 네 모델의 순서를 한눈에 볼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장이 5부의 결론입니다.
회색이 기준 모델, 파랑이 개선 모델의 구간별 평균 잔차입니다. 회색은 U자형으로 출렁이는데, 파랑은 다섯 구간 모두 0 근처에 붙어 있습니다.
숫자로 보면 최대 편향이 0.700에서 0.054로 줄었습니다. 13분의 1 수준입니다.
제가 이 장을 가장 중요하게 생각하는 이유는, 이게 단순히 점수가 오른 게 아니기 때문입니다. 특정 온도 조건에서 일관되게 틀리던 오류가 사라진 겁니다. 실제 서비스로 치면 혹한기와 혹서기 안내의 신뢰도가 직접 개선된 것이고, 이게 제가 개선 모델을 최종 채택한 핵심 근거입니다.</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개선 모델에서 어떤 조건이 소비율을 좌우하는지 봤습니다.
앞에서 계수를 그대로 비교하면 안 된다고 했었죠. 그래서 각 변수가 표준편차 1만큼 변할 때 예측값이 얼마나 변하는지로 환산했습니다.
경사도 0.496, 적재중량 0.463, 속도 0.439, 공조 0.345 순입니다. EDA와 같습니다.
주목할 건 6위 cold_penalty입니다. 상관계수로는 7위로 묻혀 있던 외기온이, 곡선 관계를 분리하니까 상위권 요인으로 드러났습니다. 반대로 ambient_temp_C 자체는 -0.015로 줄었는데, 온도 효과가 파생변수로 옮겨 갔기 때문입니다.
실무적으로는 저온 영향이 고온의 약 4배라는 점이 의미가 있습니다. 겨울철 경로 안내에서 에너지 여유를 더 크게 잡아야 한다는 근거가 됩니다.</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최종 모델을 정할 때 테스트 RMSE만 보지 않고, 미리 정해둔 다섯 가지 조건을 하나씩 확인했습니다.
MAE·RMSE 감소, R² 증가, 과적합 없음, 잔차 편향 감소, 그리고 설명 가능성 유지입니다. 다섯 개 모두 충족했습니다.
여기에 하나를 더 봤습니다. 이 모델은 곱셈과 덧셈만으로 예측값이 나옵니다. 파생변수도 뺄셈과 max 연산 한 번씩이면 계산됩니다. 추가로 필요한 입력은 이미 확보 중인 외기온뿐입니다.
경로 탐색에서는 수많은 구간을 반복 계산해야 하는데, 이 단순함은 실제로 큰 이점입니다.</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모델을 서비스에 연결하기 전에, 계산식이 의도대로 작동하는지부터 확인했습니다.
테스트 데이터 한 행을 골랐습니다. 실제 소비율이 26.01인데 기준 모델은 26.40, 개선 모델은 25.95를 예측했습니다. 개선 모델이 더 가깝습니다.
이 조건의 주행거리 176.9km를 환산식에 넣으면 45.91kWh, 여기서 도착 SOC는 3.5%가 됩니다.
다만 분명히 해둘 게 있습니다. 이건 계산 구조의 검증일 뿐입니다. 실제 내비게이션에서는 실제 소비율을 미리 알 수 없으니까, 비교 대상 자체가 없습니다. 그래서 경로 안내는 예측값만으로 후보를 비교하는 형태여야 하고, 그게 다음 장입니다.</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이 모델이 실제 업무에서 무엇을 하는지 보여드리겠습니다.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시뮬레이션 설계입니다. 여기서 한 가지 설계 판단이 들어갑니다.
이 모델에서 속도를 낮추면 에너지는 줄지만 소요 시간은 반비례로 늘어납니다. 그래서 느리게 가서 아끼는 경로를 만들면 시간 손해가 너무 커집니다.
그래서 세 경로의 속도를 90에서 120km/h로 비슷하게 두고, 경로 C만 경사가 완만한 우회 노선으로 설정했습니다. 절약의 원인을 속도가 아니라 도로 경사에 둔 겁니다.
A는 구릉지를 지나 경사가 1.5에서 4%이고, C는 0에서 0.5%입니다. 대신 C가 3km 더 깁니다.
적재중량, 외기온, 공조 같은 차량·환경 조건은 세 경로에 똑같이 넣었습니다. 외기온이 영하 5도라 세 경로 모두 소비율이 높게 나온 점도 눈여겨볼 만합니다.</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결과입니다.
가장 짧은 경로 A는 148km인데 3에서 4% 경사의 구릉지를 지나느라 40.74kWh를 씁니다.
가장 빠른 경로 B는 86.58분으로 8분 가까이 빠르지만, 110에서 120km/h 주행 탓에 46.50kWh를 씁니다. 도착 SOC가 2.51%까지 떨어져 안전 기준 10%에 크게 미달합니다. 빨간 점선 아래죠. 그래서 추천 후보에서 제외됩니다.
경로 C는 A보다 3km 길지만 경사가 0에서 0.5%로 완만해 39.29kWh만 씁니다. 속도는 90에서 92km/h로 A와 비슷한데도 말입니다. 도착 SOC는 14.52%로 가장 여유롭습니다.
즉 가장 짧은 길도, 가장 빠른 길도 에너지가 가장 적게 드는 길이 아니었습니다. 그리고 중요한 건, 최소 에너지 경로가 가장 느린 길일 필요도 없다는 겁니다.</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경로 C를 선택하면 무엇을 주고 무엇을 얻는지 정리했습니다.
A와 비교하면 C는 3km 더 길고 5.6분이 더 걸립니다. 대신 에너지를 1.45kWh 아끼고 도착 SOC가 2.42%p 여유롭습니다. 5분 남짓으로 배터리 여유를 얻는 거래이니 대부분의 운전자가 받아들일 만합니다.
가장 빠른 B와 비교하면 13.4분을 더 쓰는 대신 7.21kWh를 아끼고, 무엇보다 B는 도착이 불가능합니다.
그래도 최소 에너지 경로가 항상 정답은 아닙니다. 그래서 실제 서비스는 최단시간·최단거리·에너지 우선 경로를 함께 보여주고, 안전 기준에 미달하는 경로에는 충전 경유 안내를 붙이는 형태가 맞습니다.
아래는 이 모델이 지원할 수 있는 네 가지 기능입니다.</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한계를 분명히 말씀드리겠습니다.
가장 큰 건 교육용 데이터라는 점입니다. 실차 계측값과는 분포와 잡음 특성이 다를 수 있어서, 오늘 보여드린 성능 수치는 이 데이터 범위 안에서만 유효합니다.
두 번째는 분석 단위의 불일치입니다. 모델은 주행 단위로 학습했는데 시뮬레이션에서는 구간 단위로 썼습니다. 구간이 짧아질수록 오차가 커집니다.
그 외에 회생제동을 반영하지 못하고, 차종과 배터리 정보가 없어 60kWh 가정에 의존하며, 안전 기준 10%도 제가 임의로 정한 값입니다.
그리고 경로 비교는 실제 지도가 아니라 가상 시나리오라는 점을 다시 강조드립니다.</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정리하겠습니다</a:t>
            </a:r>
            <a:r>
              <a:rPr lang="en-US" dirty="0"/>
              <a:t>.
9개 조건과 온도 파생변수를 쓴 선형회귀가 소비율 변동의 95.1%를 설명했고, 이 예측값은 경로별 소비전력량과 도착 SOC를 계산하는 비용 함수로 바로 쓸 수 있습니다.
분석 과정에서 배운 걸 정리하면, 지표가 가장 좋은 모델이 곧 옳은 모델은 아니라는 것, 잔차를 조건별로 나눠 봐야 구조적 오류가 드러난다는 것, 그리고 상관계수가 작다고 영향이 작은 게 아니라는 것입니다.
오차를 업무 언어로 바꾸면 RMSE 0.81은 150km 경로에서 약 1.22kWh, 도착 SOC로 약 2%p입니다. 안전 잔량 10%보다 충분히 작아서 경로 간 우열을 가리는 용도로는 실용적입니다.
이상 발표를 마치겠습니다.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chart" Target="../charts/chart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3A5C"/>
        </a:solidFill>
        <a:effectLst/>
      </p:bgPr>
    </p:bg>
    <p:spTree>
      <p:nvGrpSpPr>
        <p:cNvPr id="1" name=""/>
        <p:cNvGrpSpPr/>
        <p:nvPr/>
      </p:nvGrpSpPr>
      <p:grpSpPr>
        <a:xfrm>
          <a:off x="0" y="0"/>
          <a:ext cx="0" cy="0"/>
          <a:chOff x="0" y="0"/>
          <a:chExt cx="0" cy="0"/>
        </a:xfrm>
      </p:grpSpPr>
      <p:sp>
        <p:nvSpPr>
          <p:cNvPr id="2" name="Shape 0"/>
          <p:cNvSpPr/>
          <p:nvPr/>
        </p:nvSpPr>
        <p:spPr>
          <a:xfrm>
            <a:off x="9692640" y="-1371600"/>
            <a:ext cx="4206240" cy="4206240"/>
          </a:xfrm>
          <a:prstGeom prst="ellipse">
            <a:avLst/>
          </a:prstGeom>
          <a:solidFill>
            <a:srgbClr val="1C7293">
              <a:alpha val="28000"/>
            </a:srgbClr>
          </a:solidFill>
          <a:ln w="12700">
            <a:solidFill>
              <a:srgbClr val="1C7293">
                <a:alpha val="0"/>
              </a:srgbClr>
            </a:solidFill>
            <a:prstDash val="solid"/>
          </a:ln>
        </p:spPr>
        <p:txBody>
          <a:bodyPr/>
          <a:lstStyle/>
          <a:p>
            <a:endParaRPr lang="ko-KR" altLang="en-US"/>
          </a:p>
        </p:txBody>
      </p:sp>
      <p:sp>
        <p:nvSpPr>
          <p:cNvPr id="3" name="Shape 1"/>
          <p:cNvSpPr/>
          <p:nvPr/>
        </p:nvSpPr>
        <p:spPr>
          <a:xfrm>
            <a:off x="10881360" y="4663440"/>
            <a:ext cx="2377440" cy="2377440"/>
          </a:xfrm>
          <a:prstGeom prst="ellipse">
            <a:avLst/>
          </a:prstGeom>
          <a:solidFill>
            <a:srgbClr val="1C7293">
              <a:alpha val="18000"/>
            </a:srgbClr>
          </a:solidFill>
          <a:ln w="12700">
            <a:solidFill>
              <a:srgbClr val="1C7293">
                <a:alpha val="0"/>
              </a:srgbClr>
            </a:solidFill>
            <a:prstDash val="solid"/>
          </a:ln>
        </p:spPr>
        <p:txBody>
          <a:bodyPr/>
          <a:lstStyle/>
          <a:p>
            <a:endParaRPr lang="ko-KR" altLang="en-US"/>
          </a:p>
        </p:txBody>
      </p:sp>
      <p:sp>
        <p:nvSpPr>
          <p:cNvPr id="4" name="Text 2"/>
          <p:cNvSpPr txBox="1"/>
          <p:nvPr/>
        </p:nvSpPr>
        <p:spPr>
          <a:xfrm>
            <a:off x="658368" y="1371600"/>
            <a:ext cx="8229600" cy="274320"/>
          </a:xfrm>
          <a:prstGeom prst="rect">
            <a:avLst/>
          </a:prstGeom>
          <a:noFill/>
          <a:ln/>
        </p:spPr>
        <p:txBody>
          <a:bodyPr wrap="square" lIns="0" tIns="0" rIns="0" bIns="0" rtlCol="0" anchor="ctr"/>
          <a:lstStyle/>
          <a:p>
            <a:pPr marL="0" indent="0">
              <a:buNone/>
            </a:pPr>
            <a:r>
              <a:rPr lang="en-US" sz="1300" b="1" kern="0" spc="200" dirty="0">
                <a:solidFill>
                  <a:srgbClr val="D8E8F0"/>
                </a:solidFill>
                <a:latin typeface="맑은 고딕" pitchFamily="34" charset="0"/>
                <a:ea typeface="맑은 고딕" pitchFamily="34" charset="-122"/>
                <a:cs typeface="맑은 고딕" pitchFamily="34" charset="-120"/>
              </a:rPr>
              <a:t>데이터 분석 프로젝트 발표</a:t>
            </a:r>
            <a:endParaRPr lang="en-US" sz="1300" dirty="0"/>
          </a:p>
        </p:txBody>
      </p:sp>
      <p:sp>
        <p:nvSpPr>
          <p:cNvPr id="5" name="Text 3"/>
          <p:cNvSpPr txBox="1"/>
          <p:nvPr/>
        </p:nvSpPr>
        <p:spPr>
          <a:xfrm>
            <a:off x="658368" y="1783080"/>
            <a:ext cx="9326880" cy="868680"/>
          </a:xfrm>
          <a:prstGeom prst="rect">
            <a:avLst/>
          </a:prstGeom>
          <a:noFill/>
          <a:ln/>
        </p:spPr>
        <p:txBody>
          <a:bodyPr wrap="square" lIns="0" tIns="0" rIns="0" bIns="0" rtlCol="0" anchor="ctr"/>
          <a:lstStyle/>
          <a:p>
            <a:pPr marL="0" indent="0">
              <a:buNone/>
            </a:pPr>
            <a:r>
              <a:rPr lang="en-US" sz="4400" b="1" dirty="0">
                <a:solidFill>
                  <a:srgbClr val="FFFFFF"/>
                </a:solidFill>
                <a:latin typeface="맑은 고딕" pitchFamily="34" charset="0"/>
                <a:ea typeface="맑은 고딕" pitchFamily="34" charset="-122"/>
                <a:cs typeface="맑은 고딕" pitchFamily="34" charset="-120"/>
              </a:rPr>
              <a:t>전기차 에너지 소비율 예측</a:t>
            </a:r>
            <a:endParaRPr lang="en-US" sz="4400" dirty="0"/>
          </a:p>
        </p:txBody>
      </p:sp>
      <p:sp>
        <p:nvSpPr>
          <p:cNvPr id="6" name="Text 4"/>
          <p:cNvSpPr txBox="1"/>
          <p:nvPr/>
        </p:nvSpPr>
        <p:spPr>
          <a:xfrm>
            <a:off x="658368" y="2697480"/>
            <a:ext cx="9326880" cy="548640"/>
          </a:xfrm>
          <a:prstGeom prst="rect">
            <a:avLst/>
          </a:prstGeom>
          <a:noFill/>
          <a:ln/>
        </p:spPr>
        <p:txBody>
          <a:bodyPr wrap="square" lIns="0" tIns="0" rIns="0" bIns="0" rtlCol="0" anchor="ctr"/>
          <a:lstStyle/>
          <a:p>
            <a:pPr marL="0" indent="0">
              <a:buNone/>
            </a:pPr>
            <a:r>
              <a:rPr lang="en-US" sz="2200" dirty="0">
                <a:solidFill>
                  <a:srgbClr val="D8E8F0"/>
                </a:solidFill>
                <a:latin typeface="맑은 고딕" pitchFamily="34" charset="0"/>
                <a:ea typeface="맑은 고딕" pitchFamily="34" charset="-122"/>
                <a:cs typeface="맑은 고딕" pitchFamily="34" charset="-120"/>
              </a:rPr>
              <a:t>주행 조건을 반영한 경로별 에너지 비용 산출</a:t>
            </a:r>
            <a:endParaRPr lang="en-US" sz="2200" dirty="0"/>
          </a:p>
        </p:txBody>
      </p:sp>
      <p:sp>
        <p:nvSpPr>
          <p:cNvPr id="7" name="Text 5"/>
          <p:cNvSpPr txBox="1"/>
          <p:nvPr/>
        </p:nvSpPr>
        <p:spPr>
          <a:xfrm>
            <a:off x="658368" y="3200400"/>
            <a:ext cx="9326880" cy="365760"/>
          </a:xfrm>
          <a:prstGeom prst="rect">
            <a:avLst/>
          </a:prstGeom>
          <a:noFill/>
          <a:ln/>
        </p:spPr>
        <p:txBody>
          <a:bodyPr wrap="square" lIns="0" tIns="0" rIns="0" bIns="0" rtlCol="0" anchor="ctr"/>
          <a:lstStyle/>
          <a:p>
            <a:pPr marL="0" indent="0">
              <a:buNone/>
            </a:pPr>
            <a:r>
              <a:rPr lang="en-US" sz="1500" dirty="0">
                <a:solidFill>
                  <a:srgbClr val="9FC2D6"/>
                </a:solidFill>
                <a:latin typeface="맑은 고딕" pitchFamily="34" charset="0"/>
                <a:ea typeface="맑은 고딕" pitchFamily="34" charset="-122"/>
                <a:cs typeface="맑은 고딕" pitchFamily="34" charset="-120"/>
              </a:rPr>
              <a:t>OEM 내비게이션 적용을 상정한 회귀 분석</a:t>
            </a:r>
            <a:endParaRPr lang="en-US" sz="1500" dirty="0"/>
          </a:p>
        </p:txBody>
      </p:sp>
      <p:sp>
        <p:nvSpPr>
          <p:cNvPr id="8" name="Text 6"/>
          <p:cNvSpPr txBox="1"/>
          <p:nvPr/>
        </p:nvSpPr>
        <p:spPr>
          <a:xfrm>
            <a:off x="658368" y="4572000"/>
            <a:ext cx="2468880" cy="457200"/>
          </a:xfrm>
          <a:prstGeom prst="rect">
            <a:avLst/>
          </a:prstGeom>
          <a:noFill/>
          <a:ln/>
        </p:spPr>
        <p:txBody>
          <a:bodyPr wrap="square" lIns="0" tIns="0" rIns="0" bIns="0" rtlCol="0" anchor="ctr"/>
          <a:lstStyle/>
          <a:p>
            <a:pPr marL="0" indent="0">
              <a:buNone/>
            </a:pPr>
            <a:r>
              <a:rPr lang="en-US" sz="2300" b="1" dirty="0">
                <a:solidFill>
                  <a:srgbClr val="FFFFFF"/>
                </a:solidFill>
                <a:latin typeface="맑은 고딕" pitchFamily="34" charset="0"/>
                <a:ea typeface="맑은 고딕" pitchFamily="34" charset="-122"/>
                <a:cs typeface="맑은 고딕" pitchFamily="34" charset="-120"/>
              </a:rPr>
              <a:t>8,000건</a:t>
            </a:r>
            <a:endParaRPr lang="en-US" sz="2300" dirty="0"/>
          </a:p>
        </p:txBody>
      </p:sp>
      <p:sp>
        <p:nvSpPr>
          <p:cNvPr id="9" name="Text 7"/>
          <p:cNvSpPr txBox="1"/>
          <p:nvPr/>
        </p:nvSpPr>
        <p:spPr>
          <a:xfrm>
            <a:off x="658368" y="5029200"/>
            <a:ext cx="2468880" cy="292608"/>
          </a:xfrm>
          <a:prstGeom prst="rect">
            <a:avLst/>
          </a:prstGeom>
          <a:noFill/>
          <a:ln/>
        </p:spPr>
        <p:txBody>
          <a:bodyPr wrap="square" lIns="0" tIns="0" rIns="0" bIns="0" rtlCol="0" anchor="ctr"/>
          <a:lstStyle/>
          <a:p>
            <a:pPr marL="0" indent="0">
              <a:buNone/>
            </a:pPr>
            <a:r>
              <a:rPr lang="en-US" sz="1200" dirty="0">
                <a:solidFill>
                  <a:srgbClr val="9FC2D6"/>
                </a:solidFill>
                <a:latin typeface="맑은 고딕" pitchFamily="34" charset="0"/>
                <a:ea typeface="맑은 고딕" pitchFamily="34" charset="-122"/>
                <a:cs typeface="맑은 고딕" pitchFamily="34" charset="-120"/>
              </a:rPr>
              <a:t>주행 데이터</a:t>
            </a:r>
            <a:endParaRPr lang="en-US" sz="1200" dirty="0"/>
          </a:p>
        </p:txBody>
      </p:sp>
      <p:sp>
        <p:nvSpPr>
          <p:cNvPr id="10" name="Text 8"/>
          <p:cNvSpPr txBox="1"/>
          <p:nvPr/>
        </p:nvSpPr>
        <p:spPr>
          <a:xfrm>
            <a:off x="3310128" y="4572000"/>
            <a:ext cx="2468880" cy="457200"/>
          </a:xfrm>
          <a:prstGeom prst="rect">
            <a:avLst/>
          </a:prstGeom>
          <a:noFill/>
          <a:ln/>
        </p:spPr>
        <p:txBody>
          <a:bodyPr wrap="square" lIns="0" tIns="0" rIns="0" bIns="0" rtlCol="0" anchor="ctr"/>
          <a:lstStyle/>
          <a:p>
            <a:pPr marL="0" indent="0">
              <a:buNone/>
            </a:pPr>
            <a:r>
              <a:rPr lang="en-US" sz="2300" b="1" dirty="0">
                <a:solidFill>
                  <a:srgbClr val="FFFFFF"/>
                </a:solidFill>
                <a:latin typeface="맑은 고딕" pitchFamily="34" charset="0"/>
                <a:ea typeface="맑은 고딕" pitchFamily="34" charset="-122"/>
                <a:cs typeface="맑은 고딕" pitchFamily="34" charset="-120"/>
              </a:rPr>
              <a:t>9개</a:t>
            </a:r>
            <a:endParaRPr lang="en-US" sz="2300" dirty="0"/>
          </a:p>
        </p:txBody>
      </p:sp>
      <p:sp>
        <p:nvSpPr>
          <p:cNvPr id="11" name="Text 9"/>
          <p:cNvSpPr txBox="1"/>
          <p:nvPr/>
        </p:nvSpPr>
        <p:spPr>
          <a:xfrm>
            <a:off x="3310128" y="5029200"/>
            <a:ext cx="2468880" cy="292608"/>
          </a:xfrm>
          <a:prstGeom prst="rect">
            <a:avLst/>
          </a:prstGeom>
          <a:noFill/>
          <a:ln/>
        </p:spPr>
        <p:txBody>
          <a:bodyPr wrap="square" lIns="0" tIns="0" rIns="0" bIns="0" rtlCol="0" anchor="ctr"/>
          <a:lstStyle/>
          <a:p>
            <a:pPr marL="0" indent="0">
              <a:buNone/>
            </a:pPr>
            <a:r>
              <a:rPr lang="en-US" sz="1200" dirty="0">
                <a:solidFill>
                  <a:srgbClr val="9FC2D6"/>
                </a:solidFill>
                <a:latin typeface="맑은 고딕" pitchFamily="34" charset="0"/>
                <a:ea typeface="맑은 고딕" pitchFamily="34" charset="-122"/>
                <a:cs typeface="맑은 고딕" pitchFamily="34" charset="-120"/>
              </a:rPr>
              <a:t>주행·환경 변수</a:t>
            </a:r>
            <a:endParaRPr lang="en-US" sz="1200" dirty="0"/>
          </a:p>
        </p:txBody>
      </p:sp>
      <p:sp>
        <p:nvSpPr>
          <p:cNvPr id="12" name="Text 10"/>
          <p:cNvSpPr txBox="1"/>
          <p:nvPr/>
        </p:nvSpPr>
        <p:spPr>
          <a:xfrm>
            <a:off x="5961888" y="4572000"/>
            <a:ext cx="2468880" cy="457200"/>
          </a:xfrm>
          <a:prstGeom prst="rect">
            <a:avLst/>
          </a:prstGeom>
          <a:noFill/>
          <a:ln/>
        </p:spPr>
        <p:txBody>
          <a:bodyPr wrap="square" lIns="0" tIns="0" rIns="0" bIns="0" rtlCol="0" anchor="ctr"/>
          <a:lstStyle/>
          <a:p>
            <a:pPr marL="0" indent="0">
              <a:buNone/>
            </a:pPr>
            <a:r>
              <a:rPr lang="en-US" sz="2300" b="1" dirty="0">
                <a:solidFill>
                  <a:srgbClr val="FFFFFF"/>
                </a:solidFill>
                <a:latin typeface="맑은 고딕" pitchFamily="34" charset="0"/>
                <a:ea typeface="맑은 고딕" pitchFamily="34" charset="-122"/>
                <a:cs typeface="맑은 고딕" pitchFamily="34" charset="-120"/>
              </a:rPr>
              <a:t>4개</a:t>
            </a:r>
            <a:endParaRPr lang="en-US" sz="2300" dirty="0"/>
          </a:p>
        </p:txBody>
      </p:sp>
      <p:sp>
        <p:nvSpPr>
          <p:cNvPr id="13" name="Text 11"/>
          <p:cNvSpPr txBox="1"/>
          <p:nvPr/>
        </p:nvSpPr>
        <p:spPr>
          <a:xfrm>
            <a:off x="5961888" y="5029200"/>
            <a:ext cx="2468880" cy="292608"/>
          </a:xfrm>
          <a:prstGeom prst="rect">
            <a:avLst/>
          </a:prstGeom>
          <a:noFill/>
          <a:ln/>
        </p:spPr>
        <p:txBody>
          <a:bodyPr wrap="square" lIns="0" tIns="0" rIns="0" bIns="0" rtlCol="0" anchor="ctr"/>
          <a:lstStyle/>
          <a:p>
            <a:pPr marL="0" indent="0">
              <a:buNone/>
            </a:pPr>
            <a:r>
              <a:rPr lang="en-US" sz="1200" dirty="0">
                <a:solidFill>
                  <a:srgbClr val="9FC2D6"/>
                </a:solidFill>
                <a:latin typeface="맑은 고딕" pitchFamily="34" charset="0"/>
                <a:ea typeface="맑은 고딕" pitchFamily="34" charset="-122"/>
                <a:cs typeface="맑은 고딕" pitchFamily="34" charset="-120"/>
              </a:rPr>
              <a:t>비교한 회귀 모델</a:t>
            </a:r>
            <a:endParaRPr lang="en-US" sz="1200" dirty="0"/>
          </a:p>
        </p:txBody>
      </p:sp>
      <p:sp>
        <p:nvSpPr>
          <p:cNvPr id="14" name="Text 12"/>
          <p:cNvSpPr txBox="1"/>
          <p:nvPr/>
        </p:nvSpPr>
        <p:spPr>
          <a:xfrm>
            <a:off x="8613648" y="4572000"/>
            <a:ext cx="2468880" cy="457200"/>
          </a:xfrm>
          <a:prstGeom prst="rect">
            <a:avLst/>
          </a:prstGeom>
          <a:noFill/>
          <a:ln/>
        </p:spPr>
        <p:txBody>
          <a:bodyPr wrap="square" lIns="0" tIns="0" rIns="0" bIns="0" rtlCol="0" anchor="ctr"/>
          <a:lstStyle/>
          <a:p>
            <a:pPr marL="0" indent="0">
              <a:buNone/>
            </a:pPr>
            <a:r>
              <a:rPr lang="en-US" sz="2300" b="1" dirty="0">
                <a:solidFill>
                  <a:srgbClr val="FFFFFF"/>
                </a:solidFill>
                <a:latin typeface="맑은 고딕" pitchFamily="34" charset="0"/>
                <a:ea typeface="맑은 고딕" pitchFamily="34" charset="-122"/>
                <a:cs typeface="맑은 고딕" pitchFamily="34" charset="-120"/>
              </a:rPr>
              <a:t>R² 0.951</a:t>
            </a:r>
            <a:endParaRPr lang="en-US" sz="2300" dirty="0"/>
          </a:p>
        </p:txBody>
      </p:sp>
      <p:sp>
        <p:nvSpPr>
          <p:cNvPr id="15" name="Text 13"/>
          <p:cNvSpPr txBox="1"/>
          <p:nvPr/>
        </p:nvSpPr>
        <p:spPr>
          <a:xfrm>
            <a:off x="8613648" y="5029200"/>
            <a:ext cx="2468880" cy="292608"/>
          </a:xfrm>
          <a:prstGeom prst="rect">
            <a:avLst/>
          </a:prstGeom>
          <a:noFill/>
          <a:ln/>
        </p:spPr>
        <p:txBody>
          <a:bodyPr wrap="square" lIns="0" tIns="0" rIns="0" bIns="0" rtlCol="0" anchor="ctr"/>
          <a:lstStyle/>
          <a:p>
            <a:pPr marL="0" indent="0">
              <a:buNone/>
            </a:pPr>
            <a:r>
              <a:rPr lang="en-US" sz="1200" dirty="0">
                <a:solidFill>
                  <a:srgbClr val="9FC2D6"/>
                </a:solidFill>
                <a:latin typeface="맑은 고딕" pitchFamily="34" charset="0"/>
                <a:ea typeface="맑은 고딕" pitchFamily="34" charset="-122"/>
                <a:cs typeface="맑은 고딕" pitchFamily="34" charset="-120"/>
              </a:rPr>
              <a:t>최종 모델 설명력</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66928" y="365760"/>
            <a:ext cx="457200" cy="457200"/>
          </a:xfrm>
          <a:prstGeom prst="ellipse">
            <a:avLst/>
          </a:prstGeom>
          <a:solidFill>
            <a:srgbClr val="1C7293"/>
          </a:solidFill>
          <a:ln w="12700">
            <a:solidFill>
              <a:srgbClr val="1C7293"/>
            </a:solidFill>
            <a:prstDash val="solid"/>
          </a:ln>
        </p:spPr>
        <p:txBody>
          <a:bodyPr/>
          <a:lstStyle/>
          <a:p>
            <a:endParaRPr lang="ko-KR" altLang="en-US"/>
          </a:p>
        </p:txBody>
      </p:sp>
      <p:sp>
        <p:nvSpPr>
          <p:cNvPr id="3" name="Text 1"/>
          <p:cNvSpPr txBox="1"/>
          <p:nvPr/>
        </p:nvSpPr>
        <p:spPr>
          <a:xfrm>
            <a:off x="566928" y="3657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0</a:t>
            </a:r>
            <a:endParaRPr lang="en-US" sz="1600" dirty="0"/>
          </a:p>
        </p:txBody>
      </p:sp>
      <p:sp>
        <p:nvSpPr>
          <p:cNvPr id="4" name="Text 2"/>
          <p:cNvSpPr txBox="1"/>
          <p:nvPr/>
        </p:nvSpPr>
        <p:spPr>
          <a:xfrm>
            <a:off x="1152144" y="310896"/>
            <a:ext cx="10424160" cy="246888"/>
          </a:xfrm>
          <a:prstGeom prst="rect">
            <a:avLst/>
          </a:prstGeom>
          <a:noFill/>
          <a:ln/>
        </p:spPr>
        <p:txBody>
          <a:bodyPr wrap="square" lIns="0" tIns="0" rIns="0" bIns="0" rtlCol="0" anchor="ctr"/>
          <a:lstStyle/>
          <a:p>
            <a:pPr marL="0" indent="0">
              <a:buNone/>
            </a:pPr>
            <a:r>
              <a:rPr lang="en-US" sz="1150" b="1" kern="0" spc="100" dirty="0">
                <a:solidFill>
                  <a:srgbClr val="1C7293"/>
                </a:solidFill>
                <a:latin typeface="맑은 고딕" pitchFamily="34" charset="0"/>
                <a:ea typeface="맑은 고딕" pitchFamily="34" charset="-122"/>
                <a:cs typeface="맑은 고딕" pitchFamily="34" charset="-120"/>
              </a:rPr>
              <a:t>발표 순서</a:t>
            </a:r>
            <a:endParaRPr lang="en-US" sz="1150" dirty="0"/>
          </a:p>
        </p:txBody>
      </p:sp>
      <p:sp>
        <p:nvSpPr>
          <p:cNvPr id="5" name="Text 3"/>
          <p:cNvSpPr txBox="1"/>
          <p:nvPr/>
        </p:nvSpPr>
        <p:spPr>
          <a:xfrm>
            <a:off x="1152144" y="566928"/>
            <a:ext cx="10469880" cy="530352"/>
          </a:xfrm>
          <a:prstGeom prst="rect">
            <a:avLst/>
          </a:prstGeom>
          <a:noFill/>
          <a:ln/>
        </p:spPr>
        <p:txBody>
          <a:bodyPr wrap="square" lIns="0" tIns="0" rIns="0" bIns="0" rtlCol="0" anchor="ctr"/>
          <a:lstStyle/>
          <a:p>
            <a:pPr marL="0" indent="0">
              <a:buNone/>
            </a:pPr>
            <a:r>
              <a:rPr lang="en-US" sz="2500" b="1" dirty="0">
                <a:solidFill>
                  <a:srgbClr val="0E3A5C"/>
                </a:solidFill>
                <a:latin typeface="맑은 고딕" pitchFamily="34" charset="0"/>
                <a:ea typeface="맑은 고딕" pitchFamily="34" charset="-122"/>
                <a:cs typeface="맑은 고딕" pitchFamily="34" charset="-120"/>
              </a:rPr>
              <a:t>분석 흐름</a:t>
            </a:r>
            <a:endParaRPr lang="en-US" sz="2500" dirty="0"/>
          </a:p>
        </p:txBody>
      </p:sp>
      <p:sp>
        <p:nvSpPr>
          <p:cNvPr id="6" name="Shape 4"/>
          <p:cNvSpPr/>
          <p:nvPr/>
        </p:nvSpPr>
        <p:spPr>
          <a:xfrm>
            <a:off x="566928" y="1463040"/>
            <a:ext cx="3474720" cy="2011680"/>
          </a:xfrm>
          <a:prstGeom prst="roundRect">
            <a:avLst>
              <a:gd name="adj" fmla="val 2273"/>
            </a:avLst>
          </a:prstGeom>
          <a:solidFill>
            <a:srgbClr val="EFF6FA"/>
          </a:solidFill>
          <a:ln w="12700">
            <a:solidFill>
              <a:srgbClr val="D8E8F0"/>
            </a:solidFill>
            <a:prstDash val="solid"/>
          </a:ln>
        </p:spPr>
        <p:txBody>
          <a:bodyPr/>
          <a:lstStyle/>
          <a:p>
            <a:endParaRPr lang="ko-KR" altLang="en-US"/>
          </a:p>
        </p:txBody>
      </p:sp>
      <p:sp>
        <p:nvSpPr>
          <p:cNvPr id="7" name="Shape 5"/>
          <p:cNvSpPr/>
          <p:nvPr/>
        </p:nvSpPr>
        <p:spPr>
          <a:xfrm>
            <a:off x="804672" y="1700784"/>
            <a:ext cx="420624" cy="420624"/>
          </a:xfrm>
          <a:prstGeom prst="ellipse">
            <a:avLst/>
          </a:prstGeom>
          <a:solidFill>
            <a:srgbClr val="1C7293"/>
          </a:solidFill>
          <a:ln w="12700">
            <a:solidFill>
              <a:srgbClr val="1C7293"/>
            </a:solidFill>
            <a:prstDash val="solid"/>
          </a:ln>
        </p:spPr>
        <p:txBody>
          <a:bodyPr/>
          <a:lstStyle/>
          <a:p>
            <a:endParaRPr lang="ko-KR" altLang="en-US"/>
          </a:p>
        </p:txBody>
      </p:sp>
      <p:sp>
        <p:nvSpPr>
          <p:cNvPr id="8" name="Text 6"/>
          <p:cNvSpPr txBox="1"/>
          <p:nvPr/>
        </p:nvSpPr>
        <p:spPr>
          <a:xfrm>
            <a:off x="804672" y="170078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1</a:t>
            </a:r>
            <a:endParaRPr lang="en-US" sz="1400" dirty="0"/>
          </a:p>
        </p:txBody>
      </p:sp>
      <p:sp>
        <p:nvSpPr>
          <p:cNvPr id="9" name="Text 7"/>
          <p:cNvSpPr txBox="1"/>
          <p:nvPr/>
        </p:nvSpPr>
        <p:spPr>
          <a:xfrm>
            <a:off x="1353312" y="1737360"/>
            <a:ext cx="2468880" cy="365760"/>
          </a:xfrm>
          <a:prstGeom prst="rect">
            <a:avLst/>
          </a:prstGeom>
          <a:noFill/>
          <a:ln/>
        </p:spPr>
        <p:txBody>
          <a:bodyPr wrap="square" lIns="0" tIns="0" rIns="0" bIns="0" rtlCol="0" anchor="ctr"/>
          <a:lstStyle/>
          <a:p>
            <a:pPr marL="0" indent="0">
              <a:buNone/>
            </a:pPr>
            <a:r>
              <a:rPr lang="en-US" sz="1600" b="1" dirty="0">
                <a:solidFill>
                  <a:srgbClr val="0E3A5C"/>
                </a:solidFill>
                <a:latin typeface="맑은 고딕" pitchFamily="34" charset="0"/>
                <a:ea typeface="맑은 고딕" pitchFamily="34" charset="-122"/>
                <a:cs typeface="맑은 고딕" pitchFamily="34" charset="-120"/>
              </a:rPr>
              <a:t>문제 정의</a:t>
            </a:r>
            <a:endParaRPr lang="en-US" sz="1600" dirty="0"/>
          </a:p>
        </p:txBody>
      </p:sp>
      <p:sp>
        <p:nvSpPr>
          <p:cNvPr id="10" name="Text 8"/>
          <p:cNvSpPr txBox="1"/>
          <p:nvPr/>
        </p:nvSpPr>
        <p:spPr>
          <a:xfrm>
            <a:off x="804672" y="2331720"/>
            <a:ext cx="3017520" cy="914400"/>
          </a:xfrm>
          <a:prstGeom prst="rect">
            <a:avLst/>
          </a:prstGeom>
          <a:noFill/>
          <a:ln/>
        </p:spPr>
        <p:txBody>
          <a:bodyPr wrap="square" lIns="0" tIns="0" rIns="0" bIns="0" rtlCol="0" anchor="ctr"/>
          <a:lstStyle/>
          <a:p>
            <a:pPr marL="0" indent="0">
              <a:lnSpc>
                <a:spcPts val="1800"/>
              </a:lnSpc>
              <a:buNone/>
            </a:pPr>
            <a:r>
              <a:rPr lang="en-US" sz="1250" dirty="0">
                <a:solidFill>
                  <a:srgbClr val="5F6B78"/>
                </a:solidFill>
                <a:latin typeface="맑은 고딕" pitchFamily="34" charset="0"/>
                <a:ea typeface="맑은 고딕" pitchFamily="34" charset="-122"/>
                <a:cs typeface="맑은 고딕" pitchFamily="34" charset="-120"/>
              </a:rPr>
              <a:t>왜 이 분석이 필요한가</a:t>
            </a:r>
            <a:endParaRPr lang="en-US" sz="1250" dirty="0"/>
          </a:p>
          <a:p>
            <a:pPr marL="0" indent="0">
              <a:lnSpc>
                <a:spcPts val="1800"/>
              </a:lnSpc>
              <a:buNone/>
            </a:pPr>
            <a:r>
              <a:rPr lang="en-US" sz="1250" dirty="0">
                <a:solidFill>
                  <a:srgbClr val="5F6B78"/>
                </a:solidFill>
                <a:latin typeface="맑은 고딕" pitchFamily="34" charset="0"/>
                <a:ea typeface="맑은 고딕" pitchFamily="34" charset="-122"/>
                <a:cs typeface="맑은 고딕" pitchFamily="34" charset="-120"/>
              </a:rPr>
              <a:t>무엇을 예측하는가</a:t>
            </a:r>
            <a:endParaRPr lang="en-US" sz="1250" dirty="0"/>
          </a:p>
        </p:txBody>
      </p:sp>
      <p:sp>
        <p:nvSpPr>
          <p:cNvPr id="11" name="Shape 9"/>
          <p:cNvSpPr/>
          <p:nvPr/>
        </p:nvSpPr>
        <p:spPr>
          <a:xfrm>
            <a:off x="4279392" y="1463040"/>
            <a:ext cx="3474720" cy="2011680"/>
          </a:xfrm>
          <a:prstGeom prst="roundRect">
            <a:avLst>
              <a:gd name="adj" fmla="val 2273"/>
            </a:avLst>
          </a:prstGeom>
          <a:solidFill>
            <a:srgbClr val="EFF6FA"/>
          </a:solidFill>
          <a:ln w="12700">
            <a:solidFill>
              <a:srgbClr val="D8E8F0"/>
            </a:solidFill>
            <a:prstDash val="solid"/>
          </a:ln>
        </p:spPr>
        <p:txBody>
          <a:bodyPr/>
          <a:lstStyle/>
          <a:p>
            <a:endParaRPr lang="ko-KR" altLang="en-US"/>
          </a:p>
        </p:txBody>
      </p:sp>
      <p:sp>
        <p:nvSpPr>
          <p:cNvPr id="12" name="Shape 10"/>
          <p:cNvSpPr/>
          <p:nvPr/>
        </p:nvSpPr>
        <p:spPr>
          <a:xfrm>
            <a:off x="4517136" y="1700784"/>
            <a:ext cx="420624" cy="420624"/>
          </a:xfrm>
          <a:prstGeom prst="ellipse">
            <a:avLst/>
          </a:prstGeom>
          <a:solidFill>
            <a:srgbClr val="1C7293"/>
          </a:solidFill>
          <a:ln w="12700">
            <a:solidFill>
              <a:srgbClr val="1C7293"/>
            </a:solidFill>
            <a:prstDash val="solid"/>
          </a:ln>
        </p:spPr>
        <p:txBody>
          <a:bodyPr/>
          <a:lstStyle/>
          <a:p>
            <a:endParaRPr lang="ko-KR" altLang="en-US"/>
          </a:p>
        </p:txBody>
      </p:sp>
      <p:sp>
        <p:nvSpPr>
          <p:cNvPr id="13" name="Text 11"/>
          <p:cNvSpPr txBox="1"/>
          <p:nvPr/>
        </p:nvSpPr>
        <p:spPr>
          <a:xfrm>
            <a:off x="4517136" y="170078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2</a:t>
            </a:r>
            <a:endParaRPr lang="en-US" sz="1400" dirty="0"/>
          </a:p>
        </p:txBody>
      </p:sp>
      <p:sp>
        <p:nvSpPr>
          <p:cNvPr id="14" name="Text 12"/>
          <p:cNvSpPr txBox="1"/>
          <p:nvPr/>
        </p:nvSpPr>
        <p:spPr>
          <a:xfrm>
            <a:off x="5065776" y="1737360"/>
            <a:ext cx="2468880" cy="365760"/>
          </a:xfrm>
          <a:prstGeom prst="rect">
            <a:avLst/>
          </a:prstGeom>
          <a:noFill/>
          <a:ln/>
        </p:spPr>
        <p:txBody>
          <a:bodyPr wrap="square" lIns="0" tIns="0" rIns="0" bIns="0" rtlCol="0" anchor="ctr"/>
          <a:lstStyle/>
          <a:p>
            <a:pPr marL="0" indent="0">
              <a:buNone/>
            </a:pPr>
            <a:r>
              <a:rPr lang="en-US" sz="1600" b="1" dirty="0">
                <a:solidFill>
                  <a:srgbClr val="0E3A5C"/>
                </a:solidFill>
                <a:latin typeface="맑은 고딕" pitchFamily="34" charset="0"/>
                <a:ea typeface="맑은 고딕" pitchFamily="34" charset="-122"/>
                <a:cs typeface="맑은 고딕" pitchFamily="34" charset="-120"/>
              </a:rPr>
              <a:t>데이터 이해</a:t>
            </a:r>
            <a:endParaRPr lang="en-US" sz="1600" dirty="0"/>
          </a:p>
        </p:txBody>
      </p:sp>
      <p:sp>
        <p:nvSpPr>
          <p:cNvPr id="15" name="Text 13"/>
          <p:cNvSpPr txBox="1"/>
          <p:nvPr/>
        </p:nvSpPr>
        <p:spPr>
          <a:xfrm>
            <a:off x="4517136" y="2331720"/>
            <a:ext cx="3017520" cy="914400"/>
          </a:xfrm>
          <a:prstGeom prst="rect">
            <a:avLst/>
          </a:prstGeom>
          <a:noFill/>
          <a:ln/>
        </p:spPr>
        <p:txBody>
          <a:bodyPr wrap="square" lIns="0" tIns="0" rIns="0" bIns="0" rtlCol="0" anchor="ctr"/>
          <a:lstStyle/>
          <a:p>
            <a:pPr marL="0" indent="0">
              <a:lnSpc>
                <a:spcPts val="1800"/>
              </a:lnSpc>
              <a:buNone/>
            </a:pPr>
            <a:r>
              <a:rPr lang="en-US" sz="1250" dirty="0">
                <a:solidFill>
                  <a:srgbClr val="5F6B78"/>
                </a:solidFill>
                <a:latin typeface="맑은 고딕" pitchFamily="34" charset="0"/>
                <a:ea typeface="맑은 고딕" pitchFamily="34" charset="-122"/>
                <a:cs typeface="맑은 고딕" pitchFamily="34" charset="-120"/>
              </a:rPr>
              <a:t>구조·품질 점검</a:t>
            </a:r>
            <a:endParaRPr lang="en-US" sz="1250" dirty="0"/>
          </a:p>
          <a:p>
            <a:pPr marL="0" indent="0">
              <a:lnSpc>
                <a:spcPts val="1800"/>
              </a:lnSpc>
              <a:buNone/>
            </a:pPr>
            <a:r>
              <a:rPr lang="en-US" sz="1250" dirty="0">
                <a:solidFill>
                  <a:srgbClr val="5F6B78"/>
                </a:solidFill>
                <a:latin typeface="맑은 고딕" pitchFamily="34" charset="0"/>
                <a:ea typeface="맑은 고딕" pitchFamily="34" charset="-122"/>
                <a:cs typeface="맑은 고딕" pitchFamily="34" charset="-120"/>
              </a:rPr>
              <a:t>목표변수 분포</a:t>
            </a:r>
            <a:endParaRPr lang="en-US" sz="1250" dirty="0"/>
          </a:p>
        </p:txBody>
      </p:sp>
      <p:sp>
        <p:nvSpPr>
          <p:cNvPr id="16" name="Shape 14"/>
          <p:cNvSpPr/>
          <p:nvPr/>
        </p:nvSpPr>
        <p:spPr>
          <a:xfrm>
            <a:off x="7991856" y="1463040"/>
            <a:ext cx="3474720" cy="2011680"/>
          </a:xfrm>
          <a:prstGeom prst="roundRect">
            <a:avLst>
              <a:gd name="adj" fmla="val 2273"/>
            </a:avLst>
          </a:prstGeom>
          <a:solidFill>
            <a:srgbClr val="EFF6FA"/>
          </a:solidFill>
          <a:ln w="12700">
            <a:solidFill>
              <a:srgbClr val="D8E8F0"/>
            </a:solidFill>
            <a:prstDash val="solid"/>
          </a:ln>
        </p:spPr>
        <p:txBody>
          <a:bodyPr/>
          <a:lstStyle/>
          <a:p>
            <a:endParaRPr lang="ko-KR" altLang="en-US"/>
          </a:p>
        </p:txBody>
      </p:sp>
      <p:sp>
        <p:nvSpPr>
          <p:cNvPr id="17" name="Shape 15"/>
          <p:cNvSpPr/>
          <p:nvPr/>
        </p:nvSpPr>
        <p:spPr>
          <a:xfrm>
            <a:off x="8229600" y="1700784"/>
            <a:ext cx="420624" cy="420624"/>
          </a:xfrm>
          <a:prstGeom prst="ellipse">
            <a:avLst/>
          </a:prstGeom>
          <a:solidFill>
            <a:srgbClr val="1C7293"/>
          </a:solidFill>
          <a:ln w="12700">
            <a:solidFill>
              <a:srgbClr val="1C7293"/>
            </a:solidFill>
            <a:prstDash val="solid"/>
          </a:ln>
        </p:spPr>
        <p:txBody>
          <a:bodyPr/>
          <a:lstStyle/>
          <a:p>
            <a:endParaRPr lang="ko-KR" altLang="en-US"/>
          </a:p>
        </p:txBody>
      </p:sp>
      <p:sp>
        <p:nvSpPr>
          <p:cNvPr id="18" name="Text 16"/>
          <p:cNvSpPr txBox="1"/>
          <p:nvPr/>
        </p:nvSpPr>
        <p:spPr>
          <a:xfrm>
            <a:off x="8229600" y="170078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3</a:t>
            </a:r>
            <a:endParaRPr lang="en-US" sz="1400" dirty="0"/>
          </a:p>
        </p:txBody>
      </p:sp>
      <p:sp>
        <p:nvSpPr>
          <p:cNvPr id="19" name="Text 17"/>
          <p:cNvSpPr txBox="1"/>
          <p:nvPr/>
        </p:nvSpPr>
        <p:spPr>
          <a:xfrm>
            <a:off x="8778240" y="1737360"/>
            <a:ext cx="2468880" cy="365760"/>
          </a:xfrm>
          <a:prstGeom prst="rect">
            <a:avLst/>
          </a:prstGeom>
          <a:noFill/>
          <a:ln/>
        </p:spPr>
        <p:txBody>
          <a:bodyPr wrap="square" lIns="0" tIns="0" rIns="0" bIns="0" rtlCol="0" anchor="ctr"/>
          <a:lstStyle/>
          <a:p>
            <a:pPr marL="0" indent="0">
              <a:buNone/>
            </a:pPr>
            <a:r>
              <a:rPr lang="en-US" sz="1600" b="1" dirty="0">
                <a:solidFill>
                  <a:srgbClr val="0E3A5C"/>
                </a:solidFill>
                <a:latin typeface="맑은 고딕" pitchFamily="34" charset="0"/>
                <a:ea typeface="맑은 고딕" pitchFamily="34" charset="-122"/>
                <a:cs typeface="맑은 고딕" pitchFamily="34" charset="-120"/>
              </a:rPr>
              <a:t>탐색적 데이터 분석</a:t>
            </a:r>
            <a:endParaRPr lang="en-US" sz="1600" dirty="0"/>
          </a:p>
        </p:txBody>
      </p:sp>
      <p:sp>
        <p:nvSpPr>
          <p:cNvPr id="20" name="Text 18"/>
          <p:cNvSpPr txBox="1"/>
          <p:nvPr/>
        </p:nvSpPr>
        <p:spPr>
          <a:xfrm>
            <a:off x="8229600" y="2331720"/>
            <a:ext cx="3017520" cy="914400"/>
          </a:xfrm>
          <a:prstGeom prst="rect">
            <a:avLst/>
          </a:prstGeom>
          <a:noFill/>
          <a:ln/>
        </p:spPr>
        <p:txBody>
          <a:bodyPr wrap="square" lIns="0" tIns="0" rIns="0" bIns="0" rtlCol="0" anchor="ctr"/>
          <a:lstStyle/>
          <a:p>
            <a:pPr marL="0" indent="0">
              <a:lnSpc>
                <a:spcPts val="1800"/>
              </a:lnSpc>
              <a:buNone/>
            </a:pPr>
            <a:r>
              <a:rPr lang="en-US" sz="1250" dirty="0">
                <a:solidFill>
                  <a:srgbClr val="5F6B78"/>
                </a:solidFill>
                <a:latin typeface="맑은 고딕" pitchFamily="34" charset="0"/>
                <a:ea typeface="맑은 고딕" pitchFamily="34" charset="-122"/>
                <a:cs typeface="맑은 고딕" pitchFamily="34" charset="-120"/>
              </a:rPr>
              <a:t>상관관계 · 산점도</a:t>
            </a:r>
            <a:endParaRPr lang="en-US" sz="1250" dirty="0"/>
          </a:p>
          <a:p>
            <a:pPr marL="0" indent="0">
              <a:lnSpc>
                <a:spcPts val="1800"/>
              </a:lnSpc>
              <a:buNone/>
            </a:pPr>
            <a:r>
              <a:rPr lang="en-US" sz="1250" dirty="0">
                <a:solidFill>
                  <a:srgbClr val="5F6B78"/>
                </a:solidFill>
                <a:latin typeface="맑은 고딕" pitchFamily="34" charset="0"/>
                <a:ea typeface="맑은 고딕" pitchFamily="34" charset="-122"/>
                <a:cs typeface="맑은 고딕" pitchFamily="34" charset="-120"/>
              </a:rPr>
              <a:t>비선형 관계 탐색</a:t>
            </a:r>
            <a:endParaRPr lang="en-US" sz="1250" dirty="0"/>
          </a:p>
        </p:txBody>
      </p:sp>
      <p:sp>
        <p:nvSpPr>
          <p:cNvPr id="21" name="Shape 19"/>
          <p:cNvSpPr/>
          <p:nvPr/>
        </p:nvSpPr>
        <p:spPr>
          <a:xfrm>
            <a:off x="566928" y="3749040"/>
            <a:ext cx="3474720" cy="2011680"/>
          </a:xfrm>
          <a:prstGeom prst="roundRect">
            <a:avLst>
              <a:gd name="adj" fmla="val 2273"/>
            </a:avLst>
          </a:prstGeom>
          <a:solidFill>
            <a:srgbClr val="FFFFFF"/>
          </a:solidFill>
          <a:ln w="12700">
            <a:solidFill>
              <a:srgbClr val="D8E8F0"/>
            </a:solidFill>
            <a:prstDash val="solid"/>
          </a:ln>
        </p:spPr>
        <p:txBody>
          <a:bodyPr/>
          <a:lstStyle/>
          <a:p>
            <a:endParaRPr lang="ko-KR" altLang="en-US"/>
          </a:p>
        </p:txBody>
      </p:sp>
      <p:sp>
        <p:nvSpPr>
          <p:cNvPr id="22" name="Shape 20"/>
          <p:cNvSpPr/>
          <p:nvPr/>
        </p:nvSpPr>
        <p:spPr>
          <a:xfrm>
            <a:off x="804672" y="3986784"/>
            <a:ext cx="420624" cy="420624"/>
          </a:xfrm>
          <a:prstGeom prst="ellipse">
            <a:avLst/>
          </a:prstGeom>
          <a:solidFill>
            <a:srgbClr val="1C7293"/>
          </a:solidFill>
          <a:ln w="12700">
            <a:solidFill>
              <a:srgbClr val="1C7293"/>
            </a:solidFill>
            <a:prstDash val="solid"/>
          </a:ln>
        </p:spPr>
        <p:txBody>
          <a:bodyPr/>
          <a:lstStyle/>
          <a:p>
            <a:endParaRPr lang="ko-KR" altLang="en-US"/>
          </a:p>
        </p:txBody>
      </p:sp>
      <p:sp>
        <p:nvSpPr>
          <p:cNvPr id="23" name="Text 21"/>
          <p:cNvSpPr txBox="1"/>
          <p:nvPr/>
        </p:nvSpPr>
        <p:spPr>
          <a:xfrm>
            <a:off x="804672" y="398678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4</a:t>
            </a:r>
            <a:endParaRPr lang="en-US" sz="1400" dirty="0"/>
          </a:p>
        </p:txBody>
      </p:sp>
      <p:sp>
        <p:nvSpPr>
          <p:cNvPr id="24" name="Text 22"/>
          <p:cNvSpPr txBox="1"/>
          <p:nvPr/>
        </p:nvSpPr>
        <p:spPr>
          <a:xfrm>
            <a:off x="1353312" y="4023360"/>
            <a:ext cx="2468880" cy="365760"/>
          </a:xfrm>
          <a:prstGeom prst="rect">
            <a:avLst/>
          </a:prstGeom>
          <a:noFill/>
          <a:ln/>
        </p:spPr>
        <p:txBody>
          <a:bodyPr wrap="square" lIns="0" tIns="0" rIns="0" bIns="0" rtlCol="0" anchor="ctr"/>
          <a:lstStyle/>
          <a:p>
            <a:pPr marL="0" indent="0">
              <a:buNone/>
            </a:pPr>
            <a:r>
              <a:rPr lang="en-US" sz="1600" b="1" dirty="0">
                <a:solidFill>
                  <a:srgbClr val="0E3A5C"/>
                </a:solidFill>
                <a:latin typeface="맑은 고딕" pitchFamily="34" charset="0"/>
                <a:ea typeface="맑은 고딕" pitchFamily="34" charset="-122"/>
                <a:cs typeface="맑은 고딕" pitchFamily="34" charset="-120"/>
              </a:rPr>
              <a:t>모델링</a:t>
            </a:r>
            <a:endParaRPr lang="en-US" sz="1600" dirty="0"/>
          </a:p>
        </p:txBody>
      </p:sp>
      <p:sp>
        <p:nvSpPr>
          <p:cNvPr id="25" name="Text 23"/>
          <p:cNvSpPr txBox="1"/>
          <p:nvPr/>
        </p:nvSpPr>
        <p:spPr>
          <a:xfrm>
            <a:off x="804672" y="4617720"/>
            <a:ext cx="3017520" cy="914400"/>
          </a:xfrm>
          <a:prstGeom prst="rect">
            <a:avLst/>
          </a:prstGeom>
          <a:noFill/>
          <a:ln/>
        </p:spPr>
        <p:txBody>
          <a:bodyPr wrap="square" lIns="0" tIns="0" rIns="0" bIns="0" rtlCol="0" anchor="ctr"/>
          <a:lstStyle/>
          <a:p>
            <a:pPr marL="0" indent="0">
              <a:lnSpc>
                <a:spcPts val="1800"/>
              </a:lnSpc>
              <a:buNone/>
            </a:pPr>
            <a:r>
              <a:rPr lang="en-US" sz="1250" dirty="0">
                <a:solidFill>
                  <a:srgbClr val="5F6B78"/>
                </a:solidFill>
                <a:latin typeface="맑은 고딕" pitchFamily="34" charset="0"/>
                <a:ea typeface="맑은 고딕" pitchFamily="34" charset="-122"/>
                <a:cs typeface="맑은 고딕" pitchFamily="34" charset="-120"/>
              </a:rPr>
              <a:t>기준 모델 → 비교 모델</a:t>
            </a:r>
            <a:endParaRPr lang="en-US" sz="1250" dirty="0"/>
          </a:p>
          <a:p>
            <a:pPr marL="0" indent="0">
              <a:lnSpc>
                <a:spcPts val="1800"/>
              </a:lnSpc>
              <a:buNone/>
            </a:pPr>
            <a:r>
              <a:rPr lang="en-US" sz="1250" dirty="0">
                <a:solidFill>
                  <a:srgbClr val="5F6B78"/>
                </a:solidFill>
                <a:latin typeface="맑은 고딕" pitchFamily="34" charset="0"/>
                <a:ea typeface="맑은 고딕" pitchFamily="34" charset="-122"/>
                <a:cs typeface="맑은 고딕" pitchFamily="34" charset="-120"/>
              </a:rPr>
              <a:t>→ 튜닝 → 성능 비교</a:t>
            </a:r>
            <a:endParaRPr lang="en-US" sz="1250" dirty="0"/>
          </a:p>
        </p:txBody>
      </p:sp>
      <p:sp>
        <p:nvSpPr>
          <p:cNvPr id="26" name="Shape 24"/>
          <p:cNvSpPr/>
          <p:nvPr/>
        </p:nvSpPr>
        <p:spPr>
          <a:xfrm>
            <a:off x="4279392" y="3749040"/>
            <a:ext cx="3474720" cy="2011680"/>
          </a:xfrm>
          <a:prstGeom prst="roundRect">
            <a:avLst>
              <a:gd name="adj" fmla="val 2273"/>
            </a:avLst>
          </a:prstGeom>
          <a:solidFill>
            <a:srgbClr val="FFFFFF"/>
          </a:solidFill>
          <a:ln w="12700">
            <a:solidFill>
              <a:srgbClr val="D8E8F0"/>
            </a:solidFill>
            <a:prstDash val="solid"/>
          </a:ln>
        </p:spPr>
        <p:txBody>
          <a:bodyPr/>
          <a:lstStyle/>
          <a:p>
            <a:endParaRPr lang="ko-KR" altLang="en-US"/>
          </a:p>
        </p:txBody>
      </p:sp>
      <p:sp>
        <p:nvSpPr>
          <p:cNvPr id="27" name="Shape 25"/>
          <p:cNvSpPr/>
          <p:nvPr/>
        </p:nvSpPr>
        <p:spPr>
          <a:xfrm>
            <a:off x="4517136" y="3986784"/>
            <a:ext cx="420624" cy="420624"/>
          </a:xfrm>
          <a:prstGeom prst="ellipse">
            <a:avLst/>
          </a:prstGeom>
          <a:solidFill>
            <a:srgbClr val="1C7293"/>
          </a:solidFill>
          <a:ln w="12700">
            <a:solidFill>
              <a:srgbClr val="1C7293"/>
            </a:solidFill>
            <a:prstDash val="solid"/>
          </a:ln>
        </p:spPr>
        <p:txBody>
          <a:bodyPr/>
          <a:lstStyle/>
          <a:p>
            <a:endParaRPr lang="ko-KR" altLang="en-US"/>
          </a:p>
        </p:txBody>
      </p:sp>
      <p:sp>
        <p:nvSpPr>
          <p:cNvPr id="28" name="Text 26"/>
          <p:cNvSpPr txBox="1"/>
          <p:nvPr/>
        </p:nvSpPr>
        <p:spPr>
          <a:xfrm>
            <a:off x="4517136" y="398678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5</a:t>
            </a:r>
            <a:endParaRPr lang="en-US" sz="1400" dirty="0"/>
          </a:p>
        </p:txBody>
      </p:sp>
      <p:sp>
        <p:nvSpPr>
          <p:cNvPr id="29" name="Text 27"/>
          <p:cNvSpPr txBox="1"/>
          <p:nvPr/>
        </p:nvSpPr>
        <p:spPr>
          <a:xfrm>
            <a:off x="5065776" y="4023360"/>
            <a:ext cx="2468880" cy="365760"/>
          </a:xfrm>
          <a:prstGeom prst="rect">
            <a:avLst/>
          </a:prstGeom>
          <a:noFill/>
          <a:ln/>
        </p:spPr>
        <p:txBody>
          <a:bodyPr wrap="square" lIns="0" tIns="0" rIns="0" bIns="0" rtlCol="0" anchor="ctr"/>
          <a:lstStyle/>
          <a:p>
            <a:pPr marL="0" indent="0">
              <a:buNone/>
            </a:pPr>
            <a:r>
              <a:rPr lang="en-US" sz="1600" b="1" dirty="0">
                <a:solidFill>
                  <a:srgbClr val="0E3A5C"/>
                </a:solidFill>
                <a:latin typeface="맑은 고딕" pitchFamily="34" charset="0"/>
                <a:ea typeface="맑은 고딕" pitchFamily="34" charset="-122"/>
                <a:cs typeface="맑은 고딕" pitchFamily="34" charset="-120"/>
              </a:rPr>
              <a:t>모델 개선</a:t>
            </a:r>
            <a:endParaRPr lang="en-US" sz="1600" dirty="0"/>
          </a:p>
        </p:txBody>
      </p:sp>
      <p:sp>
        <p:nvSpPr>
          <p:cNvPr id="30" name="Text 28"/>
          <p:cNvSpPr txBox="1"/>
          <p:nvPr/>
        </p:nvSpPr>
        <p:spPr>
          <a:xfrm>
            <a:off x="4517136" y="4617720"/>
            <a:ext cx="3017520" cy="914400"/>
          </a:xfrm>
          <a:prstGeom prst="rect">
            <a:avLst/>
          </a:prstGeom>
          <a:noFill/>
          <a:ln/>
        </p:spPr>
        <p:txBody>
          <a:bodyPr wrap="square" lIns="0" tIns="0" rIns="0" bIns="0" rtlCol="0" anchor="ctr"/>
          <a:lstStyle/>
          <a:p>
            <a:pPr marL="0" indent="0">
              <a:lnSpc>
                <a:spcPts val="1800"/>
              </a:lnSpc>
              <a:buNone/>
            </a:pPr>
            <a:r>
              <a:rPr lang="en-US" sz="1250" dirty="0">
                <a:solidFill>
                  <a:srgbClr val="5F6B78"/>
                </a:solidFill>
                <a:latin typeface="맑은 고딕" pitchFamily="34" charset="0"/>
                <a:ea typeface="맑은 고딕" pitchFamily="34" charset="-122"/>
                <a:cs typeface="맑은 고딕" pitchFamily="34" charset="-120"/>
              </a:rPr>
              <a:t>잔차 진단 → 파생변수</a:t>
            </a:r>
            <a:endParaRPr lang="en-US" sz="1250" dirty="0"/>
          </a:p>
          <a:p>
            <a:pPr marL="0" indent="0">
              <a:lnSpc>
                <a:spcPts val="1800"/>
              </a:lnSpc>
              <a:buNone/>
            </a:pPr>
            <a:r>
              <a:rPr lang="en-US" sz="1250" dirty="0">
                <a:solidFill>
                  <a:srgbClr val="5F6B78"/>
                </a:solidFill>
                <a:latin typeface="맑은 고딕" pitchFamily="34" charset="0"/>
                <a:ea typeface="맑은 고딕" pitchFamily="34" charset="-122"/>
                <a:cs typeface="맑은 고딕" pitchFamily="34" charset="-120"/>
              </a:rPr>
              <a:t>→ 최종 모델 선정</a:t>
            </a:r>
            <a:endParaRPr lang="en-US" sz="1250" dirty="0"/>
          </a:p>
        </p:txBody>
      </p:sp>
      <p:sp>
        <p:nvSpPr>
          <p:cNvPr id="31" name="Shape 29"/>
          <p:cNvSpPr/>
          <p:nvPr/>
        </p:nvSpPr>
        <p:spPr>
          <a:xfrm>
            <a:off x="7991856" y="3749040"/>
            <a:ext cx="3474720" cy="2011680"/>
          </a:xfrm>
          <a:prstGeom prst="roundRect">
            <a:avLst>
              <a:gd name="adj" fmla="val 2273"/>
            </a:avLst>
          </a:prstGeom>
          <a:solidFill>
            <a:srgbClr val="FFFFFF"/>
          </a:solidFill>
          <a:ln w="12700">
            <a:solidFill>
              <a:srgbClr val="D8E8F0"/>
            </a:solidFill>
            <a:prstDash val="solid"/>
          </a:ln>
        </p:spPr>
        <p:txBody>
          <a:bodyPr/>
          <a:lstStyle/>
          <a:p>
            <a:endParaRPr lang="ko-KR" altLang="en-US"/>
          </a:p>
        </p:txBody>
      </p:sp>
      <p:sp>
        <p:nvSpPr>
          <p:cNvPr id="32" name="Shape 30"/>
          <p:cNvSpPr/>
          <p:nvPr/>
        </p:nvSpPr>
        <p:spPr>
          <a:xfrm>
            <a:off x="8229600" y="3986784"/>
            <a:ext cx="420624" cy="420624"/>
          </a:xfrm>
          <a:prstGeom prst="ellipse">
            <a:avLst/>
          </a:prstGeom>
          <a:solidFill>
            <a:srgbClr val="1C7293"/>
          </a:solidFill>
          <a:ln w="12700">
            <a:solidFill>
              <a:srgbClr val="1C7293"/>
            </a:solidFill>
            <a:prstDash val="solid"/>
          </a:ln>
        </p:spPr>
        <p:txBody>
          <a:bodyPr/>
          <a:lstStyle/>
          <a:p>
            <a:endParaRPr lang="ko-KR" altLang="en-US"/>
          </a:p>
        </p:txBody>
      </p:sp>
      <p:sp>
        <p:nvSpPr>
          <p:cNvPr id="33" name="Text 31"/>
          <p:cNvSpPr txBox="1"/>
          <p:nvPr/>
        </p:nvSpPr>
        <p:spPr>
          <a:xfrm>
            <a:off x="8229600" y="398678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6</a:t>
            </a:r>
            <a:endParaRPr lang="en-US" sz="1400" dirty="0"/>
          </a:p>
        </p:txBody>
      </p:sp>
      <p:sp>
        <p:nvSpPr>
          <p:cNvPr id="34" name="Text 32"/>
          <p:cNvSpPr txBox="1"/>
          <p:nvPr/>
        </p:nvSpPr>
        <p:spPr>
          <a:xfrm>
            <a:off x="8778240" y="4023360"/>
            <a:ext cx="2468880" cy="365760"/>
          </a:xfrm>
          <a:prstGeom prst="rect">
            <a:avLst/>
          </a:prstGeom>
          <a:noFill/>
          <a:ln/>
        </p:spPr>
        <p:txBody>
          <a:bodyPr wrap="square" lIns="0" tIns="0" rIns="0" bIns="0" rtlCol="0" anchor="ctr"/>
          <a:lstStyle/>
          <a:p>
            <a:pPr marL="0" indent="0">
              <a:buNone/>
            </a:pPr>
            <a:r>
              <a:rPr lang="en-US" sz="1600" b="1" dirty="0">
                <a:solidFill>
                  <a:srgbClr val="0E3A5C"/>
                </a:solidFill>
                <a:latin typeface="맑은 고딕" pitchFamily="34" charset="0"/>
                <a:ea typeface="맑은 고딕" pitchFamily="34" charset="-122"/>
                <a:cs typeface="맑은 고딕" pitchFamily="34" charset="-120"/>
              </a:rPr>
              <a:t>업무 활용 · 결론</a:t>
            </a:r>
            <a:endParaRPr lang="en-US" sz="1600" dirty="0"/>
          </a:p>
        </p:txBody>
      </p:sp>
      <p:sp>
        <p:nvSpPr>
          <p:cNvPr id="35" name="Text 33"/>
          <p:cNvSpPr txBox="1"/>
          <p:nvPr/>
        </p:nvSpPr>
        <p:spPr>
          <a:xfrm>
            <a:off x="8229600" y="4617720"/>
            <a:ext cx="3017520" cy="914400"/>
          </a:xfrm>
          <a:prstGeom prst="rect">
            <a:avLst/>
          </a:prstGeom>
          <a:noFill/>
          <a:ln/>
        </p:spPr>
        <p:txBody>
          <a:bodyPr wrap="square" lIns="0" tIns="0" rIns="0" bIns="0" rtlCol="0" anchor="ctr"/>
          <a:lstStyle/>
          <a:p>
            <a:pPr marL="0" indent="0">
              <a:lnSpc>
                <a:spcPts val="1800"/>
              </a:lnSpc>
              <a:buNone/>
            </a:pPr>
            <a:r>
              <a:rPr lang="en-US" sz="1250" dirty="0">
                <a:solidFill>
                  <a:srgbClr val="5F6B78"/>
                </a:solidFill>
                <a:latin typeface="맑은 고딕" pitchFamily="34" charset="0"/>
                <a:ea typeface="맑은 고딕" pitchFamily="34" charset="-122"/>
                <a:cs typeface="맑은 고딕" pitchFamily="34" charset="-120"/>
              </a:rPr>
              <a:t>경로 비교 시뮬레이션</a:t>
            </a:r>
            <a:endParaRPr lang="en-US" sz="1250" dirty="0"/>
          </a:p>
          <a:p>
            <a:pPr marL="0" indent="0">
              <a:lnSpc>
                <a:spcPts val="1800"/>
              </a:lnSpc>
              <a:buNone/>
            </a:pPr>
            <a:r>
              <a:rPr lang="en-US" sz="1250" dirty="0">
                <a:solidFill>
                  <a:srgbClr val="5F6B78"/>
                </a:solidFill>
                <a:latin typeface="맑은 고딕" pitchFamily="34" charset="0"/>
                <a:ea typeface="맑은 고딕" pitchFamily="34" charset="-122"/>
                <a:cs typeface="맑은 고딕" pitchFamily="34" charset="-120"/>
              </a:rPr>
              <a:t>한계와 개선 방향</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3A5C"/>
        </a:solidFill>
        <a:effectLst/>
      </p:bgPr>
    </p:bg>
    <p:spTree>
      <p:nvGrpSpPr>
        <p:cNvPr id="1" name=""/>
        <p:cNvGrpSpPr/>
        <p:nvPr/>
      </p:nvGrpSpPr>
      <p:grpSpPr>
        <a:xfrm>
          <a:off x="0" y="0"/>
          <a:ext cx="0" cy="0"/>
          <a:chOff x="0" y="0"/>
          <a:chExt cx="0" cy="0"/>
        </a:xfrm>
      </p:grpSpPr>
      <p:sp>
        <p:nvSpPr>
          <p:cNvPr id="2" name="Shape 0"/>
          <p:cNvSpPr/>
          <p:nvPr/>
        </p:nvSpPr>
        <p:spPr>
          <a:xfrm>
            <a:off x="9966960" y="4023360"/>
            <a:ext cx="3108960" cy="3108960"/>
          </a:xfrm>
          <a:prstGeom prst="ellipse">
            <a:avLst/>
          </a:prstGeom>
          <a:solidFill>
            <a:srgbClr val="1C7293">
              <a:alpha val="20000"/>
            </a:srgbClr>
          </a:solidFill>
          <a:ln w="12700">
            <a:solidFill>
              <a:srgbClr val="1C7293">
                <a:alpha val="0"/>
              </a:srgbClr>
            </a:solidFill>
            <a:prstDash val="solid"/>
          </a:ln>
        </p:spPr>
        <p:txBody>
          <a:bodyPr/>
          <a:lstStyle/>
          <a:p>
            <a:endParaRPr lang="ko-KR" altLang="en-US"/>
          </a:p>
        </p:txBody>
      </p:sp>
      <p:sp>
        <p:nvSpPr>
          <p:cNvPr id="3" name="Text 1"/>
          <p:cNvSpPr txBox="1"/>
          <p:nvPr/>
        </p:nvSpPr>
        <p:spPr>
          <a:xfrm>
            <a:off x="658368" y="2286000"/>
            <a:ext cx="7315200" cy="292608"/>
          </a:xfrm>
          <a:prstGeom prst="rect">
            <a:avLst/>
          </a:prstGeom>
          <a:noFill/>
          <a:ln/>
        </p:spPr>
        <p:txBody>
          <a:bodyPr wrap="square" lIns="0" tIns="0" rIns="0" bIns="0" rtlCol="0" anchor="ctr"/>
          <a:lstStyle/>
          <a:p>
            <a:pPr marL="0" indent="0">
              <a:buNone/>
            </a:pPr>
            <a:r>
              <a:rPr lang="en-US" sz="1300" b="1" kern="0" spc="200" dirty="0">
                <a:solidFill>
                  <a:srgbClr val="9FC2D6"/>
                </a:solidFill>
                <a:latin typeface="맑은 고딕" pitchFamily="34" charset="0"/>
                <a:ea typeface="맑은 고딕" pitchFamily="34" charset="-122"/>
                <a:cs typeface="맑은 고딕" pitchFamily="34" charset="-120"/>
              </a:rPr>
              <a:t>PART 1</a:t>
            </a:r>
            <a:endParaRPr lang="en-US" sz="1300" dirty="0"/>
          </a:p>
        </p:txBody>
      </p:sp>
      <p:sp>
        <p:nvSpPr>
          <p:cNvPr id="4" name="Text 2"/>
          <p:cNvSpPr txBox="1"/>
          <p:nvPr/>
        </p:nvSpPr>
        <p:spPr>
          <a:xfrm>
            <a:off x="658368" y="2670048"/>
            <a:ext cx="8778240" cy="685800"/>
          </a:xfrm>
          <a:prstGeom prst="rect">
            <a:avLst/>
          </a:prstGeom>
          <a:noFill/>
          <a:ln/>
        </p:spPr>
        <p:txBody>
          <a:bodyPr wrap="square" lIns="0" tIns="0" rIns="0" bIns="0" rtlCol="0" anchor="ctr"/>
          <a:lstStyle/>
          <a:p>
            <a:pPr marL="0" indent="0">
              <a:buNone/>
            </a:pPr>
            <a:r>
              <a:rPr lang="en-US" sz="3400" b="1" dirty="0">
                <a:solidFill>
                  <a:srgbClr val="FFFFFF"/>
                </a:solidFill>
                <a:latin typeface="맑은 고딕" pitchFamily="34" charset="0"/>
                <a:ea typeface="맑은 고딕" pitchFamily="34" charset="-122"/>
                <a:cs typeface="맑은 고딕" pitchFamily="34" charset="-120"/>
              </a:rPr>
              <a:t>문제 정의</a:t>
            </a:r>
            <a:endParaRPr lang="en-US" sz="3400" dirty="0"/>
          </a:p>
        </p:txBody>
      </p:sp>
      <p:sp>
        <p:nvSpPr>
          <p:cNvPr id="5" name="Text 3"/>
          <p:cNvSpPr txBox="1"/>
          <p:nvPr/>
        </p:nvSpPr>
        <p:spPr>
          <a:xfrm>
            <a:off x="658368" y="3520440"/>
            <a:ext cx="8778240" cy="365760"/>
          </a:xfrm>
          <a:prstGeom prst="rect">
            <a:avLst/>
          </a:prstGeom>
          <a:noFill/>
          <a:ln/>
        </p:spPr>
        <p:txBody>
          <a:bodyPr wrap="square" lIns="0" tIns="0" rIns="0" bIns="0" rtlCol="0" anchor="ctr"/>
          <a:lstStyle/>
          <a:p>
            <a:pPr marL="0" indent="0">
              <a:buNone/>
            </a:pPr>
            <a:r>
              <a:rPr lang="en-US" sz="1400" dirty="0">
                <a:solidFill>
                  <a:srgbClr val="D8E8F0"/>
                </a:solidFill>
                <a:latin typeface="맑은 고딕" pitchFamily="34" charset="0"/>
                <a:ea typeface="맑은 고딕" pitchFamily="34" charset="-122"/>
                <a:cs typeface="맑은 고딕" pitchFamily="34" charset="-120"/>
              </a:rPr>
              <a:t>왜 이 분석이 필요한가 · 무엇을 예측하는가</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66928" y="365760"/>
            <a:ext cx="457200" cy="457200"/>
          </a:xfrm>
          <a:prstGeom prst="ellipse">
            <a:avLst/>
          </a:prstGeom>
          <a:solidFill>
            <a:srgbClr val="1C7293"/>
          </a:solidFill>
          <a:ln w="12700">
            <a:solidFill>
              <a:srgbClr val="1C7293"/>
            </a:solidFill>
            <a:prstDash val="solid"/>
          </a:ln>
        </p:spPr>
        <p:txBody>
          <a:bodyPr/>
          <a:lstStyle/>
          <a:p>
            <a:endParaRPr lang="ko-KR" altLang="en-US"/>
          </a:p>
        </p:txBody>
      </p:sp>
      <p:sp>
        <p:nvSpPr>
          <p:cNvPr id="3" name="Text 1"/>
          <p:cNvSpPr txBox="1"/>
          <p:nvPr/>
        </p:nvSpPr>
        <p:spPr>
          <a:xfrm>
            <a:off x="566928" y="3657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1</a:t>
            </a:r>
            <a:endParaRPr lang="en-US" sz="1600" dirty="0"/>
          </a:p>
        </p:txBody>
      </p:sp>
      <p:sp>
        <p:nvSpPr>
          <p:cNvPr id="4" name="Text 2"/>
          <p:cNvSpPr txBox="1"/>
          <p:nvPr/>
        </p:nvSpPr>
        <p:spPr>
          <a:xfrm>
            <a:off x="1152144" y="310896"/>
            <a:ext cx="10424160" cy="246888"/>
          </a:xfrm>
          <a:prstGeom prst="rect">
            <a:avLst/>
          </a:prstGeom>
          <a:noFill/>
          <a:ln/>
        </p:spPr>
        <p:txBody>
          <a:bodyPr wrap="square" lIns="0" tIns="0" rIns="0" bIns="0" rtlCol="0" anchor="ctr"/>
          <a:lstStyle/>
          <a:p>
            <a:pPr marL="0" indent="0">
              <a:buNone/>
            </a:pPr>
            <a:r>
              <a:rPr lang="en-US" sz="1150" b="1" kern="0" spc="100" dirty="0">
                <a:solidFill>
                  <a:srgbClr val="1C7293"/>
                </a:solidFill>
                <a:latin typeface="맑은 고딕" pitchFamily="34" charset="0"/>
                <a:ea typeface="맑은 고딕" pitchFamily="34" charset="-122"/>
                <a:cs typeface="맑은 고딕" pitchFamily="34" charset="-120"/>
              </a:rPr>
              <a:t>문제 정의 · 배경</a:t>
            </a:r>
            <a:endParaRPr lang="en-US" sz="1150" dirty="0"/>
          </a:p>
        </p:txBody>
      </p:sp>
      <p:sp>
        <p:nvSpPr>
          <p:cNvPr id="5" name="Text 3"/>
          <p:cNvSpPr txBox="1"/>
          <p:nvPr/>
        </p:nvSpPr>
        <p:spPr>
          <a:xfrm>
            <a:off x="1152144" y="566928"/>
            <a:ext cx="10469880" cy="530352"/>
          </a:xfrm>
          <a:prstGeom prst="rect">
            <a:avLst/>
          </a:prstGeom>
          <a:noFill/>
          <a:ln/>
        </p:spPr>
        <p:txBody>
          <a:bodyPr wrap="square" lIns="0" tIns="0" rIns="0" bIns="0" rtlCol="0" anchor="ctr"/>
          <a:lstStyle/>
          <a:p>
            <a:pPr marL="0" indent="0">
              <a:buNone/>
            </a:pPr>
            <a:r>
              <a:rPr lang="en-US" sz="2500" b="1" dirty="0">
                <a:solidFill>
                  <a:srgbClr val="0E3A5C"/>
                </a:solidFill>
                <a:latin typeface="맑은 고딕" pitchFamily="34" charset="0"/>
                <a:ea typeface="맑은 고딕" pitchFamily="34" charset="-122"/>
                <a:cs typeface="맑은 고딕" pitchFamily="34" charset="-120"/>
              </a:rPr>
              <a:t>같은 거리를 가도 쓰는 에너지는 3배까지 다르다</a:t>
            </a:r>
            <a:endParaRPr lang="en-US" sz="2500" dirty="0"/>
          </a:p>
        </p:txBody>
      </p:sp>
      <p:sp>
        <p:nvSpPr>
          <p:cNvPr id="6" name="Text 4"/>
          <p:cNvSpPr txBox="1"/>
          <p:nvPr/>
        </p:nvSpPr>
        <p:spPr>
          <a:xfrm>
            <a:off x="8686800" y="6519672"/>
            <a:ext cx="2926080" cy="274320"/>
          </a:xfrm>
          <a:prstGeom prst="rect">
            <a:avLst/>
          </a:prstGeom>
          <a:noFill/>
          <a:ln/>
        </p:spPr>
        <p:txBody>
          <a:bodyPr wrap="square" lIns="0" tIns="0" rIns="0" bIns="0" rtlCol="0" anchor="ctr"/>
          <a:lstStyle/>
          <a:p>
            <a:pPr marL="0" indent="0" algn="r">
              <a:buNone/>
            </a:pPr>
            <a:r>
              <a:rPr lang="en-US" sz="1000" dirty="0">
                <a:solidFill>
                  <a:srgbClr val="A8B4BE"/>
                </a:solidFill>
                <a:latin typeface="맑은 고딕" pitchFamily="34" charset="0"/>
                <a:ea typeface="맑은 고딕" pitchFamily="34" charset="-122"/>
                <a:cs typeface="맑은 고딕" pitchFamily="34" charset="-120"/>
              </a:rPr>
              <a:t>1. 문제 정의</a:t>
            </a:r>
            <a:endParaRPr lang="en-US" sz="1000" dirty="0"/>
          </a:p>
        </p:txBody>
      </p:sp>
      <p:sp>
        <p:nvSpPr>
          <p:cNvPr id="7" name="Shape 5"/>
          <p:cNvSpPr/>
          <p:nvPr/>
        </p:nvSpPr>
        <p:spPr>
          <a:xfrm>
            <a:off x="566928" y="1353312"/>
            <a:ext cx="3456432" cy="1417320"/>
          </a:xfrm>
          <a:prstGeom prst="roundRect">
            <a:avLst>
              <a:gd name="adj" fmla="val 3226"/>
            </a:avLst>
          </a:prstGeom>
          <a:solidFill>
            <a:srgbClr val="EFF6FA"/>
          </a:solidFill>
          <a:ln w="12700">
            <a:solidFill>
              <a:srgbClr val="D8E8F0"/>
            </a:solidFill>
            <a:prstDash val="solid"/>
          </a:ln>
        </p:spPr>
        <p:txBody>
          <a:bodyPr/>
          <a:lstStyle/>
          <a:p>
            <a:endParaRPr lang="ko-KR" altLang="en-US"/>
          </a:p>
        </p:txBody>
      </p:sp>
      <p:sp>
        <p:nvSpPr>
          <p:cNvPr id="8" name="Text 6"/>
          <p:cNvSpPr txBox="1"/>
          <p:nvPr/>
        </p:nvSpPr>
        <p:spPr>
          <a:xfrm>
            <a:off x="804672" y="1517904"/>
            <a:ext cx="3017520" cy="475488"/>
          </a:xfrm>
          <a:prstGeom prst="rect">
            <a:avLst/>
          </a:prstGeom>
          <a:noFill/>
          <a:ln/>
        </p:spPr>
        <p:txBody>
          <a:bodyPr wrap="square" lIns="0" tIns="0" rIns="0" bIns="0" rtlCol="0" anchor="ctr"/>
          <a:lstStyle/>
          <a:p>
            <a:pPr marL="0" indent="0">
              <a:buNone/>
            </a:pPr>
            <a:r>
              <a:rPr lang="en-US" sz="2500" b="1" dirty="0">
                <a:solidFill>
                  <a:srgbClr val="1C7293"/>
                </a:solidFill>
                <a:latin typeface="맑은 고딕" pitchFamily="34" charset="0"/>
                <a:ea typeface="맑은 고딕" pitchFamily="34" charset="-122"/>
                <a:cs typeface="맑은 고딕" pitchFamily="34" charset="-120"/>
              </a:rPr>
              <a:t>11.62 – 35.00</a:t>
            </a:r>
            <a:endParaRPr lang="en-US" sz="2500" dirty="0"/>
          </a:p>
        </p:txBody>
      </p:sp>
      <p:sp>
        <p:nvSpPr>
          <p:cNvPr id="9" name="Text 7"/>
          <p:cNvSpPr txBox="1"/>
          <p:nvPr/>
        </p:nvSpPr>
        <p:spPr>
          <a:xfrm>
            <a:off x="804672" y="1993392"/>
            <a:ext cx="3017520" cy="256032"/>
          </a:xfrm>
          <a:prstGeom prst="rect">
            <a:avLst/>
          </a:prstGeom>
          <a:noFill/>
          <a:ln/>
        </p:spPr>
        <p:txBody>
          <a:bodyPr wrap="square" lIns="0" tIns="0" rIns="0" bIns="0" rtlCol="0" anchor="ctr"/>
          <a:lstStyle/>
          <a:p>
            <a:pPr marL="0" indent="0">
              <a:buNone/>
            </a:pPr>
            <a:r>
              <a:rPr lang="en-US" sz="1250" b="1" dirty="0">
                <a:solidFill>
                  <a:srgbClr val="5F6B78"/>
                </a:solidFill>
                <a:latin typeface="맑은 고딕" pitchFamily="34" charset="0"/>
                <a:ea typeface="맑은 고딕" pitchFamily="34" charset="-122"/>
                <a:cs typeface="맑은 고딕" pitchFamily="34" charset="-120"/>
              </a:rPr>
              <a:t>kWh/100km</a:t>
            </a:r>
            <a:endParaRPr lang="en-US" sz="1250" dirty="0"/>
          </a:p>
        </p:txBody>
      </p:sp>
      <p:sp>
        <p:nvSpPr>
          <p:cNvPr id="10" name="Text 8"/>
          <p:cNvSpPr txBox="1"/>
          <p:nvPr/>
        </p:nvSpPr>
        <p:spPr>
          <a:xfrm>
            <a:off x="804672" y="2267712"/>
            <a:ext cx="3017520" cy="384048"/>
          </a:xfrm>
          <a:prstGeom prst="rect">
            <a:avLst/>
          </a:prstGeom>
          <a:noFill/>
          <a:ln/>
        </p:spPr>
        <p:txBody>
          <a:bodyPr wrap="square" lIns="0" tIns="0" rIns="0" bIns="0" rtlCol="0" anchor="ctr"/>
          <a:lstStyle/>
          <a:p>
            <a:pPr marL="0" indent="0">
              <a:buNone/>
            </a:pPr>
            <a:r>
              <a:rPr lang="en-US" sz="1150" dirty="0">
                <a:solidFill>
                  <a:srgbClr val="5F6B78"/>
                </a:solidFill>
                <a:latin typeface="맑은 고딕" pitchFamily="34" charset="0"/>
                <a:ea typeface="맑은 고딕" pitchFamily="34" charset="-122"/>
                <a:cs typeface="맑은 고딕" pitchFamily="34" charset="-120"/>
              </a:rPr>
              <a:t>조건에 따른 소비율 범위</a:t>
            </a:r>
            <a:endParaRPr lang="en-US" sz="1150" dirty="0"/>
          </a:p>
        </p:txBody>
      </p:sp>
      <p:sp>
        <p:nvSpPr>
          <p:cNvPr id="11" name="Shape 9"/>
          <p:cNvSpPr/>
          <p:nvPr/>
        </p:nvSpPr>
        <p:spPr>
          <a:xfrm>
            <a:off x="4251960" y="1353312"/>
            <a:ext cx="3456432" cy="1417320"/>
          </a:xfrm>
          <a:prstGeom prst="roundRect">
            <a:avLst>
              <a:gd name="adj" fmla="val 3226"/>
            </a:avLst>
          </a:prstGeom>
          <a:solidFill>
            <a:srgbClr val="EFF6FA"/>
          </a:solidFill>
          <a:ln w="12700">
            <a:solidFill>
              <a:srgbClr val="D8E8F0"/>
            </a:solidFill>
            <a:prstDash val="solid"/>
          </a:ln>
        </p:spPr>
        <p:txBody>
          <a:bodyPr/>
          <a:lstStyle/>
          <a:p>
            <a:endParaRPr lang="ko-KR" altLang="en-US"/>
          </a:p>
        </p:txBody>
      </p:sp>
      <p:sp>
        <p:nvSpPr>
          <p:cNvPr id="12" name="Text 10"/>
          <p:cNvSpPr txBox="1"/>
          <p:nvPr/>
        </p:nvSpPr>
        <p:spPr>
          <a:xfrm>
            <a:off x="4489704" y="1517904"/>
            <a:ext cx="3017520" cy="475488"/>
          </a:xfrm>
          <a:prstGeom prst="rect">
            <a:avLst/>
          </a:prstGeom>
          <a:noFill/>
          <a:ln/>
        </p:spPr>
        <p:txBody>
          <a:bodyPr wrap="square" lIns="0" tIns="0" rIns="0" bIns="0" rtlCol="0" anchor="ctr"/>
          <a:lstStyle/>
          <a:p>
            <a:pPr marL="0" indent="0">
              <a:buNone/>
            </a:pPr>
            <a:r>
              <a:rPr lang="en-US" sz="2500" b="1" dirty="0">
                <a:solidFill>
                  <a:srgbClr val="1C7293"/>
                </a:solidFill>
                <a:latin typeface="맑은 고딕" pitchFamily="34" charset="0"/>
                <a:ea typeface="맑은 고딕" pitchFamily="34" charset="-122"/>
                <a:cs typeface="맑은 고딕" pitchFamily="34" charset="-120"/>
              </a:rPr>
              <a:t>약 3배</a:t>
            </a:r>
            <a:endParaRPr lang="en-US" sz="2500" dirty="0"/>
          </a:p>
        </p:txBody>
      </p:sp>
      <p:sp>
        <p:nvSpPr>
          <p:cNvPr id="13" name="Text 11"/>
          <p:cNvSpPr txBox="1"/>
          <p:nvPr/>
        </p:nvSpPr>
        <p:spPr>
          <a:xfrm>
            <a:off x="4489704" y="1993392"/>
            <a:ext cx="3017520" cy="256032"/>
          </a:xfrm>
          <a:prstGeom prst="rect">
            <a:avLst/>
          </a:prstGeom>
          <a:noFill/>
          <a:ln/>
        </p:spPr>
        <p:txBody>
          <a:bodyPr wrap="square" lIns="0" tIns="0" rIns="0" bIns="0" rtlCol="0" anchor="ctr"/>
          <a:lstStyle/>
          <a:p>
            <a:pPr marL="0" indent="0">
              <a:buNone/>
            </a:pPr>
            <a:r>
              <a:rPr lang="en-US" sz="1250" b="1" dirty="0">
                <a:solidFill>
                  <a:srgbClr val="5F6B78"/>
                </a:solidFill>
                <a:latin typeface="맑은 고딕" pitchFamily="34" charset="0"/>
                <a:ea typeface="맑은 고딕" pitchFamily="34" charset="-122"/>
                <a:cs typeface="맑은 고딕" pitchFamily="34" charset="-120"/>
              </a:rPr>
              <a:t>최대 편차</a:t>
            </a:r>
            <a:endParaRPr lang="en-US" sz="1250" dirty="0"/>
          </a:p>
        </p:txBody>
      </p:sp>
      <p:sp>
        <p:nvSpPr>
          <p:cNvPr id="14" name="Text 12"/>
          <p:cNvSpPr txBox="1"/>
          <p:nvPr/>
        </p:nvSpPr>
        <p:spPr>
          <a:xfrm>
            <a:off x="4489704" y="2267712"/>
            <a:ext cx="3017520" cy="384048"/>
          </a:xfrm>
          <a:prstGeom prst="rect">
            <a:avLst/>
          </a:prstGeom>
          <a:noFill/>
          <a:ln/>
        </p:spPr>
        <p:txBody>
          <a:bodyPr wrap="square" lIns="0" tIns="0" rIns="0" bIns="0" rtlCol="0" anchor="ctr"/>
          <a:lstStyle/>
          <a:p>
            <a:pPr marL="0" indent="0">
              <a:buNone/>
            </a:pPr>
            <a:r>
              <a:rPr lang="en-US" sz="1150" dirty="0">
                <a:solidFill>
                  <a:srgbClr val="5F6B78"/>
                </a:solidFill>
                <a:latin typeface="맑은 고딕" pitchFamily="34" charset="0"/>
                <a:ea typeface="맑은 고딕" pitchFamily="34" charset="-122"/>
                <a:cs typeface="맑은 고딕" pitchFamily="34" charset="-120"/>
              </a:rPr>
              <a:t>경사 · 속도 · 하중 · 공조에 따라</a:t>
            </a:r>
            <a:endParaRPr lang="en-US" sz="1150" dirty="0"/>
          </a:p>
        </p:txBody>
      </p:sp>
      <p:sp>
        <p:nvSpPr>
          <p:cNvPr id="15" name="Shape 13"/>
          <p:cNvSpPr/>
          <p:nvPr/>
        </p:nvSpPr>
        <p:spPr>
          <a:xfrm>
            <a:off x="7936992" y="1353312"/>
            <a:ext cx="3456432" cy="1417320"/>
          </a:xfrm>
          <a:prstGeom prst="roundRect">
            <a:avLst>
              <a:gd name="adj" fmla="val 3226"/>
            </a:avLst>
          </a:prstGeom>
          <a:solidFill>
            <a:srgbClr val="EFF6FA"/>
          </a:solidFill>
          <a:ln w="12700">
            <a:solidFill>
              <a:srgbClr val="D8E8F0"/>
            </a:solidFill>
            <a:prstDash val="solid"/>
          </a:ln>
        </p:spPr>
        <p:txBody>
          <a:bodyPr/>
          <a:lstStyle/>
          <a:p>
            <a:endParaRPr lang="ko-KR" altLang="en-US"/>
          </a:p>
        </p:txBody>
      </p:sp>
      <p:sp>
        <p:nvSpPr>
          <p:cNvPr id="16" name="Text 14"/>
          <p:cNvSpPr txBox="1"/>
          <p:nvPr/>
        </p:nvSpPr>
        <p:spPr>
          <a:xfrm>
            <a:off x="8174736" y="1517904"/>
            <a:ext cx="3017520" cy="475488"/>
          </a:xfrm>
          <a:prstGeom prst="rect">
            <a:avLst/>
          </a:prstGeom>
          <a:noFill/>
          <a:ln/>
        </p:spPr>
        <p:txBody>
          <a:bodyPr wrap="square" lIns="0" tIns="0" rIns="0" bIns="0" rtlCol="0" anchor="ctr"/>
          <a:lstStyle/>
          <a:p>
            <a:pPr marL="0" indent="0">
              <a:buNone/>
            </a:pPr>
            <a:r>
              <a:rPr lang="en-US" sz="2500" b="1" dirty="0">
                <a:solidFill>
                  <a:srgbClr val="5F6B78"/>
                </a:solidFill>
                <a:latin typeface="맑은 고딕" pitchFamily="34" charset="0"/>
                <a:ea typeface="맑은 고딕" pitchFamily="34" charset="-122"/>
                <a:cs typeface="맑은 고딕" pitchFamily="34" charset="-120"/>
              </a:rPr>
              <a:t>171 – 516</a:t>
            </a:r>
            <a:endParaRPr lang="en-US" sz="2500" dirty="0"/>
          </a:p>
        </p:txBody>
      </p:sp>
      <p:sp>
        <p:nvSpPr>
          <p:cNvPr id="17" name="Text 15"/>
          <p:cNvSpPr txBox="1"/>
          <p:nvPr/>
        </p:nvSpPr>
        <p:spPr>
          <a:xfrm>
            <a:off x="8174736" y="1993392"/>
            <a:ext cx="3017520" cy="256032"/>
          </a:xfrm>
          <a:prstGeom prst="rect">
            <a:avLst/>
          </a:prstGeom>
          <a:noFill/>
          <a:ln/>
        </p:spPr>
        <p:txBody>
          <a:bodyPr wrap="square" lIns="0" tIns="0" rIns="0" bIns="0" rtlCol="0" anchor="ctr"/>
          <a:lstStyle/>
          <a:p>
            <a:pPr marL="0" indent="0">
              <a:buNone/>
            </a:pPr>
            <a:r>
              <a:rPr lang="en-US" sz="1250" b="1" dirty="0">
                <a:solidFill>
                  <a:srgbClr val="5F6B78"/>
                </a:solidFill>
                <a:latin typeface="맑은 고딕" pitchFamily="34" charset="0"/>
                <a:ea typeface="맑은 고딕" pitchFamily="34" charset="-122"/>
                <a:cs typeface="맑은 고딕" pitchFamily="34" charset="-120"/>
              </a:rPr>
              <a:t>km</a:t>
            </a:r>
            <a:endParaRPr lang="en-US" sz="1250" dirty="0"/>
          </a:p>
        </p:txBody>
      </p:sp>
      <p:sp>
        <p:nvSpPr>
          <p:cNvPr id="18" name="Text 16"/>
          <p:cNvSpPr txBox="1"/>
          <p:nvPr/>
        </p:nvSpPr>
        <p:spPr>
          <a:xfrm>
            <a:off x="8174736" y="2267712"/>
            <a:ext cx="3017520" cy="384048"/>
          </a:xfrm>
          <a:prstGeom prst="rect">
            <a:avLst/>
          </a:prstGeom>
          <a:noFill/>
          <a:ln/>
        </p:spPr>
        <p:txBody>
          <a:bodyPr wrap="square" lIns="0" tIns="0" rIns="0" bIns="0" rtlCol="0" anchor="ctr"/>
          <a:lstStyle/>
          <a:p>
            <a:pPr marL="0" indent="0">
              <a:buNone/>
            </a:pPr>
            <a:r>
              <a:rPr lang="en-US" sz="1150" dirty="0">
                <a:solidFill>
                  <a:srgbClr val="5F6B78"/>
                </a:solidFill>
                <a:latin typeface="맑은 고딕" pitchFamily="34" charset="0"/>
                <a:ea typeface="맑은 고딕" pitchFamily="34" charset="-122"/>
                <a:cs typeface="맑은 고딕" pitchFamily="34" charset="-120"/>
              </a:rPr>
              <a:t>60kWh 전량 사용 가정 시 이론값</a:t>
            </a:r>
            <a:endParaRPr lang="en-US" sz="1150" dirty="0"/>
          </a:p>
        </p:txBody>
      </p:sp>
      <p:sp>
        <p:nvSpPr>
          <p:cNvPr id="19" name="Text 17"/>
          <p:cNvSpPr txBox="1"/>
          <p:nvPr/>
        </p:nvSpPr>
        <p:spPr>
          <a:xfrm>
            <a:off x="566928" y="3035808"/>
            <a:ext cx="11064240" cy="310896"/>
          </a:xfrm>
          <a:prstGeom prst="rect">
            <a:avLst/>
          </a:prstGeom>
          <a:noFill/>
          <a:ln/>
        </p:spPr>
        <p:txBody>
          <a:bodyPr wrap="square" lIns="0" tIns="0" rIns="0" bIns="0" rtlCol="0" anchor="ctr"/>
          <a:lstStyle/>
          <a:p>
            <a:pPr marL="0" indent="0">
              <a:buNone/>
            </a:pPr>
            <a:r>
              <a:rPr lang="en-US" sz="1550" b="1" dirty="0">
                <a:solidFill>
                  <a:srgbClr val="0E3A5C"/>
                </a:solidFill>
                <a:latin typeface="맑은 고딕" pitchFamily="34" charset="0"/>
                <a:ea typeface="맑은 고딕" pitchFamily="34" charset="-122"/>
                <a:cs typeface="맑은 고딕" pitchFamily="34" charset="-120"/>
              </a:rPr>
              <a:t>고정 평균 소비율 하나로 계산하면 오차가 그대로 전가된다</a:t>
            </a:r>
            <a:endParaRPr lang="en-US" sz="1550" dirty="0"/>
          </a:p>
        </p:txBody>
      </p:sp>
      <p:sp>
        <p:nvSpPr>
          <p:cNvPr id="20" name="Shape 18"/>
          <p:cNvSpPr/>
          <p:nvPr/>
        </p:nvSpPr>
        <p:spPr>
          <a:xfrm>
            <a:off x="566928" y="3419856"/>
            <a:ext cx="2487168" cy="868680"/>
          </a:xfrm>
          <a:prstGeom prst="roundRect">
            <a:avLst>
              <a:gd name="adj" fmla="val 5263"/>
            </a:avLst>
          </a:prstGeom>
          <a:solidFill>
            <a:srgbClr val="FFFFFF"/>
          </a:solidFill>
          <a:ln w="12700">
            <a:solidFill>
              <a:srgbClr val="D8E8F0"/>
            </a:solidFill>
            <a:prstDash val="solid"/>
          </a:ln>
        </p:spPr>
        <p:txBody>
          <a:bodyPr/>
          <a:lstStyle/>
          <a:p>
            <a:endParaRPr lang="ko-KR" altLang="en-US"/>
          </a:p>
        </p:txBody>
      </p:sp>
      <p:sp>
        <p:nvSpPr>
          <p:cNvPr id="21" name="Text 19"/>
          <p:cNvSpPr txBox="1"/>
          <p:nvPr/>
        </p:nvSpPr>
        <p:spPr>
          <a:xfrm>
            <a:off x="676656" y="3419856"/>
            <a:ext cx="2267712" cy="868680"/>
          </a:xfrm>
          <a:prstGeom prst="rect">
            <a:avLst/>
          </a:prstGeom>
          <a:noFill/>
          <a:ln/>
        </p:spPr>
        <p:txBody>
          <a:bodyPr wrap="square" lIns="0" tIns="0" rIns="0" bIns="0" rtlCol="0" anchor="ctr"/>
          <a:lstStyle/>
          <a:p>
            <a:pPr marL="0" indent="0" algn="ctr">
              <a:buNone/>
            </a:pPr>
            <a:r>
              <a:rPr lang="en-US" sz="1250" dirty="0">
                <a:solidFill>
                  <a:srgbClr val="1A1A1A"/>
                </a:solidFill>
                <a:latin typeface="맑은 고딕" pitchFamily="34" charset="0"/>
                <a:ea typeface="맑은 고딕" pitchFamily="34" charset="-122"/>
                <a:cs typeface="맑은 고딕" pitchFamily="34" charset="-120"/>
              </a:rPr>
              <a:t>경로 에너지</a:t>
            </a:r>
            <a:endParaRPr lang="en-US" sz="1250" dirty="0"/>
          </a:p>
          <a:p>
            <a:pPr marL="0" indent="0" algn="ctr">
              <a:buNone/>
            </a:pPr>
            <a:r>
              <a:rPr lang="en-US" sz="1250" dirty="0">
                <a:solidFill>
                  <a:srgbClr val="1A1A1A"/>
                </a:solidFill>
                <a:latin typeface="맑은 고딕" pitchFamily="34" charset="0"/>
                <a:ea typeface="맑은 고딕" pitchFamily="34" charset="-122"/>
                <a:cs typeface="맑은 고딕" pitchFamily="34" charset="-120"/>
              </a:rPr>
              <a:t>오차</a:t>
            </a:r>
            <a:endParaRPr lang="en-US" sz="1250" dirty="0"/>
          </a:p>
        </p:txBody>
      </p:sp>
      <p:sp>
        <p:nvSpPr>
          <p:cNvPr id="22" name="Text 20"/>
          <p:cNvSpPr txBox="1"/>
          <p:nvPr/>
        </p:nvSpPr>
        <p:spPr>
          <a:xfrm>
            <a:off x="3054096" y="3419856"/>
            <a:ext cx="365760" cy="868680"/>
          </a:xfrm>
          <a:prstGeom prst="rect">
            <a:avLst/>
          </a:prstGeom>
          <a:noFill/>
          <a:ln/>
        </p:spPr>
        <p:txBody>
          <a:bodyPr wrap="square" lIns="0" tIns="0" rIns="0" bIns="0" rtlCol="0" anchor="ctr"/>
          <a:lstStyle/>
          <a:p>
            <a:pPr marL="0" indent="0" algn="ctr">
              <a:buNone/>
            </a:pPr>
            <a:r>
              <a:rPr lang="en-US" sz="1700" dirty="0">
                <a:solidFill>
                  <a:srgbClr val="1C7293"/>
                </a:solidFill>
                <a:latin typeface="맑은 고딕" pitchFamily="34" charset="0"/>
                <a:ea typeface="맑은 고딕" pitchFamily="34" charset="-122"/>
                <a:cs typeface="맑은 고딕" pitchFamily="34" charset="-120"/>
              </a:rPr>
              <a:t>→</a:t>
            </a:r>
            <a:endParaRPr lang="en-US" sz="1700" dirty="0"/>
          </a:p>
        </p:txBody>
      </p:sp>
      <p:sp>
        <p:nvSpPr>
          <p:cNvPr id="23" name="Shape 21"/>
          <p:cNvSpPr/>
          <p:nvPr/>
        </p:nvSpPr>
        <p:spPr>
          <a:xfrm>
            <a:off x="3419856" y="3419856"/>
            <a:ext cx="2487168" cy="868680"/>
          </a:xfrm>
          <a:prstGeom prst="roundRect">
            <a:avLst>
              <a:gd name="adj" fmla="val 5263"/>
            </a:avLst>
          </a:prstGeom>
          <a:solidFill>
            <a:srgbClr val="FFFFFF"/>
          </a:solidFill>
          <a:ln w="12700">
            <a:solidFill>
              <a:srgbClr val="D8E8F0"/>
            </a:solidFill>
            <a:prstDash val="solid"/>
          </a:ln>
        </p:spPr>
        <p:txBody>
          <a:bodyPr/>
          <a:lstStyle/>
          <a:p>
            <a:endParaRPr lang="ko-KR" altLang="en-US"/>
          </a:p>
        </p:txBody>
      </p:sp>
      <p:sp>
        <p:nvSpPr>
          <p:cNvPr id="24" name="Text 22"/>
          <p:cNvSpPr txBox="1"/>
          <p:nvPr/>
        </p:nvSpPr>
        <p:spPr>
          <a:xfrm>
            <a:off x="3529584" y="3419856"/>
            <a:ext cx="2267712" cy="868680"/>
          </a:xfrm>
          <a:prstGeom prst="rect">
            <a:avLst/>
          </a:prstGeom>
          <a:noFill/>
          <a:ln/>
        </p:spPr>
        <p:txBody>
          <a:bodyPr wrap="square" lIns="0" tIns="0" rIns="0" bIns="0" rtlCol="0" anchor="ctr"/>
          <a:lstStyle/>
          <a:p>
            <a:pPr marL="0" indent="0" algn="ctr">
              <a:buNone/>
            </a:pPr>
            <a:r>
              <a:rPr lang="en-US" sz="1250" dirty="0">
                <a:solidFill>
                  <a:srgbClr val="1A1A1A"/>
                </a:solidFill>
                <a:latin typeface="맑은 고딕" pitchFamily="34" charset="0"/>
                <a:ea typeface="맑은 고딕" pitchFamily="34" charset="-122"/>
                <a:cs typeface="맑은 고딕" pitchFamily="34" charset="-120"/>
              </a:rPr>
              <a:t>도착 예상 SOC</a:t>
            </a:r>
            <a:endParaRPr lang="en-US" sz="1250" dirty="0"/>
          </a:p>
          <a:p>
            <a:pPr marL="0" indent="0" algn="ctr">
              <a:buNone/>
            </a:pPr>
            <a:r>
              <a:rPr lang="en-US" sz="1250" dirty="0">
                <a:solidFill>
                  <a:srgbClr val="1A1A1A"/>
                </a:solidFill>
                <a:latin typeface="맑은 고딕" pitchFamily="34" charset="0"/>
                <a:ea typeface="맑은 고딕" pitchFamily="34" charset="-122"/>
                <a:cs typeface="맑은 고딕" pitchFamily="34" charset="-120"/>
              </a:rPr>
              <a:t>오차</a:t>
            </a:r>
            <a:endParaRPr lang="en-US" sz="1250" dirty="0"/>
          </a:p>
        </p:txBody>
      </p:sp>
      <p:sp>
        <p:nvSpPr>
          <p:cNvPr id="25" name="Text 23"/>
          <p:cNvSpPr txBox="1"/>
          <p:nvPr/>
        </p:nvSpPr>
        <p:spPr>
          <a:xfrm>
            <a:off x="5907024" y="3419856"/>
            <a:ext cx="365760" cy="868680"/>
          </a:xfrm>
          <a:prstGeom prst="rect">
            <a:avLst/>
          </a:prstGeom>
          <a:noFill/>
          <a:ln/>
        </p:spPr>
        <p:txBody>
          <a:bodyPr wrap="square" lIns="0" tIns="0" rIns="0" bIns="0" rtlCol="0" anchor="ctr"/>
          <a:lstStyle/>
          <a:p>
            <a:pPr marL="0" indent="0" algn="ctr">
              <a:buNone/>
            </a:pPr>
            <a:r>
              <a:rPr lang="en-US" sz="1700" dirty="0">
                <a:solidFill>
                  <a:srgbClr val="1C7293"/>
                </a:solidFill>
                <a:latin typeface="맑은 고딕" pitchFamily="34" charset="0"/>
                <a:ea typeface="맑은 고딕" pitchFamily="34" charset="-122"/>
                <a:cs typeface="맑은 고딕" pitchFamily="34" charset="-120"/>
              </a:rPr>
              <a:t>→</a:t>
            </a:r>
            <a:endParaRPr lang="en-US" sz="1700" dirty="0"/>
          </a:p>
        </p:txBody>
      </p:sp>
      <p:sp>
        <p:nvSpPr>
          <p:cNvPr id="26" name="Shape 24"/>
          <p:cNvSpPr/>
          <p:nvPr/>
        </p:nvSpPr>
        <p:spPr>
          <a:xfrm>
            <a:off x="6272784" y="3419856"/>
            <a:ext cx="2487168" cy="868680"/>
          </a:xfrm>
          <a:prstGeom prst="roundRect">
            <a:avLst>
              <a:gd name="adj" fmla="val 5263"/>
            </a:avLst>
          </a:prstGeom>
          <a:solidFill>
            <a:srgbClr val="FFFFFF"/>
          </a:solidFill>
          <a:ln w="12700">
            <a:solidFill>
              <a:srgbClr val="D8E8F0"/>
            </a:solidFill>
            <a:prstDash val="solid"/>
          </a:ln>
        </p:spPr>
        <p:txBody>
          <a:bodyPr/>
          <a:lstStyle/>
          <a:p>
            <a:endParaRPr lang="ko-KR" altLang="en-US"/>
          </a:p>
        </p:txBody>
      </p:sp>
      <p:sp>
        <p:nvSpPr>
          <p:cNvPr id="27" name="Text 25"/>
          <p:cNvSpPr txBox="1"/>
          <p:nvPr/>
        </p:nvSpPr>
        <p:spPr>
          <a:xfrm>
            <a:off x="6382512" y="3419856"/>
            <a:ext cx="2267712" cy="868680"/>
          </a:xfrm>
          <a:prstGeom prst="rect">
            <a:avLst/>
          </a:prstGeom>
          <a:noFill/>
          <a:ln/>
        </p:spPr>
        <p:txBody>
          <a:bodyPr wrap="square" lIns="0" tIns="0" rIns="0" bIns="0" rtlCol="0" anchor="ctr"/>
          <a:lstStyle/>
          <a:p>
            <a:pPr marL="0" indent="0" algn="ctr">
              <a:buNone/>
            </a:pPr>
            <a:r>
              <a:rPr lang="en-US" sz="1250" dirty="0">
                <a:solidFill>
                  <a:srgbClr val="1A1A1A"/>
                </a:solidFill>
                <a:latin typeface="맑은 고딕" pitchFamily="34" charset="0"/>
                <a:ea typeface="맑은 고딕" pitchFamily="34" charset="-122"/>
                <a:cs typeface="맑은 고딕" pitchFamily="34" charset="-120"/>
              </a:rPr>
              <a:t>충전 시점 판단</a:t>
            </a:r>
            <a:endParaRPr lang="en-US" sz="1250" dirty="0"/>
          </a:p>
          <a:p>
            <a:pPr marL="0" indent="0" algn="ctr">
              <a:buNone/>
            </a:pPr>
            <a:r>
              <a:rPr lang="en-US" sz="1250" dirty="0">
                <a:solidFill>
                  <a:srgbClr val="1A1A1A"/>
                </a:solidFill>
                <a:latin typeface="맑은 고딕" pitchFamily="34" charset="0"/>
                <a:ea typeface="맑은 고딕" pitchFamily="34" charset="-122"/>
                <a:cs typeface="맑은 고딕" pitchFamily="34" charset="-120"/>
              </a:rPr>
              <a:t>실패</a:t>
            </a:r>
            <a:endParaRPr lang="en-US" sz="1250" dirty="0"/>
          </a:p>
        </p:txBody>
      </p:sp>
      <p:sp>
        <p:nvSpPr>
          <p:cNvPr id="28" name="Text 26"/>
          <p:cNvSpPr txBox="1"/>
          <p:nvPr/>
        </p:nvSpPr>
        <p:spPr>
          <a:xfrm>
            <a:off x="8759952" y="3419856"/>
            <a:ext cx="365760" cy="868680"/>
          </a:xfrm>
          <a:prstGeom prst="rect">
            <a:avLst/>
          </a:prstGeom>
          <a:noFill/>
          <a:ln/>
        </p:spPr>
        <p:txBody>
          <a:bodyPr wrap="square" lIns="0" tIns="0" rIns="0" bIns="0" rtlCol="0" anchor="ctr"/>
          <a:lstStyle/>
          <a:p>
            <a:pPr marL="0" indent="0" algn="ctr">
              <a:buNone/>
            </a:pPr>
            <a:r>
              <a:rPr lang="en-US" sz="1700" dirty="0">
                <a:solidFill>
                  <a:srgbClr val="1C7293"/>
                </a:solidFill>
                <a:latin typeface="맑은 고딕" pitchFamily="34" charset="0"/>
                <a:ea typeface="맑은 고딕" pitchFamily="34" charset="-122"/>
                <a:cs typeface="맑은 고딕" pitchFamily="34" charset="-120"/>
              </a:rPr>
              <a:t>→</a:t>
            </a:r>
            <a:endParaRPr lang="en-US" sz="1700" dirty="0"/>
          </a:p>
        </p:txBody>
      </p:sp>
      <p:sp>
        <p:nvSpPr>
          <p:cNvPr id="29" name="Shape 27"/>
          <p:cNvSpPr/>
          <p:nvPr/>
        </p:nvSpPr>
        <p:spPr>
          <a:xfrm>
            <a:off x="9125712" y="3419856"/>
            <a:ext cx="2487168" cy="868680"/>
          </a:xfrm>
          <a:prstGeom prst="roundRect">
            <a:avLst>
              <a:gd name="adj" fmla="val 5263"/>
            </a:avLst>
          </a:prstGeom>
          <a:solidFill>
            <a:srgbClr val="FFFFFF"/>
          </a:solidFill>
          <a:ln w="12700">
            <a:solidFill>
              <a:srgbClr val="D8E8F0"/>
            </a:solidFill>
            <a:prstDash val="solid"/>
          </a:ln>
        </p:spPr>
        <p:txBody>
          <a:bodyPr/>
          <a:lstStyle/>
          <a:p>
            <a:endParaRPr lang="ko-KR" altLang="en-US"/>
          </a:p>
        </p:txBody>
      </p:sp>
      <p:sp>
        <p:nvSpPr>
          <p:cNvPr id="30" name="Text 28"/>
          <p:cNvSpPr txBox="1"/>
          <p:nvPr/>
        </p:nvSpPr>
        <p:spPr>
          <a:xfrm>
            <a:off x="9235440" y="3419856"/>
            <a:ext cx="2267712" cy="868680"/>
          </a:xfrm>
          <a:prstGeom prst="rect">
            <a:avLst/>
          </a:prstGeom>
          <a:noFill/>
          <a:ln/>
        </p:spPr>
        <p:txBody>
          <a:bodyPr wrap="square" lIns="0" tIns="0" rIns="0" bIns="0" rtlCol="0" anchor="ctr"/>
          <a:lstStyle/>
          <a:p>
            <a:pPr marL="0" indent="0" algn="ctr">
              <a:buNone/>
            </a:pPr>
            <a:r>
              <a:rPr lang="en-US" sz="1250" dirty="0">
                <a:solidFill>
                  <a:srgbClr val="1A1A1A"/>
                </a:solidFill>
                <a:latin typeface="맑은 고딕" pitchFamily="34" charset="0"/>
                <a:ea typeface="맑은 고딕" pitchFamily="34" charset="-122"/>
                <a:cs typeface="맑은 고딕" pitchFamily="34" charset="-120"/>
              </a:rPr>
              <a:t>주행거리 불안</a:t>
            </a:r>
            <a:endParaRPr lang="en-US" sz="1250" dirty="0"/>
          </a:p>
          <a:p>
            <a:pPr marL="0" indent="0" algn="ctr">
              <a:buNone/>
            </a:pPr>
            <a:r>
              <a:rPr lang="en-US" sz="1250" dirty="0">
                <a:solidFill>
                  <a:srgbClr val="1A1A1A"/>
                </a:solidFill>
                <a:latin typeface="맑은 고딕" pitchFamily="34" charset="0"/>
                <a:ea typeface="맑은 고딕" pitchFamily="34" charset="-122"/>
                <a:cs typeface="맑은 고딕" pitchFamily="34" charset="-120"/>
              </a:rPr>
              <a:t>불필요한 충전 대기</a:t>
            </a:r>
            <a:endParaRPr lang="en-US" sz="1250" dirty="0"/>
          </a:p>
        </p:txBody>
      </p:sp>
      <p:sp>
        <p:nvSpPr>
          <p:cNvPr id="31" name="Text 29"/>
          <p:cNvSpPr txBox="1"/>
          <p:nvPr/>
        </p:nvSpPr>
        <p:spPr>
          <a:xfrm>
            <a:off x="566928" y="4517136"/>
            <a:ext cx="5486400" cy="292608"/>
          </a:xfrm>
          <a:prstGeom prst="rect">
            <a:avLst/>
          </a:prstGeom>
          <a:noFill/>
          <a:ln/>
        </p:spPr>
        <p:txBody>
          <a:bodyPr wrap="square" lIns="0" tIns="0" rIns="0" bIns="0" rtlCol="0" anchor="ctr"/>
          <a:lstStyle/>
          <a:p>
            <a:pPr marL="0" indent="0">
              <a:buNone/>
            </a:pPr>
            <a:r>
              <a:rPr lang="en-US" sz="1500" b="1" dirty="0">
                <a:solidFill>
                  <a:srgbClr val="0E3A5C"/>
                </a:solidFill>
                <a:latin typeface="맑은 고딕" pitchFamily="34" charset="0"/>
                <a:ea typeface="맑은 고딕" pitchFamily="34" charset="-122"/>
                <a:cs typeface="맑은 고딕" pitchFamily="34" charset="-120"/>
              </a:rPr>
              <a:t>문제 정의 4문답</a:t>
            </a:r>
            <a:endParaRPr lang="en-US" sz="15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66928" y="4846320"/>
          <a:ext cx="11064240" cy="1280160"/>
        </p:xfrm>
        <a:graphic>
          <a:graphicData uri="http://schemas.openxmlformats.org/drawingml/2006/table">
            <a:tbl>
              <a:tblPr/>
              <a:tblGrid>
                <a:gridCol w="1828800">
                  <a:extLst>
                    <a:ext uri="{9D8B030D-6E8A-4147-A177-3AD203B41FA5}">
                      <a16:colId xmlns:a16="http://schemas.microsoft.com/office/drawing/2014/main" val="20000"/>
                    </a:ext>
                  </a:extLst>
                </a:gridCol>
                <a:gridCol w="9235440">
                  <a:extLst>
                    <a:ext uri="{9D8B030D-6E8A-4147-A177-3AD203B41FA5}">
                      <a16:colId xmlns:a16="http://schemas.microsoft.com/office/drawing/2014/main" val="20001"/>
                    </a:ext>
                  </a:extLst>
                </a:gridCol>
              </a:tblGrid>
              <a:tr h="256032">
                <a:tc>
                  <a:txBody>
                    <a:bodyPr/>
                    <a:lstStyle/>
                    <a:p>
                      <a:pPr marL="0" indent="0" algn="ctr">
                        <a:buNone/>
                      </a:pPr>
                      <a:r>
                        <a:rPr lang="en-US" sz="1150" b="1" dirty="0">
                          <a:solidFill>
                            <a:srgbClr val="0E3A5C"/>
                          </a:solidFill>
                          <a:latin typeface="맑은 고딕" pitchFamily="34" charset="0"/>
                          <a:ea typeface="맑은 고딕" pitchFamily="34" charset="-122"/>
                          <a:cs typeface="맑은 고딕" pitchFamily="34" charset="-120"/>
                        </a:rPr>
                        <a:t>질문</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150" b="1" dirty="0">
                          <a:solidFill>
                            <a:srgbClr val="0E3A5C"/>
                          </a:solidFill>
                          <a:latin typeface="맑은 고딕" pitchFamily="34" charset="0"/>
                          <a:ea typeface="맑은 고딕" pitchFamily="34" charset="-122"/>
                          <a:cs typeface="맑은 고딕" pitchFamily="34" charset="-120"/>
                        </a:rPr>
                        <a:t>답</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extLst>
                  <a:ext uri="{0D108BD9-81ED-4DB2-BD59-A6C34878D82A}">
                    <a16:rowId xmlns:a16="http://schemas.microsoft.com/office/drawing/2014/main" val="10000"/>
                  </a:ext>
                </a:extLst>
              </a:tr>
              <a:tr h="256032">
                <a:tc>
                  <a:txBody>
                    <a:bodyPr/>
                    <a:lstStyle/>
                    <a:p>
                      <a:pPr marL="0" indent="0" algn="l">
                        <a:buNone/>
                      </a:pPr>
                      <a:r>
                        <a:rPr lang="en-US" sz="1150" dirty="0">
                          <a:solidFill>
                            <a:srgbClr val="1A1A1A"/>
                          </a:solidFill>
                          <a:latin typeface="맑은 고딕" pitchFamily="34" charset="0"/>
                          <a:ea typeface="맑은 고딕" pitchFamily="34" charset="-122"/>
                          <a:cs typeface="맑은 고딕" pitchFamily="34" charset="-120"/>
                        </a:rPr>
                        <a:t>왜 필요한가</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1A"/>
                          </a:solidFill>
                          <a:latin typeface="맑은 고딕" pitchFamily="34" charset="0"/>
                          <a:ea typeface="맑은 고딕" pitchFamily="34" charset="-122"/>
                          <a:cs typeface="맑은 고딕" pitchFamily="34" charset="-120"/>
                        </a:rPr>
                        <a:t>주행거리 오차 · 충전 계획 실패 · 불필요한 충전 대기를 줄이기 위해</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lgn="l">
                        <a:buNone/>
                      </a:pPr>
                      <a:r>
                        <a:rPr lang="en-US" sz="1150" dirty="0">
                          <a:solidFill>
                            <a:srgbClr val="1A1A1A"/>
                          </a:solidFill>
                          <a:latin typeface="맑은 고딕" pitchFamily="34" charset="0"/>
                          <a:ea typeface="맑은 고딕" pitchFamily="34" charset="-122"/>
                          <a:cs typeface="맑은 고딕" pitchFamily="34" charset="-120"/>
                        </a:rPr>
                        <a:t>무엇을 예측하나</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1A"/>
                          </a:solidFill>
                          <a:latin typeface="맑은 고딕" pitchFamily="34" charset="0"/>
                          <a:ea typeface="맑은 고딕" pitchFamily="34" charset="-122"/>
                          <a:cs typeface="맑은 고딕" pitchFamily="34" charset="-120"/>
                        </a:rPr>
                        <a:t>주행·환경 조건에서의 100km당 에너지 소비율(kWh/100km)</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56032">
                <a:tc>
                  <a:txBody>
                    <a:bodyPr/>
                    <a:lstStyle/>
                    <a:p>
                      <a:pPr marL="0" indent="0" algn="l">
                        <a:buNone/>
                      </a:pPr>
                      <a:r>
                        <a:rPr lang="en-US" sz="1150" dirty="0">
                          <a:solidFill>
                            <a:srgbClr val="1A1A1A"/>
                          </a:solidFill>
                          <a:latin typeface="맑은 고딕" pitchFamily="34" charset="0"/>
                          <a:ea typeface="맑은 고딕" pitchFamily="34" charset="-122"/>
                          <a:cs typeface="맑은 고딕" pitchFamily="34" charset="-120"/>
                        </a:rPr>
                        <a:t>어디에 쓰나</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1A"/>
                          </a:solidFill>
                          <a:latin typeface="맑은 고딕" pitchFamily="34" charset="0"/>
                          <a:ea typeface="맑은 고딕" pitchFamily="34" charset="-122"/>
                          <a:cs typeface="맑은 고딕" pitchFamily="34" charset="-120"/>
                        </a:rPr>
                        <a:t>경로별 예상 소비전력량, 도착 예상 SOC, 에너지 우선 경로 안내</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lgn="l">
                        <a:buNone/>
                      </a:pPr>
                      <a:r>
                        <a:rPr lang="en-US" sz="1150" dirty="0">
                          <a:solidFill>
                            <a:srgbClr val="1A1A1A"/>
                          </a:solidFill>
                          <a:latin typeface="맑은 고딕" pitchFamily="34" charset="0"/>
                          <a:ea typeface="맑은 고딕" pitchFamily="34" charset="-122"/>
                          <a:cs typeface="맑은 고딕" pitchFamily="34" charset="-120"/>
                        </a:rPr>
                        <a:t>누가 쓰나</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1A"/>
                          </a:solidFill>
                          <a:latin typeface="맑은 고딕" pitchFamily="34" charset="0"/>
                          <a:ea typeface="맑은 고딕" pitchFamily="34" charset="-122"/>
                          <a:cs typeface="맑은 고딕" pitchFamily="34" charset="-120"/>
                        </a:rPr>
                        <a:t>OEM 내비게이션 개발 조직(모델 탑재) · 전기차 운전자(경로 선택)</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66928" y="365760"/>
            <a:ext cx="457200" cy="457200"/>
          </a:xfrm>
          <a:prstGeom prst="ellipse">
            <a:avLst/>
          </a:prstGeom>
          <a:solidFill>
            <a:srgbClr val="1C7293"/>
          </a:solidFill>
          <a:ln w="12700">
            <a:solidFill>
              <a:srgbClr val="1C7293"/>
            </a:solidFill>
            <a:prstDash val="solid"/>
          </a:ln>
        </p:spPr>
        <p:txBody>
          <a:bodyPr/>
          <a:lstStyle/>
          <a:p>
            <a:endParaRPr lang="ko-KR" altLang="en-US"/>
          </a:p>
        </p:txBody>
      </p:sp>
      <p:sp>
        <p:nvSpPr>
          <p:cNvPr id="3" name="Text 1"/>
          <p:cNvSpPr txBox="1"/>
          <p:nvPr/>
        </p:nvSpPr>
        <p:spPr>
          <a:xfrm>
            <a:off x="566928" y="3657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2</a:t>
            </a:r>
            <a:endParaRPr lang="en-US" sz="1600" dirty="0"/>
          </a:p>
        </p:txBody>
      </p:sp>
      <p:sp>
        <p:nvSpPr>
          <p:cNvPr id="4" name="Text 2"/>
          <p:cNvSpPr txBox="1"/>
          <p:nvPr/>
        </p:nvSpPr>
        <p:spPr>
          <a:xfrm>
            <a:off x="1152144" y="310896"/>
            <a:ext cx="10424160" cy="246888"/>
          </a:xfrm>
          <a:prstGeom prst="rect">
            <a:avLst/>
          </a:prstGeom>
          <a:noFill/>
          <a:ln/>
        </p:spPr>
        <p:txBody>
          <a:bodyPr wrap="square" lIns="0" tIns="0" rIns="0" bIns="0" rtlCol="0" anchor="ctr"/>
          <a:lstStyle/>
          <a:p>
            <a:pPr marL="0" indent="0">
              <a:buNone/>
            </a:pPr>
            <a:r>
              <a:rPr lang="en-US" sz="1150" b="1" kern="0" spc="100" dirty="0">
                <a:solidFill>
                  <a:srgbClr val="1C7293"/>
                </a:solidFill>
                <a:latin typeface="맑은 고딕" pitchFamily="34" charset="0"/>
                <a:ea typeface="맑은 고딕" pitchFamily="34" charset="-122"/>
                <a:cs typeface="맑은 고딕" pitchFamily="34" charset="-120"/>
              </a:rPr>
              <a:t>문제 정의 · 분석 문제로의 번역</a:t>
            </a:r>
            <a:endParaRPr lang="en-US" sz="1150" dirty="0"/>
          </a:p>
        </p:txBody>
      </p:sp>
      <p:sp>
        <p:nvSpPr>
          <p:cNvPr id="5" name="Text 3"/>
          <p:cNvSpPr txBox="1"/>
          <p:nvPr/>
        </p:nvSpPr>
        <p:spPr>
          <a:xfrm>
            <a:off x="1152144" y="566928"/>
            <a:ext cx="10469880" cy="530352"/>
          </a:xfrm>
          <a:prstGeom prst="rect">
            <a:avLst/>
          </a:prstGeom>
          <a:noFill/>
          <a:ln/>
        </p:spPr>
        <p:txBody>
          <a:bodyPr wrap="square" lIns="0" tIns="0" rIns="0" bIns="0" rtlCol="0" anchor="ctr"/>
          <a:lstStyle/>
          <a:p>
            <a:pPr marL="0" indent="0">
              <a:buNone/>
            </a:pPr>
            <a:r>
              <a:rPr lang="en-US" sz="2500" b="1" dirty="0">
                <a:solidFill>
                  <a:srgbClr val="0E3A5C"/>
                </a:solidFill>
                <a:latin typeface="맑은 고딕" pitchFamily="34" charset="0"/>
                <a:ea typeface="맑은 고딕" pitchFamily="34" charset="-122"/>
                <a:cs typeface="맑은 고딕" pitchFamily="34" charset="-120"/>
              </a:rPr>
              <a:t>연속형 수치를 예측하는 지도학습 회귀 문제</a:t>
            </a:r>
            <a:endParaRPr lang="en-US" sz="2500" dirty="0"/>
          </a:p>
        </p:txBody>
      </p:sp>
      <p:sp>
        <p:nvSpPr>
          <p:cNvPr id="6" name="Text 4"/>
          <p:cNvSpPr txBox="1"/>
          <p:nvPr/>
        </p:nvSpPr>
        <p:spPr>
          <a:xfrm>
            <a:off x="8686800" y="6519672"/>
            <a:ext cx="2926080" cy="274320"/>
          </a:xfrm>
          <a:prstGeom prst="rect">
            <a:avLst/>
          </a:prstGeom>
          <a:noFill/>
          <a:ln/>
        </p:spPr>
        <p:txBody>
          <a:bodyPr wrap="square" lIns="0" tIns="0" rIns="0" bIns="0" rtlCol="0" anchor="ctr"/>
          <a:lstStyle/>
          <a:p>
            <a:pPr marL="0" indent="0" algn="r">
              <a:buNone/>
            </a:pPr>
            <a:r>
              <a:rPr lang="en-US" sz="1000" dirty="0">
                <a:solidFill>
                  <a:srgbClr val="A8B4BE"/>
                </a:solidFill>
                <a:latin typeface="맑은 고딕" pitchFamily="34" charset="0"/>
                <a:ea typeface="맑은 고딕" pitchFamily="34" charset="-122"/>
                <a:cs typeface="맑은 고딕" pitchFamily="34" charset="-120"/>
              </a:rPr>
              <a:t>1. 문제 정의</a:t>
            </a:r>
            <a:endParaRPr lang="en-US" sz="1000" dirty="0"/>
          </a:p>
        </p:txBody>
      </p:sp>
      <p:sp>
        <p:nvSpPr>
          <p:cNvPr id="7" name="Shape 5"/>
          <p:cNvSpPr/>
          <p:nvPr/>
        </p:nvSpPr>
        <p:spPr>
          <a:xfrm>
            <a:off x="566928" y="1371600"/>
            <a:ext cx="3657600" cy="1920240"/>
          </a:xfrm>
          <a:prstGeom prst="roundRect">
            <a:avLst>
              <a:gd name="adj" fmla="val 2381"/>
            </a:avLst>
          </a:prstGeom>
          <a:solidFill>
            <a:srgbClr val="FFFFFF"/>
          </a:solidFill>
          <a:ln w="12700">
            <a:solidFill>
              <a:srgbClr val="D8E8F0"/>
            </a:solidFill>
            <a:prstDash val="solid"/>
          </a:ln>
        </p:spPr>
        <p:txBody>
          <a:bodyPr/>
          <a:lstStyle/>
          <a:p>
            <a:endParaRPr lang="ko-KR" altLang="en-US"/>
          </a:p>
        </p:txBody>
      </p:sp>
      <p:sp>
        <p:nvSpPr>
          <p:cNvPr id="8" name="Text 6"/>
          <p:cNvSpPr txBox="1"/>
          <p:nvPr/>
        </p:nvSpPr>
        <p:spPr>
          <a:xfrm>
            <a:off x="786384" y="1536192"/>
            <a:ext cx="3218688" cy="292608"/>
          </a:xfrm>
          <a:prstGeom prst="rect">
            <a:avLst/>
          </a:prstGeom>
          <a:noFill/>
          <a:ln/>
        </p:spPr>
        <p:txBody>
          <a:bodyPr wrap="square" lIns="0" tIns="0" rIns="0" bIns="0" rtlCol="0" anchor="ctr"/>
          <a:lstStyle/>
          <a:p>
            <a:pPr marL="0" indent="0">
              <a:buNone/>
            </a:pPr>
            <a:r>
              <a:rPr lang="en-US" sz="1450" b="1" dirty="0">
                <a:solidFill>
                  <a:srgbClr val="1C7293"/>
                </a:solidFill>
                <a:latin typeface="맑은 고딕" pitchFamily="34" charset="0"/>
                <a:ea typeface="맑은 고딕" pitchFamily="34" charset="-122"/>
                <a:cs typeface="맑은 고딕" pitchFamily="34" charset="-120"/>
              </a:rPr>
              <a:t>입력 X · 9개</a:t>
            </a:r>
            <a:endParaRPr lang="en-US" sz="1450" dirty="0"/>
          </a:p>
        </p:txBody>
      </p:sp>
      <p:sp>
        <p:nvSpPr>
          <p:cNvPr id="9" name="Text 7"/>
          <p:cNvSpPr txBox="1"/>
          <p:nvPr/>
        </p:nvSpPr>
        <p:spPr>
          <a:xfrm>
            <a:off x="786384" y="1865376"/>
            <a:ext cx="3218688" cy="1325880"/>
          </a:xfrm>
          <a:prstGeom prst="rect">
            <a:avLst/>
          </a:prstGeom>
          <a:noFill/>
          <a:ln/>
        </p:spPr>
        <p:txBody>
          <a:bodyPr wrap="square" lIns="0" tIns="0" rIns="0" bIns="0" rtlCol="0" anchor="ctr"/>
          <a:lstStyle/>
          <a:p>
            <a:pPr marL="0" indent="0">
              <a:lnSpc>
                <a:spcPts val="1700"/>
              </a:lnSpc>
              <a:buNone/>
            </a:pPr>
            <a:r>
              <a:rPr lang="en-US" sz="1200" dirty="0">
                <a:solidFill>
                  <a:srgbClr val="1A1A1A"/>
                </a:solidFill>
                <a:latin typeface="맑은 고딕" pitchFamily="34" charset="0"/>
                <a:ea typeface="맑은 고딕" pitchFamily="34" charset="-122"/>
                <a:cs typeface="맑은 고딕" pitchFamily="34" charset="-120"/>
              </a:rPr>
              <a:t>주행 속도 · 적재중량</a:t>
            </a:r>
            <a:endParaRPr lang="en-US" sz="1200" dirty="0"/>
          </a:p>
          <a:p>
            <a:pPr marL="0" indent="0">
              <a:lnSpc>
                <a:spcPts val="1700"/>
              </a:lnSpc>
              <a:buNone/>
            </a:pPr>
            <a:r>
              <a:rPr lang="en-US" sz="1200" dirty="0">
                <a:solidFill>
                  <a:srgbClr val="1A1A1A"/>
                </a:solidFill>
                <a:latin typeface="맑은 고딕" pitchFamily="34" charset="0"/>
                <a:ea typeface="맑은 고딕" pitchFamily="34" charset="-122"/>
                <a:cs typeface="맑은 고딕" pitchFamily="34" charset="-120"/>
              </a:rPr>
              <a:t>외기온 · 공조 전력</a:t>
            </a:r>
            <a:endParaRPr lang="en-US" sz="1200" dirty="0"/>
          </a:p>
          <a:p>
            <a:pPr marL="0" indent="0">
              <a:lnSpc>
                <a:spcPts val="1700"/>
              </a:lnSpc>
              <a:buNone/>
            </a:pPr>
            <a:r>
              <a:rPr lang="en-US" sz="1200" dirty="0">
                <a:solidFill>
                  <a:srgbClr val="1A1A1A"/>
                </a:solidFill>
                <a:latin typeface="맑은 고딕" pitchFamily="34" charset="0"/>
                <a:ea typeface="맑은 고딕" pitchFamily="34" charset="-122"/>
                <a:cs typeface="맑은 고딕" pitchFamily="34" charset="-120"/>
              </a:rPr>
              <a:t>도로 경사도 · 배터리 온도</a:t>
            </a:r>
            <a:endParaRPr lang="en-US" sz="1200" dirty="0"/>
          </a:p>
          <a:p>
            <a:pPr marL="0" indent="0">
              <a:lnSpc>
                <a:spcPts val="1700"/>
              </a:lnSpc>
              <a:buNone/>
            </a:pPr>
            <a:r>
              <a:rPr lang="en-US" sz="1200" dirty="0">
                <a:solidFill>
                  <a:srgbClr val="1A1A1A"/>
                </a:solidFill>
                <a:latin typeface="맑은 고딕" pitchFamily="34" charset="0"/>
                <a:ea typeface="맑은 고딕" pitchFamily="34" charset="-122"/>
                <a:cs typeface="맑은 고딕" pitchFamily="34" charset="-120"/>
              </a:rPr>
              <a:t>운전 습관 · 타이어 공기압</a:t>
            </a:r>
            <a:endParaRPr lang="en-US" sz="1200" dirty="0"/>
          </a:p>
          <a:p>
            <a:pPr marL="0" indent="0">
              <a:lnSpc>
                <a:spcPts val="1700"/>
              </a:lnSpc>
              <a:buNone/>
            </a:pPr>
            <a:r>
              <a:rPr lang="en-US" sz="1200" dirty="0">
                <a:solidFill>
                  <a:srgbClr val="1A1A1A"/>
                </a:solidFill>
                <a:latin typeface="맑은 고딕" pitchFamily="34" charset="0"/>
                <a:ea typeface="맑은 고딕" pitchFamily="34" charset="-122"/>
                <a:cs typeface="맑은 고딕" pitchFamily="34" charset="-120"/>
              </a:rPr>
              <a:t>주행거리</a:t>
            </a:r>
            <a:endParaRPr lang="en-US" sz="1200" dirty="0"/>
          </a:p>
        </p:txBody>
      </p:sp>
      <p:sp>
        <p:nvSpPr>
          <p:cNvPr id="10" name="Text 8"/>
          <p:cNvSpPr txBox="1"/>
          <p:nvPr/>
        </p:nvSpPr>
        <p:spPr>
          <a:xfrm>
            <a:off x="4224528" y="1371600"/>
            <a:ext cx="256032" cy="1920240"/>
          </a:xfrm>
          <a:prstGeom prst="rect">
            <a:avLst/>
          </a:prstGeom>
          <a:noFill/>
          <a:ln/>
        </p:spPr>
        <p:txBody>
          <a:bodyPr wrap="square" lIns="0" tIns="0" rIns="0" bIns="0" rtlCol="0" anchor="ctr"/>
          <a:lstStyle/>
          <a:p>
            <a:pPr marL="0" indent="0" algn="ctr">
              <a:buNone/>
            </a:pPr>
            <a:r>
              <a:rPr lang="en-US" sz="1900" dirty="0">
                <a:solidFill>
                  <a:srgbClr val="1C7293"/>
                </a:solidFill>
                <a:latin typeface="맑은 고딕" pitchFamily="34" charset="0"/>
                <a:ea typeface="맑은 고딕" pitchFamily="34" charset="-122"/>
                <a:cs typeface="맑은 고딕" pitchFamily="34" charset="-120"/>
              </a:rPr>
              <a:t>→</a:t>
            </a:r>
            <a:endParaRPr lang="en-US" sz="1900" dirty="0"/>
          </a:p>
        </p:txBody>
      </p:sp>
      <p:sp>
        <p:nvSpPr>
          <p:cNvPr id="11" name="Shape 9"/>
          <p:cNvSpPr/>
          <p:nvPr/>
        </p:nvSpPr>
        <p:spPr>
          <a:xfrm>
            <a:off x="4480560" y="1371600"/>
            <a:ext cx="2743200" cy="1920240"/>
          </a:xfrm>
          <a:prstGeom prst="roundRect">
            <a:avLst>
              <a:gd name="adj" fmla="val 2381"/>
            </a:avLst>
          </a:prstGeom>
          <a:solidFill>
            <a:srgbClr val="EFF6FA"/>
          </a:solidFill>
          <a:ln w="12700">
            <a:solidFill>
              <a:srgbClr val="D8E8F0"/>
            </a:solidFill>
            <a:prstDash val="solid"/>
          </a:ln>
        </p:spPr>
        <p:txBody>
          <a:bodyPr/>
          <a:lstStyle/>
          <a:p>
            <a:endParaRPr lang="ko-KR" altLang="en-US"/>
          </a:p>
        </p:txBody>
      </p:sp>
      <p:sp>
        <p:nvSpPr>
          <p:cNvPr id="12" name="Text 10"/>
          <p:cNvSpPr txBox="1"/>
          <p:nvPr/>
        </p:nvSpPr>
        <p:spPr>
          <a:xfrm>
            <a:off x="4700016" y="1536192"/>
            <a:ext cx="2304288" cy="292608"/>
          </a:xfrm>
          <a:prstGeom prst="rect">
            <a:avLst/>
          </a:prstGeom>
          <a:noFill/>
          <a:ln/>
        </p:spPr>
        <p:txBody>
          <a:bodyPr wrap="square" lIns="0" tIns="0" rIns="0" bIns="0" rtlCol="0" anchor="ctr"/>
          <a:lstStyle/>
          <a:p>
            <a:pPr marL="0" indent="0">
              <a:buNone/>
            </a:pPr>
            <a:r>
              <a:rPr lang="en-US" sz="1450" b="1" dirty="0">
                <a:solidFill>
                  <a:srgbClr val="1C7293"/>
                </a:solidFill>
                <a:latin typeface="맑은 고딕" pitchFamily="34" charset="0"/>
                <a:ea typeface="맑은 고딕" pitchFamily="34" charset="-122"/>
                <a:cs typeface="맑은 고딕" pitchFamily="34" charset="-120"/>
              </a:rPr>
              <a:t>회귀 모델</a:t>
            </a:r>
            <a:endParaRPr lang="en-US" sz="1450" dirty="0"/>
          </a:p>
        </p:txBody>
      </p:sp>
      <p:sp>
        <p:nvSpPr>
          <p:cNvPr id="13" name="Text 11"/>
          <p:cNvSpPr txBox="1"/>
          <p:nvPr/>
        </p:nvSpPr>
        <p:spPr>
          <a:xfrm>
            <a:off x="4700016" y="1865376"/>
            <a:ext cx="2304288" cy="1325880"/>
          </a:xfrm>
          <a:prstGeom prst="rect">
            <a:avLst/>
          </a:prstGeom>
          <a:noFill/>
          <a:ln/>
        </p:spPr>
        <p:txBody>
          <a:bodyPr wrap="square" lIns="0" tIns="0" rIns="0" bIns="0" rtlCol="0" anchor="ctr"/>
          <a:lstStyle/>
          <a:p>
            <a:pPr marL="0" indent="0">
              <a:lnSpc>
                <a:spcPts val="1700"/>
              </a:lnSpc>
              <a:buNone/>
            </a:pPr>
            <a:r>
              <a:rPr lang="en-US" sz="1200" dirty="0">
                <a:solidFill>
                  <a:srgbClr val="1A1A1A"/>
                </a:solidFill>
                <a:latin typeface="맑은 고딕" pitchFamily="34" charset="0"/>
                <a:ea typeface="맑은 고딕" pitchFamily="34" charset="-122"/>
                <a:cs typeface="맑은 고딕" pitchFamily="34" charset="-120"/>
              </a:rPr>
              <a:t>주행 조건과</a:t>
            </a:r>
            <a:endParaRPr lang="en-US" sz="1200" dirty="0"/>
          </a:p>
          <a:p>
            <a:pPr marL="0" indent="0">
              <a:lnSpc>
                <a:spcPts val="1700"/>
              </a:lnSpc>
              <a:buNone/>
            </a:pPr>
            <a:r>
              <a:rPr lang="en-US" sz="1200" dirty="0">
                <a:solidFill>
                  <a:srgbClr val="1A1A1A"/>
                </a:solidFill>
                <a:latin typeface="맑은 고딕" pitchFamily="34" charset="0"/>
                <a:ea typeface="맑은 고딕" pitchFamily="34" charset="-122"/>
                <a:cs typeface="맑은 고딕" pitchFamily="34" charset="-120"/>
              </a:rPr>
              <a:t>소비율의 관계를 학습</a:t>
            </a:r>
            <a:endParaRPr lang="en-US" sz="1200" dirty="0"/>
          </a:p>
        </p:txBody>
      </p:sp>
      <p:sp>
        <p:nvSpPr>
          <p:cNvPr id="14" name="Text 12"/>
          <p:cNvSpPr txBox="1"/>
          <p:nvPr/>
        </p:nvSpPr>
        <p:spPr>
          <a:xfrm>
            <a:off x="7223760" y="1371600"/>
            <a:ext cx="256032" cy="1920240"/>
          </a:xfrm>
          <a:prstGeom prst="rect">
            <a:avLst/>
          </a:prstGeom>
          <a:noFill/>
          <a:ln/>
        </p:spPr>
        <p:txBody>
          <a:bodyPr wrap="square" lIns="0" tIns="0" rIns="0" bIns="0" rtlCol="0" anchor="ctr"/>
          <a:lstStyle/>
          <a:p>
            <a:pPr marL="0" indent="0" algn="ctr">
              <a:buNone/>
            </a:pPr>
            <a:r>
              <a:rPr lang="en-US" sz="1900" dirty="0">
                <a:solidFill>
                  <a:srgbClr val="1C7293"/>
                </a:solidFill>
                <a:latin typeface="맑은 고딕" pitchFamily="34" charset="0"/>
                <a:ea typeface="맑은 고딕" pitchFamily="34" charset="-122"/>
                <a:cs typeface="맑은 고딕" pitchFamily="34" charset="-120"/>
              </a:rPr>
              <a:t>→</a:t>
            </a:r>
            <a:endParaRPr lang="en-US" sz="1900" dirty="0"/>
          </a:p>
        </p:txBody>
      </p:sp>
      <p:sp>
        <p:nvSpPr>
          <p:cNvPr id="15" name="Shape 13"/>
          <p:cNvSpPr/>
          <p:nvPr/>
        </p:nvSpPr>
        <p:spPr>
          <a:xfrm>
            <a:off x="7479792" y="1371600"/>
            <a:ext cx="3657600" cy="1920240"/>
          </a:xfrm>
          <a:prstGeom prst="roundRect">
            <a:avLst>
              <a:gd name="adj" fmla="val 2381"/>
            </a:avLst>
          </a:prstGeom>
          <a:solidFill>
            <a:srgbClr val="D8E8F0"/>
          </a:solidFill>
          <a:ln w="12700">
            <a:solidFill>
              <a:srgbClr val="1C7293"/>
            </a:solidFill>
            <a:prstDash val="solid"/>
          </a:ln>
        </p:spPr>
        <p:txBody>
          <a:bodyPr/>
          <a:lstStyle/>
          <a:p>
            <a:endParaRPr lang="ko-KR" altLang="en-US"/>
          </a:p>
        </p:txBody>
      </p:sp>
      <p:sp>
        <p:nvSpPr>
          <p:cNvPr id="16" name="Text 14"/>
          <p:cNvSpPr txBox="1"/>
          <p:nvPr/>
        </p:nvSpPr>
        <p:spPr>
          <a:xfrm>
            <a:off x="7699248" y="1536192"/>
            <a:ext cx="3218688" cy="292608"/>
          </a:xfrm>
          <a:prstGeom prst="rect">
            <a:avLst/>
          </a:prstGeom>
          <a:noFill/>
          <a:ln/>
        </p:spPr>
        <p:txBody>
          <a:bodyPr wrap="square" lIns="0" tIns="0" rIns="0" bIns="0" rtlCol="0" anchor="ctr"/>
          <a:lstStyle/>
          <a:p>
            <a:pPr marL="0" indent="0">
              <a:buNone/>
            </a:pPr>
            <a:r>
              <a:rPr lang="en-US" sz="1450" b="1" dirty="0">
                <a:solidFill>
                  <a:srgbClr val="0E3A5C"/>
                </a:solidFill>
                <a:latin typeface="맑은 고딕" pitchFamily="34" charset="0"/>
                <a:ea typeface="맑은 고딕" pitchFamily="34" charset="-122"/>
                <a:cs typeface="맑은 고딕" pitchFamily="34" charset="-120"/>
              </a:rPr>
              <a:t>출력 y · 1개</a:t>
            </a:r>
            <a:endParaRPr lang="en-US" sz="1450" dirty="0"/>
          </a:p>
        </p:txBody>
      </p:sp>
      <p:sp>
        <p:nvSpPr>
          <p:cNvPr id="17" name="Text 15"/>
          <p:cNvSpPr txBox="1"/>
          <p:nvPr/>
        </p:nvSpPr>
        <p:spPr>
          <a:xfrm>
            <a:off x="7699248" y="1865376"/>
            <a:ext cx="3218688" cy="1325880"/>
          </a:xfrm>
          <a:prstGeom prst="rect">
            <a:avLst/>
          </a:prstGeom>
          <a:noFill/>
          <a:ln/>
        </p:spPr>
        <p:txBody>
          <a:bodyPr wrap="square" lIns="0" tIns="0" rIns="0" bIns="0" rtlCol="0" anchor="ctr"/>
          <a:lstStyle/>
          <a:p>
            <a:pPr marL="0" indent="0">
              <a:lnSpc>
                <a:spcPts val="1700"/>
              </a:lnSpc>
              <a:buNone/>
            </a:pPr>
            <a:r>
              <a:rPr lang="en-US" sz="1200" dirty="0">
                <a:solidFill>
                  <a:srgbClr val="1A1A1A"/>
                </a:solidFill>
                <a:latin typeface="맑은 고딕" pitchFamily="34" charset="0"/>
                <a:ea typeface="맑은 고딕" pitchFamily="34" charset="-122"/>
                <a:cs typeface="맑은 고딕" pitchFamily="34" charset="-120"/>
              </a:rPr>
              <a:t>energy_consumption</a:t>
            </a:r>
            <a:endParaRPr lang="en-US" sz="1200" dirty="0"/>
          </a:p>
          <a:p>
            <a:pPr marL="0" indent="0">
              <a:lnSpc>
                <a:spcPts val="1700"/>
              </a:lnSpc>
              <a:buNone/>
            </a:pPr>
            <a:r>
              <a:rPr lang="en-US" sz="1200" dirty="0">
                <a:solidFill>
                  <a:srgbClr val="1A1A1A"/>
                </a:solidFill>
                <a:latin typeface="맑은 고딕" pitchFamily="34" charset="0"/>
                <a:ea typeface="맑은 고딕" pitchFamily="34" charset="-122"/>
                <a:cs typeface="맑은 고딕" pitchFamily="34" charset="-120"/>
              </a:rPr>
              <a:t>_kwhper100km</a:t>
            </a:r>
            <a:endParaRPr lang="en-US" sz="1200" dirty="0"/>
          </a:p>
          <a:p>
            <a:pPr marL="0" indent="0">
              <a:lnSpc>
                <a:spcPts val="1700"/>
              </a:lnSpc>
              <a:buNone/>
            </a:pPr>
            <a:endParaRPr lang="en-US" sz="1200" dirty="0"/>
          </a:p>
          <a:p>
            <a:pPr marL="0" indent="0">
              <a:lnSpc>
                <a:spcPts val="1700"/>
              </a:lnSpc>
              <a:buNone/>
            </a:pPr>
            <a:r>
              <a:rPr lang="en-US" sz="1200" dirty="0">
                <a:solidFill>
                  <a:srgbClr val="1A1A1A"/>
                </a:solidFill>
                <a:latin typeface="맑은 고딕" pitchFamily="34" charset="0"/>
                <a:ea typeface="맑은 고딕" pitchFamily="34" charset="-122"/>
                <a:cs typeface="맑은 고딕" pitchFamily="34" charset="-120"/>
              </a:rPr>
              <a:t>연속형 수치</a:t>
            </a:r>
            <a:endParaRPr lang="en-US" sz="1200" dirty="0"/>
          </a:p>
          <a:p>
            <a:pPr marL="0" indent="0">
              <a:lnSpc>
                <a:spcPts val="1700"/>
              </a:lnSpc>
              <a:buNone/>
            </a:pPr>
            <a:r>
              <a:rPr lang="en-US" sz="1200" dirty="0">
                <a:solidFill>
                  <a:srgbClr val="1A1A1A"/>
                </a:solidFill>
                <a:latin typeface="맑은 고딕" pitchFamily="34" charset="0"/>
                <a:ea typeface="맑은 고딕" pitchFamily="34" charset="-122"/>
                <a:cs typeface="맑은 고딕" pitchFamily="34" charset="-120"/>
              </a:rPr>
              <a:t>11.62 ~ 35.00</a:t>
            </a:r>
            <a:endParaRPr lang="en-US" sz="1200" dirty="0"/>
          </a:p>
        </p:txBody>
      </p:sp>
      <p:sp>
        <p:nvSpPr>
          <p:cNvPr id="18" name="Shape 16"/>
          <p:cNvSpPr/>
          <p:nvPr/>
        </p:nvSpPr>
        <p:spPr>
          <a:xfrm>
            <a:off x="566928" y="3456432"/>
            <a:ext cx="11064240" cy="713232"/>
          </a:xfrm>
          <a:prstGeom prst="roundRect">
            <a:avLst>
              <a:gd name="adj" fmla="val 6410"/>
            </a:avLst>
          </a:prstGeom>
          <a:solidFill>
            <a:srgbClr val="D8E8F0"/>
          </a:solidFill>
          <a:ln w="12700">
            <a:solidFill>
              <a:srgbClr val="1C7293"/>
            </a:solidFill>
            <a:prstDash val="solid"/>
          </a:ln>
        </p:spPr>
        <p:txBody>
          <a:bodyPr/>
          <a:lstStyle/>
          <a:p>
            <a:endParaRPr lang="ko-KR" altLang="en-US"/>
          </a:p>
        </p:txBody>
      </p:sp>
      <p:sp>
        <p:nvSpPr>
          <p:cNvPr id="19" name="Text 17"/>
          <p:cNvSpPr txBox="1"/>
          <p:nvPr/>
        </p:nvSpPr>
        <p:spPr>
          <a:xfrm>
            <a:off x="804672" y="3456432"/>
            <a:ext cx="10588752" cy="713232"/>
          </a:xfrm>
          <a:prstGeom prst="rect">
            <a:avLst/>
          </a:prstGeom>
          <a:noFill/>
          <a:ln/>
        </p:spPr>
        <p:txBody>
          <a:bodyPr wrap="square" lIns="0" tIns="0" rIns="0" bIns="0" rtlCol="0" anchor="ctr"/>
          <a:lstStyle/>
          <a:p>
            <a:pPr marL="0" indent="0">
              <a:lnSpc>
                <a:spcPts val="1900"/>
              </a:lnSpc>
              <a:buNone/>
            </a:pPr>
            <a:r>
              <a:rPr lang="en-US" sz="1350" b="1" dirty="0">
                <a:solidFill>
                  <a:srgbClr val="0E3A5C"/>
                </a:solidFill>
                <a:latin typeface="맑은 고딕" pitchFamily="34" charset="0"/>
                <a:ea typeface="맑은 고딕" pitchFamily="34" charset="-122"/>
                <a:cs typeface="맑은 고딕" pitchFamily="34" charset="-120"/>
              </a:rPr>
              <a:t>분류가 아닌 회귀   </a:t>
            </a:r>
            <a:r>
              <a:rPr lang="en-US" sz="1350" dirty="0">
                <a:solidFill>
                  <a:srgbClr val="1A1A1A"/>
                </a:solidFill>
                <a:latin typeface="맑은 고딕" pitchFamily="34" charset="0"/>
                <a:ea typeface="맑은 고딕" pitchFamily="34" charset="-122"/>
                <a:cs typeface="맑은 고딕" pitchFamily="34" charset="-120"/>
              </a:rPr>
              <a:t>목표값이 0/1 같은 범주가 아니라 연속적인 숫자이므로 회귀 모델을 사용한다. 도착 가능 여부도 별도 분류 모델 대신, 예측된 소비전력량과 현재 SOC로 직접 계산하는 편이 정확하고 설명하기 쉽다.</a:t>
            </a:r>
            <a:endParaRPr lang="en-US" sz="1350" dirty="0"/>
          </a:p>
        </p:txBody>
      </p:sp>
      <p:sp>
        <p:nvSpPr>
          <p:cNvPr id="20" name="Text 18"/>
          <p:cNvSpPr txBox="1"/>
          <p:nvPr/>
        </p:nvSpPr>
        <p:spPr>
          <a:xfrm>
            <a:off x="566928" y="4370832"/>
            <a:ext cx="11064240" cy="292608"/>
          </a:xfrm>
          <a:prstGeom prst="rect">
            <a:avLst/>
          </a:prstGeom>
          <a:noFill/>
          <a:ln/>
        </p:spPr>
        <p:txBody>
          <a:bodyPr wrap="square" lIns="0" tIns="0" rIns="0" bIns="0" rtlCol="0" anchor="ctr"/>
          <a:lstStyle/>
          <a:p>
            <a:pPr marL="0" indent="0">
              <a:buNone/>
            </a:pPr>
            <a:r>
              <a:rPr lang="en-US" sz="1500" b="1" dirty="0">
                <a:solidFill>
                  <a:srgbClr val="0E3A5C"/>
                </a:solidFill>
                <a:latin typeface="맑은 고딕" pitchFamily="34" charset="0"/>
                <a:ea typeface="맑은 고딕" pitchFamily="34" charset="-122"/>
                <a:cs typeface="맑은 고딕" pitchFamily="34" charset="-120"/>
              </a:rPr>
              <a:t>모델 출력을 서비스 값으로 바꾸는 환산식</a:t>
            </a:r>
            <a:endParaRPr lang="en-US" sz="1500" dirty="0"/>
          </a:p>
        </p:txBody>
      </p:sp>
      <p:sp>
        <p:nvSpPr>
          <p:cNvPr id="21" name="Shape 19"/>
          <p:cNvSpPr/>
          <p:nvPr/>
        </p:nvSpPr>
        <p:spPr>
          <a:xfrm>
            <a:off x="566928" y="4718304"/>
            <a:ext cx="11064240" cy="603504"/>
          </a:xfrm>
          <a:prstGeom prst="roundRect">
            <a:avLst>
              <a:gd name="adj" fmla="val 7576"/>
            </a:avLst>
          </a:prstGeom>
          <a:solidFill>
            <a:srgbClr val="D8E8F0"/>
          </a:solidFill>
          <a:ln w="12700">
            <a:solidFill>
              <a:srgbClr val="1C7293"/>
            </a:solidFill>
            <a:prstDash val="solid"/>
          </a:ln>
        </p:spPr>
        <p:txBody>
          <a:bodyPr/>
          <a:lstStyle/>
          <a:p>
            <a:endParaRPr lang="ko-KR" altLang="en-US"/>
          </a:p>
        </p:txBody>
      </p:sp>
      <p:sp>
        <p:nvSpPr>
          <p:cNvPr id="22" name="Text 20"/>
          <p:cNvSpPr txBox="1"/>
          <p:nvPr/>
        </p:nvSpPr>
        <p:spPr>
          <a:xfrm>
            <a:off x="566928" y="4718304"/>
            <a:ext cx="11064240" cy="603504"/>
          </a:xfrm>
          <a:prstGeom prst="rect">
            <a:avLst/>
          </a:prstGeom>
          <a:noFill/>
          <a:ln/>
        </p:spPr>
        <p:txBody>
          <a:bodyPr wrap="square" lIns="0" tIns="0" rIns="0" bIns="0" rtlCol="0" anchor="ctr"/>
          <a:lstStyle/>
          <a:p>
            <a:pPr marL="0" indent="0" algn="ctr">
              <a:buNone/>
            </a:pPr>
            <a:r>
              <a:rPr lang="en-US" sz="1550" b="1" dirty="0">
                <a:solidFill>
                  <a:srgbClr val="0E3A5C"/>
                </a:solidFill>
                <a:latin typeface="맑은 고딕" pitchFamily="34" charset="0"/>
                <a:ea typeface="맑은 고딕" pitchFamily="34" charset="-122"/>
                <a:cs typeface="맑은 고딕" pitchFamily="34" charset="-120"/>
              </a:rPr>
              <a:t>구간 소비전력량(kWh)  =  예측 소비율(kWh/100km)  ×  구간 거리(km)  ÷  100</a:t>
            </a:r>
            <a:endParaRPr lang="en-US" sz="1550" dirty="0"/>
          </a:p>
        </p:txBody>
      </p:sp>
      <p:sp>
        <p:nvSpPr>
          <p:cNvPr id="23" name="Shape 21"/>
          <p:cNvSpPr/>
          <p:nvPr/>
        </p:nvSpPr>
        <p:spPr>
          <a:xfrm>
            <a:off x="566928" y="5413248"/>
            <a:ext cx="11064240" cy="603504"/>
          </a:xfrm>
          <a:prstGeom prst="roundRect">
            <a:avLst>
              <a:gd name="adj" fmla="val 7576"/>
            </a:avLst>
          </a:prstGeom>
          <a:solidFill>
            <a:srgbClr val="FFFFFF"/>
          </a:solidFill>
          <a:ln w="12700">
            <a:solidFill>
              <a:srgbClr val="D8E8F0"/>
            </a:solidFill>
            <a:prstDash val="solid"/>
          </a:ln>
        </p:spPr>
        <p:txBody>
          <a:bodyPr/>
          <a:lstStyle/>
          <a:p>
            <a:endParaRPr lang="ko-KR" altLang="en-US"/>
          </a:p>
        </p:txBody>
      </p:sp>
      <p:sp>
        <p:nvSpPr>
          <p:cNvPr id="24" name="Text 22"/>
          <p:cNvSpPr txBox="1"/>
          <p:nvPr/>
        </p:nvSpPr>
        <p:spPr>
          <a:xfrm>
            <a:off x="566928" y="5413248"/>
            <a:ext cx="11064240" cy="603504"/>
          </a:xfrm>
          <a:prstGeom prst="rect">
            <a:avLst/>
          </a:prstGeom>
          <a:noFill/>
          <a:ln/>
        </p:spPr>
        <p:txBody>
          <a:bodyPr wrap="square" lIns="0" tIns="0" rIns="0" bIns="0" rtlCol="0" anchor="ctr"/>
          <a:lstStyle/>
          <a:p>
            <a:pPr marL="0" indent="0" algn="ctr">
              <a:buNone/>
            </a:pPr>
            <a:r>
              <a:rPr lang="en-US" sz="1400" dirty="0">
                <a:solidFill>
                  <a:srgbClr val="1A1A1A"/>
                </a:solidFill>
                <a:latin typeface="맑은 고딕" pitchFamily="34" charset="0"/>
                <a:ea typeface="맑은 고딕" pitchFamily="34" charset="-122"/>
                <a:cs typeface="맑은 고딕" pitchFamily="34" charset="-120"/>
              </a:rPr>
              <a:t>도착 예상 SOC(%)  =  현재 SOC(%)  −  경로 소비량(kWh)  ÷  사용 가능 배터리 용량(kWh)  ×  100</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3A5C"/>
        </a:solidFill>
        <a:effectLst/>
      </p:bgPr>
    </p:bg>
    <p:spTree>
      <p:nvGrpSpPr>
        <p:cNvPr id="1" name=""/>
        <p:cNvGrpSpPr/>
        <p:nvPr/>
      </p:nvGrpSpPr>
      <p:grpSpPr>
        <a:xfrm>
          <a:off x="0" y="0"/>
          <a:ext cx="0" cy="0"/>
          <a:chOff x="0" y="0"/>
          <a:chExt cx="0" cy="0"/>
        </a:xfrm>
      </p:grpSpPr>
      <p:sp>
        <p:nvSpPr>
          <p:cNvPr id="2" name="Shape 0"/>
          <p:cNvSpPr/>
          <p:nvPr/>
        </p:nvSpPr>
        <p:spPr>
          <a:xfrm>
            <a:off x="9966960" y="4023360"/>
            <a:ext cx="3108960" cy="3108960"/>
          </a:xfrm>
          <a:prstGeom prst="ellipse">
            <a:avLst/>
          </a:prstGeom>
          <a:solidFill>
            <a:srgbClr val="1C7293">
              <a:alpha val="20000"/>
            </a:srgbClr>
          </a:solidFill>
          <a:ln w="12700">
            <a:solidFill>
              <a:srgbClr val="1C7293">
                <a:alpha val="0"/>
              </a:srgbClr>
            </a:solidFill>
            <a:prstDash val="solid"/>
          </a:ln>
        </p:spPr>
        <p:txBody>
          <a:bodyPr/>
          <a:lstStyle/>
          <a:p>
            <a:endParaRPr lang="ko-KR" altLang="en-US"/>
          </a:p>
        </p:txBody>
      </p:sp>
      <p:sp>
        <p:nvSpPr>
          <p:cNvPr id="3" name="Text 1"/>
          <p:cNvSpPr txBox="1"/>
          <p:nvPr/>
        </p:nvSpPr>
        <p:spPr>
          <a:xfrm>
            <a:off x="658368" y="2286000"/>
            <a:ext cx="7315200" cy="292608"/>
          </a:xfrm>
          <a:prstGeom prst="rect">
            <a:avLst/>
          </a:prstGeom>
          <a:noFill/>
          <a:ln/>
        </p:spPr>
        <p:txBody>
          <a:bodyPr wrap="square" lIns="0" tIns="0" rIns="0" bIns="0" rtlCol="0" anchor="ctr"/>
          <a:lstStyle/>
          <a:p>
            <a:pPr marL="0" indent="0">
              <a:buNone/>
            </a:pPr>
            <a:r>
              <a:rPr lang="en-US" sz="1300" b="1" kern="0" spc="200" dirty="0">
                <a:solidFill>
                  <a:srgbClr val="9FC2D6"/>
                </a:solidFill>
                <a:latin typeface="맑은 고딕" pitchFamily="34" charset="0"/>
                <a:ea typeface="맑은 고딕" pitchFamily="34" charset="-122"/>
                <a:cs typeface="맑은 고딕" pitchFamily="34" charset="-120"/>
              </a:rPr>
              <a:t>PART 2</a:t>
            </a:r>
            <a:endParaRPr lang="en-US" sz="1300" dirty="0"/>
          </a:p>
        </p:txBody>
      </p:sp>
      <p:sp>
        <p:nvSpPr>
          <p:cNvPr id="4" name="Text 2"/>
          <p:cNvSpPr txBox="1"/>
          <p:nvPr/>
        </p:nvSpPr>
        <p:spPr>
          <a:xfrm>
            <a:off x="658368" y="2670048"/>
            <a:ext cx="8778240" cy="685800"/>
          </a:xfrm>
          <a:prstGeom prst="rect">
            <a:avLst/>
          </a:prstGeom>
          <a:noFill/>
          <a:ln/>
        </p:spPr>
        <p:txBody>
          <a:bodyPr wrap="square" lIns="0" tIns="0" rIns="0" bIns="0" rtlCol="0" anchor="ctr"/>
          <a:lstStyle/>
          <a:p>
            <a:pPr marL="0" indent="0">
              <a:buNone/>
            </a:pPr>
            <a:r>
              <a:rPr lang="en-US" sz="3400" b="1" dirty="0">
                <a:solidFill>
                  <a:srgbClr val="FFFFFF"/>
                </a:solidFill>
                <a:latin typeface="맑은 고딕" pitchFamily="34" charset="0"/>
                <a:ea typeface="맑은 고딕" pitchFamily="34" charset="-122"/>
                <a:cs typeface="맑은 고딕" pitchFamily="34" charset="-120"/>
              </a:rPr>
              <a:t>데이터 이해</a:t>
            </a:r>
            <a:endParaRPr lang="en-US" sz="3400" dirty="0"/>
          </a:p>
        </p:txBody>
      </p:sp>
      <p:sp>
        <p:nvSpPr>
          <p:cNvPr id="5" name="Text 3"/>
          <p:cNvSpPr txBox="1"/>
          <p:nvPr/>
        </p:nvSpPr>
        <p:spPr>
          <a:xfrm>
            <a:off x="658368" y="3520440"/>
            <a:ext cx="8778240" cy="365760"/>
          </a:xfrm>
          <a:prstGeom prst="rect">
            <a:avLst/>
          </a:prstGeom>
          <a:noFill/>
          <a:ln/>
        </p:spPr>
        <p:txBody>
          <a:bodyPr wrap="square" lIns="0" tIns="0" rIns="0" bIns="0" rtlCol="0" anchor="ctr"/>
          <a:lstStyle/>
          <a:p>
            <a:pPr marL="0" indent="0">
              <a:buNone/>
            </a:pPr>
            <a:r>
              <a:rPr lang="en-US" sz="1400" dirty="0">
                <a:solidFill>
                  <a:srgbClr val="D8E8F0"/>
                </a:solidFill>
                <a:latin typeface="맑은 고딕" pitchFamily="34" charset="0"/>
                <a:ea typeface="맑은 고딕" pitchFamily="34" charset="-122"/>
                <a:cs typeface="맑은 고딕" pitchFamily="34" charset="-120"/>
              </a:rPr>
              <a:t>구조와 품질 점검 · 목표변수 분포</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66928" y="365760"/>
            <a:ext cx="457200" cy="457200"/>
          </a:xfrm>
          <a:prstGeom prst="ellipse">
            <a:avLst/>
          </a:prstGeom>
          <a:solidFill>
            <a:srgbClr val="1C7293"/>
          </a:solidFill>
          <a:ln w="12700">
            <a:solidFill>
              <a:srgbClr val="1C7293"/>
            </a:solidFill>
            <a:prstDash val="solid"/>
          </a:ln>
        </p:spPr>
        <p:txBody>
          <a:bodyPr/>
          <a:lstStyle/>
          <a:p>
            <a:endParaRPr lang="ko-KR" altLang="en-US"/>
          </a:p>
        </p:txBody>
      </p:sp>
      <p:sp>
        <p:nvSpPr>
          <p:cNvPr id="3" name="Text 1"/>
          <p:cNvSpPr txBox="1"/>
          <p:nvPr/>
        </p:nvSpPr>
        <p:spPr>
          <a:xfrm>
            <a:off x="566928" y="3657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3</a:t>
            </a:r>
            <a:endParaRPr lang="en-US" sz="1600" dirty="0"/>
          </a:p>
        </p:txBody>
      </p:sp>
      <p:sp>
        <p:nvSpPr>
          <p:cNvPr id="4" name="Text 2"/>
          <p:cNvSpPr txBox="1"/>
          <p:nvPr/>
        </p:nvSpPr>
        <p:spPr>
          <a:xfrm>
            <a:off x="1152144" y="310896"/>
            <a:ext cx="10424160" cy="246888"/>
          </a:xfrm>
          <a:prstGeom prst="rect">
            <a:avLst/>
          </a:prstGeom>
          <a:noFill/>
          <a:ln/>
        </p:spPr>
        <p:txBody>
          <a:bodyPr wrap="square" lIns="0" tIns="0" rIns="0" bIns="0" rtlCol="0" anchor="ctr"/>
          <a:lstStyle/>
          <a:p>
            <a:pPr marL="0" indent="0">
              <a:buNone/>
            </a:pPr>
            <a:r>
              <a:rPr lang="en-US" sz="1150" b="1" kern="0" spc="100" dirty="0">
                <a:solidFill>
                  <a:srgbClr val="1C7293"/>
                </a:solidFill>
                <a:latin typeface="맑은 고딕" pitchFamily="34" charset="0"/>
                <a:ea typeface="맑은 고딕" pitchFamily="34" charset="-122"/>
                <a:cs typeface="맑은 고딕" pitchFamily="34" charset="-120"/>
              </a:rPr>
              <a:t>데이터 이해 · 구조와 품질 점검</a:t>
            </a:r>
            <a:endParaRPr lang="en-US" sz="1150" dirty="0"/>
          </a:p>
        </p:txBody>
      </p:sp>
      <p:sp>
        <p:nvSpPr>
          <p:cNvPr id="5" name="Text 3"/>
          <p:cNvSpPr txBox="1"/>
          <p:nvPr/>
        </p:nvSpPr>
        <p:spPr>
          <a:xfrm>
            <a:off x="1152144" y="566928"/>
            <a:ext cx="10469880" cy="530352"/>
          </a:xfrm>
          <a:prstGeom prst="rect">
            <a:avLst/>
          </a:prstGeom>
          <a:noFill/>
          <a:ln/>
        </p:spPr>
        <p:txBody>
          <a:bodyPr wrap="square" lIns="0" tIns="0" rIns="0" bIns="0" rtlCol="0" anchor="ctr"/>
          <a:lstStyle/>
          <a:p>
            <a:pPr marL="0" indent="0">
              <a:buNone/>
            </a:pPr>
            <a:r>
              <a:rPr lang="en-US" sz="2500" b="1" dirty="0">
                <a:solidFill>
                  <a:srgbClr val="0E3A5C"/>
                </a:solidFill>
                <a:latin typeface="맑은 고딕" pitchFamily="34" charset="0"/>
                <a:ea typeface="맑은 고딕" pitchFamily="34" charset="-122"/>
                <a:cs typeface="맑은 고딕" pitchFamily="34" charset="-120"/>
              </a:rPr>
              <a:t>결측치도 중복행도 없고, 전부 수치형이다</a:t>
            </a:r>
            <a:endParaRPr lang="en-US" sz="2500" dirty="0"/>
          </a:p>
        </p:txBody>
      </p:sp>
      <p:sp>
        <p:nvSpPr>
          <p:cNvPr id="6" name="Text 4"/>
          <p:cNvSpPr txBox="1"/>
          <p:nvPr/>
        </p:nvSpPr>
        <p:spPr>
          <a:xfrm>
            <a:off x="8686800" y="6519672"/>
            <a:ext cx="2926080" cy="274320"/>
          </a:xfrm>
          <a:prstGeom prst="rect">
            <a:avLst/>
          </a:prstGeom>
          <a:noFill/>
          <a:ln/>
        </p:spPr>
        <p:txBody>
          <a:bodyPr wrap="square" lIns="0" tIns="0" rIns="0" bIns="0" rtlCol="0" anchor="ctr"/>
          <a:lstStyle/>
          <a:p>
            <a:pPr marL="0" indent="0" algn="r">
              <a:buNone/>
            </a:pPr>
            <a:r>
              <a:rPr lang="en-US" sz="1000" dirty="0">
                <a:solidFill>
                  <a:srgbClr val="A8B4BE"/>
                </a:solidFill>
                <a:latin typeface="맑은 고딕" pitchFamily="34" charset="0"/>
                <a:ea typeface="맑은 고딕" pitchFamily="34" charset="-122"/>
                <a:cs typeface="맑은 고딕" pitchFamily="34" charset="-120"/>
              </a:rPr>
              <a:t>2. 데이터 이해</a:t>
            </a:r>
            <a:endParaRPr lang="en-US" sz="1000" dirty="0"/>
          </a:p>
        </p:txBody>
      </p:sp>
      <p:sp>
        <p:nvSpPr>
          <p:cNvPr id="7" name="Shape 5"/>
          <p:cNvSpPr/>
          <p:nvPr/>
        </p:nvSpPr>
        <p:spPr>
          <a:xfrm>
            <a:off x="566928" y="1325880"/>
            <a:ext cx="2084832" cy="914400"/>
          </a:xfrm>
          <a:prstGeom prst="roundRect">
            <a:avLst>
              <a:gd name="adj" fmla="val 5000"/>
            </a:avLst>
          </a:prstGeom>
          <a:solidFill>
            <a:srgbClr val="EFF6FA"/>
          </a:solidFill>
          <a:ln w="12700">
            <a:solidFill>
              <a:srgbClr val="D8E8F0"/>
            </a:solidFill>
            <a:prstDash val="solid"/>
          </a:ln>
        </p:spPr>
        <p:txBody>
          <a:bodyPr/>
          <a:lstStyle/>
          <a:p>
            <a:endParaRPr lang="ko-KR" altLang="en-US"/>
          </a:p>
        </p:txBody>
      </p:sp>
      <p:sp>
        <p:nvSpPr>
          <p:cNvPr id="8" name="Text 6"/>
          <p:cNvSpPr txBox="1"/>
          <p:nvPr/>
        </p:nvSpPr>
        <p:spPr>
          <a:xfrm>
            <a:off x="676656" y="1463040"/>
            <a:ext cx="1865376" cy="384048"/>
          </a:xfrm>
          <a:prstGeom prst="rect">
            <a:avLst/>
          </a:prstGeom>
          <a:noFill/>
          <a:ln/>
        </p:spPr>
        <p:txBody>
          <a:bodyPr wrap="square" lIns="0" tIns="0" rIns="0" bIns="0" rtlCol="0" anchor="ctr"/>
          <a:lstStyle/>
          <a:p>
            <a:pPr marL="0" indent="0" algn="ctr">
              <a:buNone/>
            </a:pPr>
            <a:r>
              <a:rPr lang="en-US" sz="1800" b="1" dirty="0">
                <a:solidFill>
                  <a:srgbClr val="0E3A5C"/>
                </a:solidFill>
                <a:latin typeface="맑은 고딕" pitchFamily="34" charset="0"/>
                <a:ea typeface="맑은 고딕" pitchFamily="34" charset="-122"/>
                <a:cs typeface="맑은 고딕" pitchFamily="34" charset="-120"/>
              </a:rPr>
              <a:t>8,000 × 10</a:t>
            </a:r>
            <a:endParaRPr lang="en-US" sz="1800" dirty="0"/>
          </a:p>
        </p:txBody>
      </p:sp>
      <p:sp>
        <p:nvSpPr>
          <p:cNvPr id="9" name="Text 7"/>
          <p:cNvSpPr txBox="1"/>
          <p:nvPr/>
        </p:nvSpPr>
        <p:spPr>
          <a:xfrm>
            <a:off x="676656" y="1847088"/>
            <a:ext cx="1865376" cy="274320"/>
          </a:xfrm>
          <a:prstGeom prst="rect">
            <a:avLst/>
          </a:prstGeom>
          <a:noFill/>
          <a:ln/>
        </p:spPr>
        <p:txBody>
          <a:bodyPr wrap="square" lIns="0" tIns="0" rIns="0" bIns="0" rtlCol="0" anchor="ctr"/>
          <a:lstStyle/>
          <a:p>
            <a:pPr marL="0" indent="0" algn="ctr">
              <a:buNone/>
            </a:pPr>
            <a:r>
              <a:rPr lang="en-US" sz="1100" dirty="0">
                <a:solidFill>
                  <a:srgbClr val="5F6B78"/>
                </a:solidFill>
                <a:latin typeface="맑은 고딕" pitchFamily="34" charset="0"/>
                <a:ea typeface="맑은 고딕" pitchFamily="34" charset="-122"/>
                <a:cs typeface="맑은 고딕" pitchFamily="34" charset="-120"/>
              </a:rPr>
              <a:t>행 × 열</a:t>
            </a:r>
            <a:endParaRPr lang="en-US" sz="1100" dirty="0"/>
          </a:p>
        </p:txBody>
      </p:sp>
      <p:sp>
        <p:nvSpPr>
          <p:cNvPr id="10" name="Shape 8"/>
          <p:cNvSpPr/>
          <p:nvPr/>
        </p:nvSpPr>
        <p:spPr>
          <a:xfrm>
            <a:off x="2798064" y="1325880"/>
            <a:ext cx="2084832" cy="914400"/>
          </a:xfrm>
          <a:prstGeom prst="roundRect">
            <a:avLst>
              <a:gd name="adj" fmla="val 5000"/>
            </a:avLst>
          </a:prstGeom>
          <a:solidFill>
            <a:srgbClr val="EFF6FA"/>
          </a:solidFill>
          <a:ln w="12700">
            <a:solidFill>
              <a:srgbClr val="D8E8F0"/>
            </a:solidFill>
            <a:prstDash val="solid"/>
          </a:ln>
        </p:spPr>
        <p:txBody>
          <a:bodyPr/>
          <a:lstStyle/>
          <a:p>
            <a:endParaRPr lang="ko-KR" altLang="en-US"/>
          </a:p>
        </p:txBody>
      </p:sp>
      <p:sp>
        <p:nvSpPr>
          <p:cNvPr id="11" name="Text 9"/>
          <p:cNvSpPr txBox="1"/>
          <p:nvPr/>
        </p:nvSpPr>
        <p:spPr>
          <a:xfrm>
            <a:off x="2907792" y="1463040"/>
            <a:ext cx="1865376" cy="384048"/>
          </a:xfrm>
          <a:prstGeom prst="rect">
            <a:avLst/>
          </a:prstGeom>
          <a:noFill/>
          <a:ln/>
        </p:spPr>
        <p:txBody>
          <a:bodyPr wrap="square" lIns="0" tIns="0" rIns="0" bIns="0" rtlCol="0" anchor="ctr"/>
          <a:lstStyle/>
          <a:p>
            <a:pPr marL="0" indent="0" algn="ctr">
              <a:buNone/>
            </a:pPr>
            <a:r>
              <a:rPr lang="en-US" sz="1800" b="1" dirty="0">
                <a:solidFill>
                  <a:srgbClr val="0E3A5C"/>
                </a:solidFill>
                <a:latin typeface="맑은 고딕" pitchFamily="34" charset="0"/>
                <a:ea typeface="맑은 고딕" pitchFamily="34" charset="-122"/>
                <a:cs typeface="맑은 고딕" pitchFamily="34" charset="-120"/>
              </a:rPr>
              <a:t>9 / 1</a:t>
            </a:r>
            <a:endParaRPr lang="en-US" sz="1800" dirty="0"/>
          </a:p>
        </p:txBody>
      </p:sp>
      <p:sp>
        <p:nvSpPr>
          <p:cNvPr id="12" name="Text 10"/>
          <p:cNvSpPr txBox="1"/>
          <p:nvPr/>
        </p:nvSpPr>
        <p:spPr>
          <a:xfrm>
            <a:off x="2907792" y="1847088"/>
            <a:ext cx="1865376" cy="274320"/>
          </a:xfrm>
          <a:prstGeom prst="rect">
            <a:avLst/>
          </a:prstGeom>
          <a:noFill/>
          <a:ln/>
        </p:spPr>
        <p:txBody>
          <a:bodyPr wrap="square" lIns="0" tIns="0" rIns="0" bIns="0" rtlCol="0" anchor="ctr"/>
          <a:lstStyle/>
          <a:p>
            <a:pPr marL="0" indent="0" algn="ctr">
              <a:buNone/>
            </a:pPr>
            <a:r>
              <a:rPr lang="en-US" sz="1100" dirty="0">
                <a:solidFill>
                  <a:srgbClr val="5F6B78"/>
                </a:solidFill>
                <a:latin typeface="맑은 고딕" pitchFamily="34" charset="0"/>
                <a:ea typeface="맑은 고딕" pitchFamily="34" charset="-122"/>
                <a:cs typeface="맑은 고딕" pitchFamily="34" charset="-120"/>
              </a:rPr>
              <a:t>독립변수 / 종속변수</a:t>
            </a:r>
            <a:endParaRPr lang="en-US" sz="1100" dirty="0"/>
          </a:p>
        </p:txBody>
      </p:sp>
      <p:sp>
        <p:nvSpPr>
          <p:cNvPr id="13" name="Shape 11"/>
          <p:cNvSpPr/>
          <p:nvPr/>
        </p:nvSpPr>
        <p:spPr>
          <a:xfrm>
            <a:off x="5029200" y="1325880"/>
            <a:ext cx="2084832" cy="914400"/>
          </a:xfrm>
          <a:prstGeom prst="roundRect">
            <a:avLst>
              <a:gd name="adj" fmla="val 5000"/>
            </a:avLst>
          </a:prstGeom>
          <a:solidFill>
            <a:srgbClr val="D8E8F0"/>
          </a:solidFill>
          <a:ln w="12700">
            <a:solidFill>
              <a:srgbClr val="D8E8F0"/>
            </a:solidFill>
            <a:prstDash val="solid"/>
          </a:ln>
        </p:spPr>
        <p:txBody>
          <a:bodyPr/>
          <a:lstStyle/>
          <a:p>
            <a:endParaRPr lang="ko-KR" altLang="en-US"/>
          </a:p>
        </p:txBody>
      </p:sp>
      <p:sp>
        <p:nvSpPr>
          <p:cNvPr id="14" name="Text 12"/>
          <p:cNvSpPr txBox="1"/>
          <p:nvPr/>
        </p:nvSpPr>
        <p:spPr>
          <a:xfrm>
            <a:off x="5138928" y="1463040"/>
            <a:ext cx="1865376" cy="384048"/>
          </a:xfrm>
          <a:prstGeom prst="rect">
            <a:avLst/>
          </a:prstGeom>
          <a:noFill/>
          <a:ln/>
        </p:spPr>
        <p:txBody>
          <a:bodyPr wrap="square" lIns="0" tIns="0" rIns="0" bIns="0" rtlCol="0" anchor="ctr"/>
          <a:lstStyle/>
          <a:p>
            <a:pPr marL="0" indent="0" algn="ctr">
              <a:buNone/>
            </a:pPr>
            <a:r>
              <a:rPr lang="en-US" sz="1800" b="1" dirty="0">
                <a:solidFill>
                  <a:srgbClr val="0E3A5C"/>
                </a:solidFill>
                <a:latin typeface="맑은 고딕" pitchFamily="34" charset="0"/>
                <a:ea typeface="맑은 고딕" pitchFamily="34" charset="-122"/>
                <a:cs typeface="맑은 고딕" pitchFamily="34" charset="-120"/>
              </a:rPr>
              <a:t>0건</a:t>
            </a:r>
            <a:endParaRPr lang="en-US" sz="1800" dirty="0"/>
          </a:p>
        </p:txBody>
      </p:sp>
      <p:sp>
        <p:nvSpPr>
          <p:cNvPr id="15" name="Text 13"/>
          <p:cNvSpPr txBox="1"/>
          <p:nvPr/>
        </p:nvSpPr>
        <p:spPr>
          <a:xfrm>
            <a:off x="5138928" y="1847088"/>
            <a:ext cx="1865376" cy="274320"/>
          </a:xfrm>
          <a:prstGeom prst="rect">
            <a:avLst/>
          </a:prstGeom>
          <a:noFill/>
          <a:ln/>
        </p:spPr>
        <p:txBody>
          <a:bodyPr wrap="square" lIns="0" tIns="0" rIns="0" bIns="0" rtlCol="0" anchor="ctr"/>
          <a:lstStyle/>
          <a:p>
            <a:pPr marL="0" indent="0" algn="ctr">
              <a:buNone/>
            </a:pPr>
            <a:r>
              <a:rPr lang="en-US" sz="1100" dirty="0">
                <a:solidFill>
                  <a:srgbClr val="5F6B78"/>
                </a:solidFill>
                <a:latin typeface="맑은 고딕" pitchFamily="34" charset="0"/>
                <a:ea typeface="맑은 고딕" pitchFamily="34" charset="-122"/>
                <a:cs typeface="맑은 고딕" pitchFamily="34" charset="-120"/>
              </a:rPr>
              <a:t>결측치</a:t>
            </a:r>
            <a:endParaRPr lang="en-US" sz="1100" dirty="0"/>
          </a:p>
        </p:txBody>
      </p:sp>
      <p:sp>
        <p:nvSpPr>
          <p:cNvPr id="16" name="Shape 14"/>
          <p:cNvSpPr/>
          <p:nvPr/>
        </p:nvSpPr>
        <p:spPr>
          <a:xfrm>
            <a:off x="7260336" y="1325880"/>
            <a:ext cx="2084832" cy="914400"/>
          </a:xfrm>
          <a:prstGeom prst="roundRect">
            <a:avLst>
              <a:gd name="adj" fmla="val 5000"/>
            </a:avLst>
          </a:prstGeom>
          <a:solidFill>
            <a:srgbClr val="D8E8F0"/>
          </a:solidFill>
          <a:ln w="12700">
            <a:solidFill>
              <a:srgbClr val="D8E8F0"/>
            </a:solidFill>
            <a:prstDash val="solid"/>
          </a:ln>
        </p:spPr>
        <p:txBody>
          <a:bodyPr/>
          <a:lstStyle/>
          <a:p>
            <a:endParaRPr lang="ko-KR" altLang="en-US"/>
          </a:p>
        </p:txBody>
      </p:sp>
      <p:sp>
        <p:nvSpPr>
          <p:cNvPr id="17" name="Text 15"/>
          <p:cNvSpPr txBox="1"/>
          <p:nvPr/>
        </p:nvSpPr>
        <p:spPr>
          <a:xfrm>
            <a:off x="7370064" y="1463040"/>
            <a:ext cx="1865376" cy="384048"/>
          </a:xfrm>
          <a:prstGeom prst="rect">
            <a:avLst/>
          </a:prstGeom>
          <a:noFill/>
          <a:ln/>
        </p:spPr>
        <p:txBody>
          <a:bodyPr wrap="square" lIns="0" tIns="0" rIns="0" bIns="0" rtlCol="0" anchor="ctr"/>
          <a:lstStyle/>
          <a:p>
            <a:pPr marL="0" indent="0" algn="ctr">
              <a:buNone/>
            </a:pPr>
            <a:r>
              <a:rPr lang="en-US" sz="1800" b="1" dirty="0">
                <a:solidFill>
                  <a:srgbClr val="0E3A5C"/>
                </a:solidFill>
                <a:latin typeface="맑은 고딕" pitchFamily="34" charset="0"/>
                <a:ea typeface="맑은 고딕" pitchFamily="34" charset="-122"/>
                <a:cs typeface="맑은 고딕" pitchFamily="34" charset="-120"/>
              </a:rPr>
              <a:t>0건</a:t>
            </a:r>
            <a:endParaRPr lang="en-US" sz="1800" dirty="0"/>
          </a:p>
        </p:txBody>
      </p:sp>
      <p:sp>
        <p:nvSpPr>
          <p:cNvPr id="18" name="Text 16"/>
          <p:cNvSpPr txBox="1"/>
          <p:nvPr/>
        </p:nvSpPr>
        <p:spPr>
          <a:xfrm>
            <a:off x="7370064" y="1847088"/>
            <a:ext cx="1865376" cy="274320"/>
          </a:xfrm>
          <a:prstGeom prst="rect">
            <a:avLst/>
          </a:prstGeom>
          <a:noFill/>
          <a:ln/>
        </p:spPr>
        <p:txBody>
          <a:bodyPr wrap="square" lIns="0" tIns="0" rIns="0" bIns="0" rtlCol="0" anchor="ctr"/>
          <a:lstStyle/>
          <a:p>
            <a:pPr marL="0" indent="0" algn="ctr">
              <a:buNone/>
            </a:pPr>
            <a:r>
              <a:rPr lang="en-US" sz="1100" dirty="0">
                <a:solidFill>
                  <a:srgbClr val="5F6B78"/>
                </a:solidFill>
                <a:latin typeface="맑은 고딕" pitchFamily="34" charset="0"/>
                <a:ea typeface="맑은 고딕" pitchFamily="34" charset="-122"/>
                <a:cs typeface="맑은 고딕" pitchFamily="34" charset="-120"/>
              </a:rPr>
              <a:t>중복행</a:t>
            </a:r>
            <a:endParaRPr lang="en-US" sz="1100" dirty="0"/>
          </a:p>
        </p:txBody>
      </p:sp>
      <p:sp>
        <p:nvSpPr>
          <p:cNvPr id="19" name="Shape 17"/>
          <p:cNvSpPr/>
          <p:nvPr/>
        </p:nvSpPr>
        <p:spPr>
          <a:xfrm>
            <a:off x="9491472" y="1325880"/>
            <a:ext cx="2084832" cy="914400"/>
          </a:xfrm>
          <a:prstGeom prst="roundRect">
            <a:avLst>
              <a:gd name="adj" fmla="val 5000"/>
            </a:avLst>
          </a:prstGeom>
          <a:solidFill>
            <a:srgbClr val="EFF6FA"/>
          </a:solidFill>
          <a:ln w="12700">
            <a:solidFill>
              <a:srgbClr val="D8E8F0"/>
            </a:solidFill>
            <a:prstDash val="solid"/>
          </a:ln>
        </p:spPr>
        <p:txBody>
          <a:bodyPr/>
          <a:lstStyle/>
          <a:p>
            <a:endParaRPr lang="ko-KR" altLang="en-US"/>
          </a:p>
        </p:txBody>
      </p:sp>
      <p:sp>
        <p:nvSpPr>
          <p:cNvPr id="20" name="Text 18"/>
          <p:cNvSpPr txBox="1"/>
          <p:nvPr/>
        </p:nvSpPr>
        <p:spPr>
          <a:xfrm>
            <a:off x="9601200" y="1463040"/>
            <a:ext cx="1865376" cy="384048"/>
          </a:xfrm>
          <a:prstGeom prst="rect">
            <a:avLst/>
          </a:prstGeom>
          <a:noFill/>
          <a:ln/>
        </p:spPr>
        <p:txBody>
          <a:bodyPr wrap="square" lIns="0" tIns="0" rIns="0" bIns="0" rtlCol="0" anchor="ctr"/>
          <a:lstStyle/>
          <a:p>
            <a:pPr marL="0" indent="0" algn="ctr">
              <a:buNone/>
            </a:pPr>
            <a:r>
              <a:rPr lang="en-US" sz="1800" b="1" dirty="0">
                <a:solidFill>
                  <a:srgbClr val="0E3A5C"/>
                </a:solidFill>
                <a:latin typeface="맑은 고딕" pitchFamily="34" charset="0"/>
                <a:ea typeface="맑은 고딕" pitchFamily="34" charset="-122"/>
                <a:cs typeface="맑은 고딕" pitchFamily="34" charset="-120"/>
              </a:rPr>
              <a:t>float64</a:t>
            </a:r>
            <a:endParaRPr lang="en-US" sz="1800" dirty="0"/>
          </a:p>
        </p:txBody>
      </p:sp>
      <p:sp>
        <p:nvSpPr>
          <p:cNvPr id="21" name="Text 19"/>
          <p:cNvSpPr txBox="1"/>
          <p:nvPr/>
        </p:nvSpPr>
        <p:spPr>
          <a:xfrm>
            <a:off x="9601200" y="1847088"/>
            <a:ext cx="1865376" cy="274320"/>
          </a:xfrm>
          <a:prstGeom prst="rect">
            <a:avLst/>
          </a:prstGeom>
          <a:noFill/>
          <a:ln/>
        </p:spPr>
        <p:txBody>
          <a:bodyPr wrap="square" lIns="0" tIns="0" rIns="0" bIns="0" rtlCol="0" anchor="ctr"/>
          <a:lstStyle/>
          <a:p>
            <a:pPr marL="0" indent="0" algn="ctr">
              <a:buNone/>
            </a:pPr>
            <a:r>
              <a:rPr lang="en-US" sz="1100" dirty="0">
                <a:solidFill>
                  <a:srgbClr val="5F6B78"/>
                </a:solidFill>
                <a:latin typeface="맑은 고딕" pitchFamily="34" charset="0"/>
                <a:ea typeface="맑은 고딕" pitchFamily="34" charset="-122"/>
                <a:cs typeface="맑은 고딕" pitchFamily="34" charset="-120"/>
              </a:rPr>
              <a:t>전체 자료형</a:t>
            </a:r>
            <a:endParaRPr lang="en-US" sz="1100" dirty="0"/>
          </a:p>
        </p:txBody>
      </p:sp>
      <p:sp>
        <p:nvSpPr>
          <p:cNvPr id="22" name="Text 20"/>
          <p:cNvSpPr txBox="1"/>
          <p:nvPr/>
        </p:nvSpPr>
        <p:spPr>
          <a:xfrm>
            <a:off x="566928" y="2450592"/>
            <a:ext cx="5486400" cy="292608"/>
          </a:xfrm>
          <a:prstGeom prst="rect">
            <a:avLst/>
          </a:prstGeom>
          <a:noFill/>
          <a:ln/>
        </p:spPr>
        <p:txBody>
          <a:bodyPr wrap="square" lIns="0" tIns="0" rIns="0" bIns="0" rtlCol="0" anchor="ctr"/>
          <a:lstStyle/>
          <a:p>
            <a:pPr marL="0" indent="0">
              <a:buNone/>
            </a:pPr>
            <a:r>
              <a:rPr lang="en-US" sz="1500" b="1" dirty="0">
                <a:solidFill>
                  <a:srgbClr val="0E3A5C"/>
                </a:solidFill>
                <a:latin typeface="맑은 고딕" pitchFamily="34" charset="0"/>
                <a:ea typeface="맑은 고딕" pitchFamily="34" charset="-122"/>
                <a:cs typeface="맑은 고딕" pitchFamily="34" charset="-120"/>
              </a:rPr>
              <a:t>변수 구성과 관측 범위</a:t>
            </a:r>
            <a:endParaRPr lang="en-US" sz="15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66928" y="2743200"/>
          <a:ext cx="11064240" cy="2319020"/>
        </p:xfrm>
        <a:graphic>
          <a:graphicData uri="http://schemas.openxmlformats.org/drawingml/2006/table">
            <a:tbl>
              <a:tblPr/>
              <a:tblGrid>
                <a:gridCol w="32004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3566160">
                  <a:extLst>
                    <a:ext uri="{9D8B030D-6E8A-4147-A177-3AD203B41FA5}">
                      <a16:colId xmlns:a16="http://schemas.microsoft.com/office/drawing/2014/main" val="20003"/>
                    </a:ext>
                  </a:extLst>
                </a:gridCol>
              </a:tblGrid>
              <a:tr h="201168">
                <a:tc>
                  <a:txBody>
                    <a:bodyPr/>
                    <a:lstStyle/>
                    <a:p>
                      <a:pPr marL="0" indent="0" algn="ctr">
                        <a:buNone/>
                      </a:pPr>
                      <a:r>
                        <a:rPr lang="en-US" sz="1050" b="1" dirty="0">
                          <a:solidFill>
                            <a:srgbClr val="0E3A5C"/>
                          </a:solidFill>
                          <a:latin typeface="맑은 고딕" pitchFamily="34" charset="0"/>
                          <a:ea typeface="맑은 고딕" pitchFamily="34" charset="-122"/>
                          <a:cs typeface="맑은 고딕" pitchFamily="34" charset="-120"/>
                        </a:rPr>
                        <a:t>변수</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050" b="1" dirty="0">
                          <a:solidFill>
                            <a:srgbClr val="0E3A5C"/>
                          </a:solidFill>
                          <a:latin typeface="맑은 고딕" pitchFamily="34" charset="0"/>
                          <a:ea typeface="맑은 고딕" pitchFamily="34" charset="-122"/>
                          <a:cs typeface="맑은 고딕" pitchFamily="34" charset="-120"/>
                        </a:rPr>
                        <a:t>의미</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050" b="1" dirty="0">
                          <a:solidFill>
                            <a:srgbClr val="0E3A5C"/>
                          </a:solidFill>
                          <a:latin typeface="맑은 고딕" pitchFamily="34" charset="0"/>
                          <a:ea typeface="맑은 고딕" pitchFamily="34" charset="-122"/>
                          <a:cs typeface="맑은 고딕" pitchFamily="34" charset="-120"/>
                        </a:rPr>
                        <a:t>역할</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050" b="1" dirty="0">
                          <a:solidFill>
                            <a:srgbClr val="0E3A5C"/>
                          </a:solidFill>
                          <a:latin typeface="맑은 고딕" pitchFamily="34" charset="0"/>
                          <a:ea typeface="맑은 고딕" pitchFamily="34" charset="-122"/>
                          <a:cs typeface="맑은 고딕" pitchFamily="34" charset="-120"/>
                        </a:rPr>
                        <a:t>관측 범위</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extLst>
                  <a:ext uri="{0D108BD9-81ED-4DB2-BD59-A6C34878D82A}">
                    <a16:rowId xmlns:a16="http://schemas.microsoft.com/office/drawing/2014/main" val="10000"/>
                  </a:ext>
                </a:extLst>
              </a:tr>
              <a:tr h="201168">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speed_kmh</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주행 속도</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독립변수</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20.0 ~ 130.0 km/h</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01168">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payload_kg</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탑승자·화물 하중</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독립변수</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0.0 ~ 500.0 kg</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01168">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ambient_temp_C</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외부 기온</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독립변수</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-10.0 ~ 40.0 °C</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01168">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hvac_power_kw</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냉난방 사용 전력</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독립변수</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0.0 ~ 5.0 kW</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01168">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road_grade_pct</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도로 경사도</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독립변수</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-5.0 ~ 8.0 %</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01168">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battery_temp_C</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배터리 온도</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독립변수</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15.0 ~ 45.0 °C</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01168">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driving_style_index</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운전 스타일 지수</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독립변수</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0.0 ~ 1.0</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01168">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tire_pressure_bar</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타이어 공기압</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독립변수</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2.0 ~ 2.8 bar</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01168">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trip_distance_km</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주행 거리</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독립변수</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5.1 ~ 200.0 km</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01168">
                <a:tc>
                  <a:txBody>
                    <a:bodyPr/>
                    <a:lstStyle/>
                    <a:p>
                      <a:pPr marL="0" indent="0" algn="l">
                        <a:buNone/>
                      </a:pPr>
                      <a:r>
                        <a:rPr lang="en-US" sz="1050" b="1" dirty="0">
                          <a:solidFill>
                            <a:srgbClr val="0E3A5C"/>
                          </a:solidFill>
                          <a:latin typeface="맑은 고딕" pitchFamily="34" charset="0"/>
                          <a:ea typeface="맑은 고딕" pitchFamily="34" charset="-122"/>
                          <a:cs typeface="맑은 고딕" pitchFamily="34" charset="-120"/>
                        </a:rPr>
                        <a:t>energy_consumption_kwhper100km</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tc>
                  <a:txBody>
                    <a:bodyPr/>
                    <a:lstStyle/>
                    <a:p>
                      <a:pPr marL="0" indent="0" algn="l">
                        <a:buNone/>
                      </a:pPr>
                      <a:r>
                        <a:rPr lang="en-US" sz="1050" b="1" dirty="0">
                          <a:solidFill>
                            <a:srgbClr val="0E3A5C"/>
                          </a:solidFill>
                          <a:latin typeface="맑은 고딕" pitchFamily="34" charset="0"/>
                          <a:ea typeface="맑은 고딕" pitchFamily="34" charset="-122"/>
                          <a:cs typeface="맑은 고딕" pitchFamily="34" charset="-120"/>
                        </a:rPr>
                        <a:t>100km당 에너지 소비율</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tc>
                  <a:txBody>
                    <a:bodyPr/>
                    <a:lstStyle/>
                    <a:p>
                      <a:pPr marL="0" indent="0" algn="l">
                        <a:buNone/>
                      </a:pPr>
                      <a:r>
                        <a:rPr lang="en-US" sz="1050" b="1" dirty="0">
                          <a:solidFill>
                            <a:srgbClr val="0E3A5C"/>
                          </a:solidFill>
                          <a:latin typeface="맑은 고딕" pitchFamily="34" charset="0"/>
                          <a:ea typeface="맑은 고딕" pitchFamily="34" charset="-122"/>
                          <a:cs typeface="맑은 고딕" pitchFamily="34" charset="-120"/>
                        </a:rPr>
                        <a:t>종속변수</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tc>
                  <a:txBody>
                    <a:bodyPr/>
                    <a:lstStyle/>
                    <a:p>
                      <a:pPr marL="0" indent="0" algn="l">
                        <a:buNone/>
                      </a:pPr>
                      <a:r>
                        <a:rPr lang="en-US" sz="1050" b="1" dirty="0">
                          <a:solidFill>
                            <a:srgbClr val="0E3A5C"/>
                          </a:solidFill>
                          <a:latin typeface="맑은 고딕" pitchFamily="34" charset="0"/>
                          <a:ea typeface="맑은 고딕" pitchFamily="34" charset="-122"/>
                          <a:cs typeface="맑은 고딕" pitchFamily="34" charset="-120"/>
                        </a:rPr>
                        <a:t>11.62 ~ 35.00 kWh/100km</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extLst>
                  <a:ext uri="{0D108BD9-81ED-4DB2-BD59-A6C34878D82A}">
                    <a16:rowId xmlns:a16="http://schemas.microsoft.com/office/drawing/2014/main" val="10010"/>
                  </a:ext>
                </a:extLst>
              </a:tr>
            </a:tbl>
          </a:graphicData>
        </a:graphic>
      </p:graphicFrame>
      <p:sp>
        <p:nvSpPr>
          <p:cNvPr id="24" name="Shape 21"/>
          <p:cNvSpPr/>
          <p:nvPr/>
        </p:nvSpPr>
        <p:spPr>
          <a:xfrm>
            <a:off x="566928" y="5797296"/>
            <a:ext cx="11064240" cy="548640"/>
          </a:xfrm>
          <a:prstGeom prst="roundRect">
            <a:avLst>
              <a:gd name="adj" fmla="val 8333"/>
            </a:avLst>
          </a:prstGeom>
          <a:solidFill>
            <a:srgbClr val="D8E8F0"/>
          </a:solidFill>
          <a:ln w="12700">
            <a:solidFill>
              <a:srgbClr val="1C7293"/>
            </a:solidFill>
            <a:prstDash val="solid"/>
          </a:ln>
        </p:spPr>
        <p:txBody>
          <a:bodyPr/>
          <a:lstStyle/>
          <a:p>
            <a:endParaRPr lang="ko-KR" altLang="en-US"/>
          </a:p>
        </p:txBody>
      </p:sp>
      <p:sp>
        <p:nvSpPr>
          <p:cNvPr id="25" name="Text 22"/>
          <p:cNvSpPr txBox="1"/>
          <p:nvPr/>
        </p:nvSpPr>
        <p:spPr>
          <a:xfrm>
            <a:off x="804672" y="5797296"/>
            <a:ext cx="10588752" cy="548640"/>
          </a:xfrm>
          <a:prstGeom prst="rect">
            <a:avLst/>
          </a:prstGeom>
          <a:noFill/>
          <a:ln/>
        </p:spPr>
        <p:txBody>
          <a:bodyPr wrap="square" lIns="0" tIns="0" rIns="0" bIns="0" rtlCol="0" anchor="ctr"/>
          <a:lstStyle/>
          <a:p>
            <a:pPr marL="0" indent="0">
              <a:lnSpc>
                <a:spcPts val="1900"/>
              </a:lnSpc>
              <a:buNone/>
            </a:pPr>
            <a:r>
              <a:rPr lang="en-US" sz="1300" b="1" dirty="0">
                <a:solidFill>
                  <a:srgbClr val="0E3A5C"/>
                </a:solidFill>
                <a:latin typeface="맑은 고딕" pitchFamily="34" charset="0"/>
                <a:ea typeface="맑은 고딕" pitchFamily="34" charset="-122"/>
                <a:cs typeface="맑은 고딕" pitchFamily="34" charset="-120"/>
              </a:rPr>
              <a:t>그래서 생략한 처리   </a:t>
            </a:r>
            <a:r>
              <a:rPr lang="en-US" sz="1300" dirty="0">
                <a:solidFill>
                  <a:srgbClr val="1A1A1A"/>
                </a:solidFill>
                <a:latin typeface="맑은 고딕" pitchFamily="34" charset="0"/>
                <a:ea typeface="맑은 고딕" pitchFamily="34" charset="-122"/>
                <a:cs typeface="맑은 고딕" pitchFamily="34" charset="-120"/>
              </a:rPr>
              <a:t>결측치 대체와 범주형 인코딩은 대상이 없어 적용하지 않았다. 불필요한 대체는 오히려 분포를 왜곡한다.</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66928" y="365760"/>
            <a:ext cx="457200" cy="457200"/>
          </a:xfrm>
          <a:prstGeom prst="ellipse">
            <a:avLst/>
          </a:prstGeom>
          <a:solidFill>
            <a:srgbClr val="1C7293"/>
          </a:solidFill>
          <a:ln w="12700">
            <a:solidFill>
              <a:srgbClr val="1C7293"/>
            </a:solidFill>
            <a:prstDash val="solid"/>
          </a:ln>
        </p:spPr>
        <p:txBody>
          <a:bodyPr/>
          <a:lstStyle/>
          <a:p>
            <a:endParaRPr lang="ko-KR" altLang="en-US"/>
          </a:p>
        </p:txBody>
      </p:sp>
      <p:sp>
        <p:nvSpPr>
          <p:cNvPr id="3" name="Text 1"/>
          <p:cNvSpPr txBox="1"/>
          <p:nvPr/>
        </p:nvSpPr>
        <p:spPr>
          <a:xfrm>
            <a:off x="566928" y="3657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5</a:t>
            </a:r>
            <a:endParaRPr lang="en-US" sz="1600" dirty="0"/>
          </a:p>
        </p:txBody>
      </p:sp>
      <p:sp>
        <p:nvSpPr>
          <p:cNvPr id="4" name="Text 2"/>
          <p:cNvSpPr txBox="1"/>
          <p:nvPr/>
        </p:nvSpPr>
        <p:spPr>
          <a:xfrm>
            <a:off x="1152144" y="310896"/>
            <a:ext cx="10424160" cy="246888"/>
          </a:xfrm>
          <a:prstGeom prst="rect">
            <a:avLst/>
          </a:prstGeom>
          <a:noFill/>
          <a:ln/>
        </p:spPr>
        <p:txBody>
          <a:bodyPr wrap="square" lIns="0" tIns="0" rIns="0" bIns="0" rtlCol="0" anchor="ctr"/>
          <a:lstStyle/>
          <a:p>
            <a:pPr marL="0" indent="0">
              <a:buNone/>
            </a:pPr>
            <a:r>
              <a:rPr lang="en-US" sz="1150" b="1" kern="0" spc="100" dirty="0">
                <a:solidFill>
                  <a:srgbClr val="1C7293"/>
                </a:solidFill>
                <a:latin typeface="맑은 고딕" pitchFamily="34" charset="0"/>
                <a:ea typeface="맑은 고딕" pitchFamily="34" charset="-122"/>
                <a:cs typeface="맑은 고딕" pitchFamily="34" charset="-120"/>
              </a:rPr>
              <a:t>데이터 이해 · 목표변수 분포</a:t>
            </a:r>
            <a:endParaRPr lang="en-US" sz="1150" dirty="0"/>
          </a:p>
        </p:txBody>
      </p:sp>
      <p:sp>
        <p:nvSpPr>
          <p:cNvPr id="5" name="Text 3"/>
          <p:cNvSpPr txBox="1"/>
          <p:nvPr/>
        </p:nvSpPr>
        <p:spPr>
          <a:xfrm>
            <a:off x="1152144" y="566928"/>
            <a:ext cx="10469880" cy="530352"/>
          </a:xfrm>
          <a:prstGeom prst="rect">
            <a:avLst/>
          </a:prstGeom>
          <a:noFill/>
          <a:ln/>
        </p:spPr>
        <p:txBody>
          <a:bodyPr wrap="square" lIns="0" tIns="0" rIns="0" bIns="0" rtlCol="0" anchor="ctr"/>
          <a:lstStyle/>
          <a:p>
            <a:pPr marL="0" indent="0">
              <a:buNone/>
            </a:pPr>
            <a:r>
              <a:rPr lang="en-US" sz="2500" b="1" dirty="0">
                <a:solidFill>
                  <a:srgbClr val="0E3A5C"/>
                </a:solidFill>
                <a:latin typeface="맑은 고딕" pitchFamily="34" charset="0"/>
                <a:ea typeface="맑은 고딕" pitchFamily="34" charset="-122"/>
                <a:cs typeface="맑은 고딕" pitchFamily="34" charset="-120"/>
              </a:rPr>
              <a:t>목표변수는 좌우로 치우치지 않았다</a:t>
            </a:r>
            <a:endParaRPr lang="en-US" sz="2500" dirty="0"/>
          </a:p>
        </p:txBody>
      </p:sp>
      <p:sp>
        <p:nvSpPr>
          <p:cNvPr id="6" name="Text 4"/>
          <p:cNvSpPr txBox="1"/>
          <p:nvPr/>
        </p:nvSpPr>
        <p:spPr>
          <a:xfrm>
            <a:off x="8686800" y="6519672"/>
            <a:ext cx="2926080" cy="274320"/>
          </a:xfrm>
          <a:prstGeom prst="rect">
            <a:avLst/>
          </a:prstGeom>
          <a:noFill/>
          <a:ln/>
        </p:spPr>
        <p:txBody>
          <a:bodyPr wrap="square" lIns="0" tIns="0" rIns="0" bIns="0" rtlCol="0" anchor="ctr"/>
          <a:lstStyle/>
          <a:p>
            <a:pPr marL="0" indent="0" algn="r">
              <a:buNone/>
            </a:pPr>
            <a:r>
              <a:rPr lang="en-US" sz="1000" dirty="0">
                <a:solidFill>
                  <a:srgbClr val="A8B4BE"/>
                </a:solidFill>
                <a:latin typeface="맑은 고딕" pitchFamily="34" charset="0"/>
                <a:ea typeface="맑은 고딕" pitchFamily="34" charset="-122"/>
                <a:cs typeface="맑은 고딕" pitchFamily="34" charset="-120"/>
              </a:rPr>
              <a:t>2. 데이터 이해</a:t>
            </a:r>
            <a:endParaRPr lang="en-US" sz="1000" dirty="0"/>
          </a:p>
        </p:txBody>
      </p:sp>
      <p:pic>
        <p:nvPicPr>
          <p:cNvPr id="7" name="Image 0" descr="nb/dist.png"/>
          <p:cNvPicPr>
            <a:picLocks noChangeAspect="1"/>
          </p:cNvPicPr>
          <p:nvPr/>
        </p:nvPicPr>
        <p:blipFill>
          <a:blip r:embed="rId3"/>
          <a:stretch>
            <a:fillRect/>
          </a:stretch>
        </p:blipFill>
        <p:spPr>
          <a:xfrm>
            <a:off x="566928" y="1371600"/>
            <a:ext cx="6309360" cy="4270248"/>
          </a:xfrm>
          <a:prstGeom prst="rect">
            <a:avLst/>
          </a:prstGeom>
        </p:spPr>
      </p:pic>
      <p:sp>
        <p:nvSpPr>
          <p:cNvPr id="8" name="Text 5"/>
          <p:cNvSpPr txBox="1"/>
          <p:nvPr/>
        </p:nvSpPr>
        <p:spPr>
          <a:xfrm>
            <a:off x="566928" y="5678424"/>
            <a:ext cx="6309360" cy="237744"/>
          </a:xfrm>
          <a:prstGeom prst="rect">
            <a:avLst/>
          </a:prstGeom>
          <a:noFill/>
          <a:ln/>
        </p:spPr>
        <p:txBody>
          <a:bodyPr wrap="square" lIns="0" tIns="0" rIns="0" bIns="0" rtlCol="0" anchor="ctr"/>
          <a:lstStyle/>
          <a:p>
            <a:pPr marL="0" indent="0" algn="ctr">
              <a:buNone/>
            </a:pPr>
            <a:r>
              <a:rPr lang="en-US" sz="1050" dirty="0">
                <a:solidFill>
                  <a:srgbClr val="5F6B78"/>
                </a:solidFill>
                <a:latin typeface="맑은 고딕" pitchFamily="34" charset="0"/>
                <a:ea typeface="맑은 고딕" pitchFamily="34" charset="-122"/>
                <a:cs typeface="맑은 고딕" pitchFamily="34" charset="-120"/>
              </a:rPr>
              <a:t>energy_consumption_kwhper100km 분포 (빨간 점선 = 평균 24.14)</a:t>
            </a:r>
            <a:endParaRPr lang="en-US" sz="1050" dirty="0"/>
          </a:p>
        </p:txBody>
      </p:sp>
      <p:sp>
        <p:nvSpPr>
          <p:cNvPr id="9" name="Shape 6"/>
          <p:cNvSpPr/>
          <p:nvPr/>
        </p:nvSpPr>
        <p:spPr>
          <a:xfrm>
            <a:off x="7132320" y="1417320"/>
            <a:ext cx="2139696" cy="868680"/>
          </a:xfrm>
          <a:prstGeom prst="roundRect">
            <a:avLst>
              <a:gd name="adj" fmla="val 5263"/>
            </a:avLst>
          </a:prstGeom>
          <a:solidFill>
            <a:srgbClr val="EFF6FA"/>
          </a:solidFill>
          <a:ln w="12700">
            <a:solidFill>
              <a:srgbClr val="D8E8F0"/>
            </a:solidFill>
            <a:prstDash val="solid"/>
          </a:ln>
        </p:spPr>
        <p:txBody>
          <a:bodyPr/>
          <a:lstStyle/>
          <a:p>
            <a:endParaRPr lang="ko-KR" altLang="en-US"/>
          </a:p>
        </p:txBody>
      </p:sp>
      <p:sp>
        <p:nvSpPr>
          <p:cNvPr id="10" name="Text 7"/>
          <p:cNvSpPr txBox="1"/>
          <p:nvPr/>
        </p:nvSpPr>
        <p:spPr>
          <a:xfrm>
            <a:off x="7223760" y="1545336"/>
            <a:ext cx="1956816" cy="365760"/>
          </a:xfrm>
          <a:prstGeom prst="rect">
            <a:avLst/>
          </a:prstGeom>
          <a:noFill/>
          <a:ln/>
        </p:spPr>
        <p:txBody>
          <a:bodyPr wrap="square" lIns="0" tIns="0" rIns="0" bIns="0" rtlCol="0" anchor="ctr"/>
          <a:lstStyle/>
          <a:p>
            <a:pPr marL="0" indent="0" algn="ctr">
              <a:buNone/>
            </a:pPr>
            <a:r>
              <a:rPr lang="en-US" sz="1900" b="1" dirty="0">
                <a:solidFill>
                  <a:srgbClr val="0E3A5C"/>
                </a:solidFill>
                <a:latin typeface="맑은 고딕" pitchFamily="34" charset="0"/>
                <a:ea typeface="맑은 고딕" pitchFamily="34" charset="-122"/>
                <a:cs typeface="맑은 고딕" pitchFamily="34" charset="-120"/>
              </a:rPr>
              <a:t>24.14</a:t>
            </a:r>
            <a:endParaRPr lang="en-US" sz="1900" dirty="0"/>
          </a:p>
        </p:txBody>
      </p:sp>
      <p:sp>
        <p:nvSpPr>
          <p:cNvPr id="11" name="Text 8"/>
          <p:cNvSpPr txBox="1"/>
          <p:nvPr/>
        </p:nvSpPr>
        <p:spPr>
          <a:xfrm>
            <a:off x="7223760" y="1911096"/>
            <a:ext cx="1956816" cy="256032"/>
          </a:xfrm>
          <a:prstGeom prst="rect">
            <a:avLst/>
          </a:prstGeom>
          <a:noFill/>
          <a:ln/>
        </p:spPr>
        <p:txBody>
          <a:bodyPr wrap="square" lIns="0" tIns="0" rIns="0" bIns="0" rtlCol="0" anchor="ctr"/>
          <a:lstStyle/>
          <a:p>
            <a:pPr marL="0" indent="0" algn="ctr">
              <a:buNone/>
            </a:pPr>
            <a:r>
              <a:rPr lang="en-US" sz="1150" dirty="0">
                <a:solidFill>
                  <a:srgbClr val="5F6B78"/>
                </a:solidFill>
                <a:latin typeface="맑은 고딕" pitchFamily="34" charset="0"/>
                <a:ea typeface="맑은 고딕" pitchFamily="34" charset="-122"/>
                <a:cs typeface="맑은 고딕" pitchFamily="34" charset="-120"/>
              </a:rPr>
              <a:t>평균</a:t>
            </a:r>
            <a:endParaRPr lang="en-US" sz="1150" dirty="0"/>
          </a:p>
        </p:txBody>
      </p:sp>
      <p:sp>
        <p:nvSpPr>
          <p:cNvPr id="12" name="Shape 9"/>
          <p:cNvSpPr/>
          <p:nvPr/>
        </p:nvSpPr>
        <p:spPr>
          <a:xfrm>
            <a:off x="9418320" y="1417320"/>
            <a:ext cx="2139696" cy="868680"/>
          </a:xfrm>
          <a:prstGeom prst="roundRect">
            <a:avLst>
              <a:gd name="adj" fmla="val 5263"/>
            </a:avLst>
          </a:prstGeom>
          <a:solidFill>
            <a:srgbClr val="EFF6FA"/>
          </a:solidFill>
          <a:ln w="12700">
            <a:solidFill>
              <a:srgbClr val="D8E8F0"/>
            </a:solidFill>
            <a:prstDash val="solid"/>
          </a:ln>
        </p:spPr>
        <p:txBody>
          <a:bodyPr/>
          <a:lstStyle/>
          <a:p>
            <a:endParaRPr lang="ko-KR" altLang="en-US"/>
          </a:p>
        </p:txBody>
      </p:sp>
      <p:sp>
        <p:nvSpPr>
          <p:cNvPr id="13" name="Text 10"/>
          <p:cNvSpPr txBox="1"/>
          <p:nvPr/>
        </p:nvSpPr>
        <p:spPr>
          <a:xfrm>
            <a:off x="9509760" y="1545336"/>
            <a:ext cx="1956816" cy="365760"/>
          </a:xfrm>
          <a:prstGeom prst="rect">
            <a:avLst/>
          </a:prstGeom>
          <a:noFill/>
          <a:ln/>
        </p:spPr>
        <p:txBody>
          <a:bodyPr wrap="square" lIns="0" tIns="0" rIns="0" bIns="0" rtlCol="0" anchor="ctr"/>
          <a:lstStyle/>
          <a:p>
            <a:pPr marL="0" indent="0" algn="ctr">
              <a:buNone/>
            </a:pPr>
            <a:r>
              <a:rPr lang="en-US" sz="1900" b="1" dirty="0">
                <a:solidFill>
                  <a:srgbClr val="0E3A5C"/>
                </a:solidFill>
                <a:latin typeface="맑은 고딕" pitchFamily="34" charset="0"/>
                <a:ea typeface="맑은 고딕" pitchFamily="34" charset="-122"/>
                <a:cs typeface="맑은 고딕" pitchFamily="34" charset="-120"/>
              </a:rPr>
              <a:t>24.09</a:t>
            </a:r>
            <a:endParaRPr lang="en-US" sz="1900" dirty="0"/>
          </a:p>
        </p:txBody>
      </p:sp>
      <p:sp>
        <p:nvSpPr>
          <p:cNvPr id="14" name="Text 11"/>
          <p:cNvSpPr txBox="1"/>
          <p:nvPr/>
        </p:nvSpPr>
        <p:spPr>
          <a:xfrm>
            <a:off x="9509760" y="1911096"/>
            <a:ext cx="1956816" cy="256032"/>
          </a:xfrm>
          <a:prstGeom prst="rect">
            <a:avLst/>
          </a:prstGeom>
          <a:noFill/>
          <a:ln/>
        </p:spPr>
        <p:txBody>
          <a:bodyPr wrap="square" lIns="0" tIns="0" rIns="0" bIns="0" rtlCol="0" anchor="ctr"/>
          <a:lstStyle/>
          <a:p>
            <a:pPr marL="0" indent="0" algn="ctr">
              <a:buNone/>
            </a:pPr>
            <a:r>
              <a:rPr lang="en-US" sz="1150" dirty="0">
                <a:solidFill>
                  <a:srgbClr val="5F6B78"/>
                </a:solidFill>
                <a:latin typeface="맑은 고딕" pitchFamily="34" charset="0"/>
                <a:ea typeface="맑은 고딕" pitchFamily="34" charset="-122"/>
                <a:cs typeface="맑은 고딕" pitchFamily="34" charset="-120"/>
              </a:rPr>
              <a:t>중앙값</a:t>
            </a:r>
            <a:endParaRPr lang="en-US" sz="1150" dirty="0"/>
          </a:p>
        </p:txBody>
      </p:sp>
      <p:sp>
        <p:nvSpPr>
          <p:cNvPr id="15" name="Shape 12"/>
          <p:cNvSpPr/>
          <p:nvPr/>
        </p:nvSpPr>
        <p:spPr>
          <a:xfrm>
            <a:off x="7132320" y="2423160"/>
            <a:ext cx="2139696" cy="868680"/>
          </a:xfrm>
          <a:prstGeom prst="roundRect">
            <a:avLst>
              <a:gd name="adj" fmla="val 5263"/>
            </a:avLst>
          </a:prstGeom>
          <a:solidFill>
            <a:srgbClr val="EFF6FA"/>
          </a:solidFill>
          <a:ln w="12700">
            <a:solidFill>
              <a:srgbClr val="D8E8F0"/>
            </a:solidFill>
            <a:prstDash val="solid"/>
          </a:ln>
        </p:spPr>
        <p:txBody>
          <a:bodyPr/>
          <a:lstStyle/>
          <a:p>
            <a:endParaRPr lang="ko-KR" altLang="en-US"/>
          </a:p>
        </p:txBody>
      </p:sp>
      <p:sp>
        <p:nvSpPr>
          <p:cNvPr id="16" name="Text 13"/>
          <p:cNvSpPr txBox="1"/>
          <p:nvPr/>
        </p:nvSpPr>
        <p:spPr>
          <a:xfrm>
            <a:off x="7223760" y="2551176"/>
            <a:ext cx="1956816" cy="365760"/>
          </a:xfrm>
          <a:prstGeom prst="rect">
            <a:avLst/>
          </a:prstGeom>
          <a:noFill/>
          <a:ln/>
        </p:spPr>
        <p:txBody>
          <a:bodyPr wrap="square" lIns="0" tIns="0" rIns="0" bIns="0" rtlCol="0" anchor="ctr"/>
          <a:lstStyle/>
          <a:p>
            <a:pPr marL="0" indent="0" algn="ctr">
              <a:buNone/>
            </a:pPr>
            <a:r>
              <a:rPr lang="en-US" sz="1900" b="1" dirty="0">
                <a:solidFill>
                  <a:srgbClr val="0E3A5C"/>
                </a:solidFill>
                <a:latin typeface="맑은 고딕" pitchFamily="34" charset="0"/>
                <a:ea typeface="맑은 고딕" pitchFamily="34" charset="-122"/>
                <a:cs typeface="맑은 고딕" pitchFamily="34" charset="-120"/>
              </a:rPr>
              <a:t>3.74</a:t>
            </a:r>
            <a:endParaRPr lang="en-US" sz="1900" dirty="0"/>
          </a:p>
        </p:txBody>
      </p:sp>
      <p:sp>
        <p:nvSpPr>
          <p:cNvPr id="17" name="Text 14"/>
          <p:cNvSpPr txBox="1"/>
          <p:nvPr/>
        </p:nvSpPr>
        <p:spPr>
          <a:xfrm>
            <a:off x="7223760" y="2916936"/>
            <a:ext cx="1956816" cy="256032"/>
          </a:xfrm>
          <a:prstGeom prst="rect">
            <a:avLst/>
          </a:prstGeom>
          <a:noFill/>
          <a:ln/>
        </p:spPr>
        <p:txBody>
          <a:bodyPr wrap="square" lIns="0" tIns="0" rIns="0" bIns="0" rtlCol="0" anchor="ctr"/>
          <a:lstStyle/>
          <a:p>
            <a:pPr marL="0" indent="0" algn="ctr">
              <a:buNone/>
            </a:pPr>
            <a:r>
              <a:rPr lang="en-US" sz="1150" dirty="0">
                <a:solidFill>
                  <a:srgbClr val="5F6B78"/>
                </a:solidFill>
                <a:latin typeface="맑은 고딕" pitchFamily="34" charset="0"/>
                <a:ea typeface="맑은 고딕" pitchFamily="34" charset="-122"/>
                <a:cs typeface="맑은 고딕" pitchFamily="34" charset="-120"/>
              </a:rPr>
              <a:t>표준편차</a:t>
            </a:r>
            <a:endParaRPr lang="en-US" sz="1150" dirty="0"/>
          </a:p>
        </p:txBody>
      </p:sp>
      <p:sp>
        <p:nvSpPr>
          <p:cNvPr id="18" name="Shape 15"/>
          <p:cNvSpPr/>
          <p:nvPr/>
        </p:nvSpPr>
        <p:spPr>
          <a:xfrm>
            <a:off x="9418320" y="2423160"/>
            <a:ext cx="2139696" cy="868680"/>
          </a:xfrm>
          <a:prstGeom prst="roundRect">
            <a:avLst>
              <a:gd name="adj" fmla="val 5263"/>
            </a:avLst>
          </a:prstGeom>
          <a:solidFill>
            <a:srgbClr val="D8E8F0"/>
          </a:solidFill>
          <a:ln w="12700">
            <a:solidFill>
              <a:srgbClr val="D8E8F0"/>
            </a:solidFill>
            <a:prstDash val="solid"/>
          </a:ln>
        </p:spPr>
        <p:txBody>
          <a:bodyPr/>
          <a:lstStyle/>
          <a:p>
            <a:endParaRPr lang="ko-KR" altLang="en-US"/>
          </a:p>
        </p:txBody>
      </p:sp>
      <p:sp>
        <p:nvSpPr>
          <p:cNvPr id="19" name="Text 16"/>
          <p:cNvSpPr txBox="1"/>
          <p:nvPr/>
        </p:nvSpPr>
        <p:spPr>
          <a:xfrm>
            <a:off x="9509760" y="2551176"/>
            <a:ext cx="1956816" cy="365760"/>
          </a:xfrm>
          <a:prstGeom prst="rect">
            <a:avLst/>
          </a:prstGeom>
          <a:noFill/>
          <a:ln/>
        </p:spPr>
        <p:txBody>
          <a:bodyPr wrap="square" lIns="0" tIns="0" rIns="0" bIns="0" rtlCol="0" anchor="ctr"/>
          <a:lstStyle/>
          <a:p>
            <a:pPr marL="0" indent="0" algn="ctr">
              <a:buNone/>
            </a:pPr>
            <a:r>
              <a:rPr lang="en-US" sz="1900" b="1" dirty="0">
                <a:solidFill>
                  <a:srgbClr val="0E3A5C"/>
                </a:solidFill>
                <a:latin typeface="맑은 고딕" pitchFamily="34" charset="0"/>
                <a:ea typeface="맑은 고딕" pitchFamily="34" charset="-122"/>
                <a:cs typeface="맑은 고딕" pitchFamily="34" charset="-120"/>
              </a:rPr>
              <a:t>0.033</a:t>
            </a:r>
            <a:endParaRPr lang="en-US" sz="1900" dirty="0"/>
          </a:p>
        </p:txBody>
      </p:sp>
      <p:sp>
        <p:nvSpPr>
          <p:cNvPr id="20" name="Text 17"/>
          <p:cNvSpPr txBox="1"/>
          <p:nvPr/>
        </p:nvSpPr>
        <p:spPr>
          <a:xfrm>
            <a:off x="9509760" y="2916936"/>
            <a:ext cx="1956816" cy="256032"/>
          </a:xfrm>
          <a:prstGeom prst="rect">
            <a:avLst/>
          </a:prstGeom>
          <a:noFill/>
          <a:ln/>
        </p:spPr>
        <p:txBody>
          <a:bodyPr wrap="square" lIns="0" tIns="0" rIns="0" bIns="0" rtlCol="0" anchor="ctr"/>
          <a:lstStyle/>
          <a:p>
            <a:pPr marL="0" indent="0" algn="ctr">
              <a:buNone/>
            </a:pPr>
            <a:r>
              <a:rPr lang="en-US" sz="1150" dirty="0">
                <a:solidFill>
                  <a:srgbClr val="5F6B78"/>
                </a:solidFill>
                <a:latin typeface="맑은 고딕" pitchFamily="34" charset="0"/>
                <a:ea typeface="맑은 고딕" pitchFamily="34" charset="-122"/>
                <a:cs typeface="맑은 고딕" pitchFamily="34" charset="-120"/>
              </a:rPr>
              <a:t>왜도</a:t>
            </a:r>
            <a:endParaRPr lang="en-US" sz="1150" dirty="0"/>
          </a:p>
        </p:txBody>
      </p:sp>
      <p:sp>
        <p:nvSpPr>
          <p:cNvPr id="21" name="Shape 18"/>
          <p:cNvSpPr/>
          <p:nvPr/>
        </p:nvSpPr>
        <p:spPr>
          <a:xfrm>
            <a:off x="7132320" y="3566160"/>
            <a:ext cx="4498848" cy="1371600"/>
          </a:xfrm>
          <a:prstGeom prst="roundRect">
            <a:avLst>
              <a:gd name="adj" fmla="val 3333"/>
            </a:avLst>
          </a:prstGeom>
          <a:solidFill>
            <a:srgbClr val="D8E8F0"/>
          </a:solidFill>
          <a:ln w="12700">
            <a:solidFill>
              <a:srgbClr val="1C7293"/>
            </a:solidFill>
            <a:prstDash val="solid"/>
          </a:ln>
        </p:spPr>
        <p:txBody>
          <a:bodyPr/>
          <a:lstStyle/>
          <a:p>
            <a:endParaRPr lang="ko-KR" altLang="en-US"/>
          </a:p>
        </p:txBody>
      </p:sp>
      <p:sp>
        <p:nvSpPr>
          <p:cNvPr id="22" name="Text 19"/>
          <p:cNvSpPr txBox="1"/>
          <p:nvPr/>
        </p:nvSpPr>
        <p:spPr>
          <a:xfrm>
            <a:off x="7370064" y="3566160"/>
            <a:ext cx="4023360" cy="1371600"/>
          </a:xfrm>
          <a:prstGeom prst="rect">
            <a:avLst/>
          </a:prstGeom>
          <a:noFill/>
          <a:ln/>
        </p:spPr>
        <p:txBody>
          <a:bodyPr wrap="square" lIns="0" tIns="0" rIns="0" bIns="0" rtlCol="0" anchor="ctr"/>
          <a:lstStyle/>
          <a:p>
            <a:pPr marL="0" indent="0">
              <a:lnSpc>
                <a:spcPts val="1900"/>
              </a:lnSpc>
              <a:buNone/>
            </a:pPr>
            <a:r>
              <a:rPr lang="en-US" sz="1250" b="1" dirty="0">
                <a:solidFill>
                  <a:srgbClr val="0E3A5C"/>
                </a:solidFill>
                <a:latin typeface="맑은 고딕" pitchFamily="34" charset="0"/>
                <a:ea typeface="맑은 고딕" pitchFamily="34" charset="-122"/>
                <a:cs typeface="맑은 고딕" pitchFamily="34" charset="-120"/>
              </a:rPr>
              <a:t>왜도 0.033의 의미   </a:t>
            </a:r>
            <a:r>
              <a:rPr lang="en-US" sz="1250" dirty="0">
                <a:solidFill>
                  <a:srgbClr val="1A1A1A"/>
                </a:solidFill>
                <a:latin typeface="맑은 고딕" pitchFamily="34" charset="0"/>
                <a:ea typeface="맑은 고딕" pitchFamily="34" charset="-122"/>
                <a:cs typeface="맑은 고딕" pitchFamily="34" charset="-120"/>
              </a:rPr>
              <a:t>평균과 중앙값이 거의 같고 왜도가 0에 가깝다. 한쪽으로 쏠린 분포가 아니므로 로그 변환 같은 목표변수 변환은 적용하지 않았다.</a:t>
            </a:r>
            <a:endParaRPr lang="en-US" sz="1250" dirty="0"/>
          </a:p>
        </p:txBody>
      </p:sp>
      <p:sp>
        <p:nvSpPr>
          <p:cNvPr id="23" name="Shape 20"/>
          <p:cNvSpPr/>
          <p:nvPr/>
        </p:nvSpPr>
        <p:spPr>
          <a:xfrm>
            <a:off x="7132320" y="5084064"/>
            <a:ext cx="4498848" cy="1005840"/>
          </a:xfrm>
          <a:prstGeom prst="roundRect">
            <a:avLst>
              <a:gd name="adj" fmla="val 4545"/>
            </a:avLst>
          </a:prstGeom>
          <a:solidFill>
            <a:srgbClr val="FFFFFF"/>
          </a:solidFill>
          <a:ln w="12700">
            <a:solidFill>
              <a:srgbClr val="D8E8F0"/>
            </a:solidFill>
            <a:prstDash val="solid"/>
          </a:ln>
        </p:spPr>
        <p:txBody>
          <a:bodyPr/>
          <a:lstStyle/>
          <a:p>
            <a:endParaRPr lang="ko-KR" altLang="en-US"/>
          </a:p>
        </p:txBody>
      </p:sp>
      <p:sp>
        <p:nvSpPr>
          <p:cNvPr id="24" name="Text 21"/>
          <p:cNvSpPr txBox="1"/>
          <p:nvPr/>
        </p:nvSpPr>
        <p:spPr>
          <a:xfrm>
            <a:off x="7370064" y="5084064"/>
            <a:ext cx="4023360" cy="1005840"/>
          </a:xfrm>
          <a:prstGeom prst="rect">
            <a:avLst/>
          </a:prstGeom>
          <a:noFill/>
          <a:ln/>
        </p:spPr>
        <p:txBody>
          <a:bodyPr wrap="square" lIns="0" tIns="0" rIns="0" bIns="0" rtlCol="0" anchor="ctr"/>
          <a:lstStyle/>
          <a:p>
            <a:pPr marL="0" indent="0">
              <a:lnSpc>
                <a:spcPts val="1900"/>
              </a:lnSpc>
              <a:buNone/>
            </a:pPr>
            <a:r>
              <a:rPr lang="en-US" sz="1250" b="1" dirty="0">
                <a:solidFill>
                  <a:srgbClr val="0E3A5C"/>
                </a:solidFill>
                <a:latin typeface="맑은 고딕" pitchFamily="34" charset="0"/>
                <a:ea typeface="맑은 고딕" pitchFamily="34" charset="-122"/>
                <a:cs typeface="맑은 고딕" pitchFamily="34" charset="-120"/>
              </a:rPr>
              <a:t>평가 지표 판단   </a:t>
            </a:r>
            <a:r>
              <a:rPr lang="en-US" sz="1250" dirty="0">
                <a:solidFill>
                  <a:srgbClr val="1A1A1A"/>
                </a:solidFill>
                <a:latin typeface="맑은 고딕" pitchFamily="34" charset="0"/>
                <a:ea typeface="맑은 고딕" pitchFamily="34" charset="-122"/>
                <a:cs typeface="맑은 고딕" pitchFamily="34" charset="-120"/>
              </a:rPr>
              <a:t>분포가 대칭이므로 RMSE와 MAE를 그대로 비교 지표로 쓸 수 있다.</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0E3A5C"/>
        </a:solidFill>
        <a:effectLst/>
      </p:bgPr>
    </p:bg>
    <p:spTree>
      <p:nvGrpSpPr>
        <p:cNvPr id="1" name=""/>
        <p:cNvGrpSpPr/>
        <p:nvPr/>
      </p:nvGrpSpPr>
      <p:grpSpPr>
        <a:xfrm>
          <a:off x="0" y="0"/>
          <a:ext cx="0" cy="0"/>
          <a:chOff x="0" y="0"/>
          <a:chExt cx="0" cy="0"/>
        </a:xfrm>
      </p:grpSpPr>
      <p:sp>
        <p:nvSpPr>
          <p:cNvPr id="2" name="Shape 0"/>
          <p:cNvSpPr/>
          <p:nvPr/>
        </p:nvSpPr>
        <p:spPr>
          <a:xfrm>
            <a:off x="9966960" y="4023360"/>
            <a:ext cx="3108960" cy="3108960"/>
          </a:xfrm>
          <a:prstGeom prst="ellipse">
            <a:avLst/>
          </a:prstGeom>
          <a:solidFill>
            <a:srgbClr val="1C7293">
              <a:alpha val="20000"/>
            </a:srgbClr>
          </a:solidFill>
          <a:ln w="12700">
            <a:solidFill>
              <a:srgbClr val="1C7293">
                <a:alpha val="0"/>
              </a:srgbClr>
            </a:solidFill>
            <a:prstDash val="solid"/>
          </a:ln>
        </p:spPr>
        <p:txBody>
          <a:bodyPr/>
          <a:lstStyle/>
          <a:p>
            <a:endParaRPr lang="ko-KR" altLang="en-US"/>
          </a:p>
        </p:txBody>
      </p:sp>
      <p:sp>
        <p:nvSpPr>
          <p:cNvPr id="3" name="Text 1"/>
          <p:cNvSpPr txBox="1"/>
          <p:nvPr/>
        </p:nvSpPr>
        <p:spPr>
          <a:xfrm>
            <a:off x="658368" y="2286000"/>
            <a:ext cx="7315200" cy="292608"/>
          </a:xfrm>
          <a:prstGeom prst="rect">
            <a:avLst/>
          </a:prstGeom>
          <a:noFill/>
          <a:ln/>
        </p:spPr>
        <p:txBody>
          <a:bodyPr wrap="square" lIns="0" tIns="0" rIns="0" bIns="0" rtlCol="0" anchor="ctr"/>
          <a:lstStyle/>
          <a:p>
            <a:pPr marL="0" indent="0">
              <a:buNone/>
            </a:pPr>
            <a:r>
              <a:rPr lang="en-US" sz="1300" b="1" kern="0" spc="200" dirty="0">
                <a:solidFill>
                  <a:srgbClr val="9FC2D6"/>
                </a:solidFill>
                <a:latin typeface="맑은 고딕" pitchFamily="34" charset="0"/>
                <a:ea typeface="맑은 고딕" pitchFamily="34" charset="-122"/>
                <a:cs typeface="맑은 고딕" pitchFamily="34" charset="-120"/>
              </a:rPr>
              <a:t>PART 3</a:t>
            </a:r>
            <a:endParaRPr lang="en-US" sz="1300" dirty="0"/>
          </a:p>
        </p:txBody>
      </p:sp>
      <p:sp>
        <p:nvSpPr>
          <p:cNvPr id="4" name="Text 2"/>
          <p:cNvSpPr txBox="1"/>
          <p:nvPr/>
        </p:nvSpPr>
        <p:spPr>
          <a:xfrm>
            <a:off x="658368" y="2670048"/>
            <a:ext cx="8778240" cy="685800"/>
          </a:xfrm>
          <a:prstGeom prst="rect">
            <a:avLst/>
          </a:prstGeom>
          <a:noFill/>
          <a:ln/>
        </p:spPr>
        <p:txBody>
          <a:bodyPr wrap="square" lIns="0" tIns="0" rIns="0" bIns="0" rtlCol="0" anchor="ctr"/>
          <a:lstStyle/>
          <a:p>
            <a:pPr marL="0" indent="0">
              <a:buNone/>
            </a:pPr>
            <a:r>
              <a:rPr lang="en-US" sz="3400" b="1" dirty="0" err="1">
                <a:solidFill>
                  <a:srgbClr val="FFFFFF"/>
                </a:solidFill>
                <a:latin typeface="맑은 고딕" pitchFamily="34" charset="0"/>
                <a:ea typeface="맑은 고딕" pitchFamily="34" charset="-122"/>
                <a:cs typeface="맑은 고딕" pitchFamily="34" charset="-120"/>
              </a:rPr>
              <a:t>데이터</a:t>
            </a:r>
            <a:r>
              <a:rPr lang="en-US" sz="3400" b="1" dirty="0">
                <a:solidFill>
                  <a:srgbClr val="FFFFFF"/>
                </a:solidFill>
                <a:latin typeface="맑은 고딕" pitchFamily="34" charset="0"/>
                <a:ea typeface="맑은 고딕" pitchFamily="34" charset="-122"/>
                <a:cs typeface="맑은 고딕" pitchFamily="34" charset="-120"/>
              </a:rPr>
              <a:t> 분석</a:t>
            </a:r>
            <a:endParaRPr lang="en-US" sz="3400" dirty="0"/>
          </a:p>
        </p:txBody>
      </p:sp>
      <p:sp>
        <p:nvSpPr>
          <p:cNvPr id="5" name="Text 3"/>
          <p:cNvSpPr txBox="1"/>
          <p:nvPr/>
        </p:nvSpPr>
        <p:spPr>
          <a:xfrm>
            <a:off x="658368" y="3520440"/>
            <a:ext cx="8778240" cy="365760"/>
          </a:xfrm>
          <a:prstGeom prst="rect">
            <a:avLst/>
          </a:prstGeom>
          <a:noFill/>
          <a:ln/>
        </p:spPr>
        <p:txBody>
          <a:bodyPr wrap="square" lIns="0" tIns="0" rIns="0" bIns="0" rtlCol="0" anchor="ctr"/>
          <a:lstStyle/>
          <a:p>
            <a:pPr marL="0" indent="0">
              <a:buNone/>
            </a:pPr>
            <a:r>
              <a:rPr lang="en-US" sz="1400" dirty="0">
                <a:solidFill>
                  <a:srgbClr val="D8E8F0"/>
                </a:solidFill>
                <a:latin typeface="맑은 고딕" pitchFamily="34" charset="0"/>
                <a:ea typeface="맑은 고딕" pitchFamily="34" charset="-122"/>
                <a:cs typeface="맑은 고딕" pitchFamily="34" charset="-120"/>
              </a:rPr>
              <a:t>상관관계 · 산점도 · 비선형 관계 탐색</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66928" y="365760"/>
            <a:ext cx="457200" cy="457200"/>
          </a:xfrm>
          <a:prstGeom prst="ellipse">
            <a:avLst/>
          </a:prstGeom>
          <a:solidFill>
            <a:srgbClr val="1C7293"/>
          </a:solidFill>
          <a:ln w="12700">
            <a:solidFill>
              <a:srgbClr val="1C7293"/>
            </a:solidFill>
            <a:prstDash val="solid"/>
          </a:ln>
        </p:spPr>
        <p:txBody>
          <a:bodyPr/>
          <a:lstStyle/>
          <a:p>
            <a:endParaRPr lang="ko-KR" altLang="en-US"/>
          </a:p>
        </p:txBody>
      </p:sp>
      <p:sp>
        <p:nvSpPr>
          <p:cNvPr id="3" name="Text 1"/>
          <p:cNvSpPr txBox="1"/>
          <p:nvPr/>
        </p:nvSpPr>
        <p:spPr>
          <a:xfrm>
            <a:off x="566928" y="3657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6</a:t>
            </a:r>
            <a:endParaRPr lang="en-US" sz="1600" dirty="0"/>
          </a:p>
        </p:txBody>
      </p:sp>
      <p:sp>
        <p:nvSpPr>
          <p:cNvPr id="4" name="Text 2"/>
          <p:cNvSpPr txBox="1"/>
          <p:nvPr/>
        </p:nvSpPr>
        <p:spPr>
          <a:xfrm>
            <a:off x="1152144" y="310896"/>
            <a:ext cx="10424160" cy="246888"/>
          </a:xfrm>
          <a:prstGeom prst="rect">
            <a:avLst/>
          </a:prstGeom>
          <a:noFill/>
          <a:ln/>
        </p:spPr>
        <p:txBody>
          <a:bodyPr wrap="square" lIns="0" tIns="0" rIns="0" bIns="0" rtlCol="0" anchor="ctr"/>
          <a:lstStyle/>
          <a:p>
            <a:pPr marL="0" indent="0">
              <a:buNone/>
            </a:pPr>
            <a:r>
              <a:rPr lang="en-US" sz="1150" b="1" kern="0" spc="100" dirty="0">
                <a:solidFill>
                  <a:srgbClr val="1C7293"/>
                </a:solidFill>
                <a:latin typeface="맑은 고딕" pitchFamily="34" charset="0"/>
                <a:ea typeface="맑은 고딕" pitchFamily="34" charset="-122"/>
                <a:cs typeface="맑은 고딕" pitchFamily="34" charset="-120"/>
              </a:rPr>
              <a:t>EDA ① · 선형 상관관계</a:t>
            </a:r>
            <a:endParaRPr lang="en-US" sz="1150" dirty="0"/>
          </a:p>
        </p:txBody>
      </p:sp>
      <p:sp>
        <p:nvSpPr>
          <p:cNvPr id="5" name="Text 3"/>
          <p:cNvSpPr txBox="1"/>
          <p:nvPr/>
        </p:nvSpPr>
        <p:spPr>
          <a:xfrm>
            <a:off x="1152144" y="566928"/>
            <a:ext cx="10469880" cy="530352"/>
          </a:xfrm>
          <a:prstGeom prst="rect">
            <a:avLst/>
          </a:prstGeom>
          <a:noFill/>
          <a:ln/>
        </p:spPr>
        <p:txBody>
          <a:bodyPr wrap="square" lIns="0" tIns="0" rIns="0" bIns="0" rtlCol="0" anchor="ctr"/>
          <a:lstStyle/>
          <a:p>
            <a:pPr marL="0" indent="0">
              <a:buNone/>
            </a:pPr>
            <a:r>
              <a:rPr lang="en-US" sz="2500" b="1" dirty="0">
                <a:solidFill>
                  <a:srgbClr val="0E3A5C"/>
                </a:solidFill>
                <a:latin typeface="맑은 고딕" pitchFamily="34" charset="0"/>
                <a:ea typeface="맑은 고딕" pitchFamily="34" charset="-122"/>
                <a:cs typeface="맑은 고딕" pitchFamily="34" charset="-120"/>
              </a:rPr>
              <a:t>무엇이 소비율을 좌우하는가</a:t>
            </a:r>
            <a:endParaRPr lang="en-US" sz="2500" dirty="0"/>
          </a:p>
        </p:txBody>
      </p:sp>
      <p:sp>
        <p:nvSpPr>
          <p:cNvPr id="6" name="Text 4"/>
          <p:cNvSpPr txBox="1"/>
          <p:nvPr/>
        </p:nvSpPr>
        <p:spPr>
          <a:xfrm>
            <a:off x="8686800" y="6519672"/>
            <a:ext cx="2926080" cy="274320"/>
          </a:xfrm>
          <a:prstGeom prst="rect">
            <a:avLst/>
          </a:prstGeom>
          <a:noFill/>
          <a:ln/>
        </p:spPr>
        <p:txBody>
          <a:bodyPr wrap="square" lIns="0" tIns="0" rIns="0" bIns="0" rtlCol="0" anchor="ctr"/>
          <a:lstStyle/>
          <a:p>
            <a:pPr marL="0" indent="0" algn="r">
              <a:buNone/>
            </a:pPr>
            <a:r>
              <a:rPr lang="en-US" sz="1000" dirty="0">
                <a:solidFill>
                  <a:srgbClr val="A8B4BE"/>
                </a:solidFill>
                <a:latin typeface="맑은 고딕" pitchFamily="34" charset="0"/>
                <a:ea typeface="맑은 고딕" pitchFamily="34" charset="-122"/>
                <a:cs typeface="맑은 고딕" pitchFamily="34" charset="-120"/>
              </a:rPr>
              <a:t>3. 탐색적 데이터 분석</a:t>
            </a:r>
            <a:endParaRPr lang="en-US" sz="1000" dirty="0"/>
          </a:p>
        </p:txBody>
      </p:sp>
      <p:graphicFrame>
        <p:nvGraphicFramePr>
          <p:cNvPr id="7" name="Chart 0"/>
          <p:cNvGraphicFramePr/>
          <p:nvPr/>
        </p:nvGraphicFramePr>
        <p:xfrm>
          <a:off x="429768" y="1298448"/>
          <a:ext cx="662940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7269480" y="1371600"/>
            <a:ext cx="4361688" cy="1783080"/>
          </a:xfrm>
          <a:prstGeom prst="roundRect">
            <a:avLst>
              <a:gd name="adj" fmla="val 2564"/>
            </a:avLst>
          </a:prstGeom>
          <a:solidFill>
            <a:srgbClr val="D8E8F0"/>
          </a:solidFill>
          <a:ln w="12700">
            <a:solidFill>
              <a:srgbClr val="1C7293"/>
            </a:solidFill>
            <a:prstDash val="solid"/>
          </a:ln>
        </p:spPr>
        <p:txBody>
          <a:bodyPr/>
          <a:lstStyle/>
          <a:p>
            <a:endParaRPr lang="ko-KR" altLang="en-US"/>
          </a:p>
        </p:txBody>
      </p:sp>
      <p:sp>
        <p:nvSpPr>
          <p:cNvPr id="9" name="Text 6"/>
          <p:cNvSpPr txBox="1"/>
          <p:nvPr/>
        </p:nvSpPr>
        <p:spPr>
          <a:xfrm>
            <a:off x="7507224" y="1371600"/>
            <a:ext cx="3886200" cy="1783080"/>
          </a:xfrm>
          <a:prstGeom prst="rect">
            <a:avLst/>
          </a:prstGeom>
          <a:noFill/>
          <a:ln/>
        </p:spPr>
        <p:txBody>
          <a:bodyPr wrap="square" lIns="0" tIns="0" rIns="0" bIns="0" rtlCol="0" anchor="ctr"/>
          <a:lstStyle/>
          <a:p>
            <a:pPr marL="0" indent="0">
              <a:lnSpc>
                <a:spcPts val="1900"/>
              </a:lnSpc>
              <a:buNone/>
            </a:pPr>
            <a:r>
              <a:rPr lang="en-US" sz="1300" b="1" dirty="0">
                <a:solidFill>
                  <a:srgbClr val="0E3A5C"/>
                </a:solidFill>
                <a:latin typeface="맑은 고딕" pitchFamily="34" charset="0"/>
                <a:ea typeface="맑은 고딕" pitchFamily="34" charset="-122"/>
                <a:cs typeface="맑은 고딕" pitchFamily="34" charset="-120"/>
              </a:rPr>
              <a:t>상위 4개는 두 축   </a:t>
            </a:r>
            <a:r>
              <a:rPr lang="en-US" sz="1300" b="1" dirty="0">
                <a:solidFill>
                  <a:srgbClr val="1A1A1A"/>
                </a:solidFill>
                <a:latin typeface="맑은 고딕" pitchFamily="34" charset="0"/>
                <a:ea typeface="맑은 고딕" pitchFamily="34" charset="-122"/>
                <a:cs typeface="맑은 고딕" pitchFamily="34" charset="-120"/>
              </a:rPr>
              <a:t>주행 저항</a:t>
            </a:r>
            <a:r>
              <a:rPr lang="en-US" sz="1300" dirty="0">
                <a:solidFill>
                  <a:srgbClr val="1A1A1A"/>
                </a:solidFill>
                <a:latin typeface="맑은 고딕" pitchFamily="34" charset="0"/>
                <a:ea typeface="맑은 고딕" pitchFamily="34" charset="-122"/>
                <a:cs typeface="맑은 고딕" pitchFamily="34" charset="-120"/>
              </a:rPr>
              <a:t> — 경사도 · 적재중량 · 속도
</a:t>
            </a:r>
            <a:r>
              <a:rPr lang="en-US" sz="1300" b="1" dirty="0">
                <a:solidFill>
                  <a:srgbClr val="1A1A1A"/>
                </a:solidFill>
                <a:latin typeface="맑은 고딕" pitchFamily="34" charset="0"/>
                <a:ea typeface="맑은 고딕" pitchFamily="34" charset="-122"/>
                <a:cs typeface="맑은 고딕" pitchFamily="34" charset="-120"/>
              </a:rPr>
              <a:t>부가 부하</a:t>
            </a:r>
            <a:r>
              <a:rPr lang="en-US" sz="1300" dirty="0">
                <a:solidFill>
                  <a:srgbClr val="1A1A1A"/>
                </a:solidFill>
                <a:latin typeface="맑은 고딕" pitchFamily="34" charset="0"/>
                <a:ea typeface="맑은 고딕" pitchFamily="34" charset="-122"/>
                <a:cs typeface="맑은 고딕" pitchFamily="34" charset="-120"/>
              </a:rPr>
              <a:t> — 공조 전력 · 운전 습관</a:t>
            </a:r>
            <a:endParaRPr lang="en-US" sz="1300" dirty="0"/>
          </a:p>
          <a:p>
            <a:pPr marL="0" indent="0">
              <a:lnSpc>
                <a:spcPts val="1900"/>
              </a:lnSpc>
              <a:buNone/>
            </a:pPr>
            <a:endParaRPr lang="en-US" sz="1300" dirty="0"/>
          </a:p>
          <a:p>
            <a:pPr marL="0" indent="0">
              <a:lnSpc>
                <a:spcPts val="1900"/>
              </a:lnSpc>
              <a:buNone/>
            </a:pPr>
            <a:r>
              <a:rPr lang="en-US" sz="1300" dirty="0">
                <a:solidFill>
                  <a:srgbClr val="1A1A1A"/>
                </a:solidFill>
                <a:latin typeface="맑은 고딕" pitchFamily="34" charset="0"/>
                <a:ea typeface="맑은 고딕" pitchFamily="34" charset="-122"/>
                <a:cs typeface="맑은 고딕" pitchFamily="34" charset="-120"/>
              </a:rPr>
              <a:t>물리적 상식과도 어긋나지 않는다</a:t>
            </a:r>
            <a:endParaRPr lang="en-US" sz="1300" dirty="0"/>
          </a:p>
        </p:txBody>
      </p:sp>
      <p:sp>
        <p:nvSpPr>
          <p:cNvPr id="10" name="Shape 7"/>
          <p:cNvSpPr/>
          <p:nvPr/>
        </p:nvSpPr>
        <p:spPr>
          <a:xfrm>
            <a:off x="7269480" y="3310128"/>
            <a:ext cx="4361688" cy="1600200"/>
          </a:xfrm>
          <a:prstGeom prst="roundRect">
            <a:avLst>
              <a:gd name="adj" fmla="val 2857"/>
            </a:avLst>
          </a:prstGeom>
          <a:solidFill>
            <a:srgbClr val="FFFFFF"/>
          </a:solidFill>
          <a:ln w="12700">
            <a:solidFill>
              <a:srgbClr val="D8E8F0"/>
            </a:solidFill>
            <a:prstDash val="solid"/>
          </a:ln>
        </p:spPr>
        <p:txBody>
          <a:bodyPr/>
          <a:lstStyle/>
          <a:p>
            <a:endParaRPr lang="ko-KR" altLang="en-US"/>
          </a:p>
        </p:txBody>
      </p:sp>
      <p:sp>
        <p:nvSpPr>
          <p:cNvPr id="11" name="Text 8"/>
          <p:cNvSpPr txBox="1"/>
          <p:nvPr/>
        </p:nvSpPr>
        <p:spPr>
          <a:xfrm>
            <a:off x="7507224" y="3310128"/>
            <a:ext cx="3886200" cy="1600200"/>
          </a:xfrm>
          <a:prstGeom prst="rect">
            <a:avLst/>
          </a:prstGeom>
          <a:noFill/>
          <a:ln/>
        </p:spPr>
        <p:txBody>
          <a:bodyPr wrap="square" lIns="0" tIns="0" rIns="0" bIns="0" rtlCol="0" anchor="ctr"/>
          <a:lstStyle/>
          <a:p>
            <a:pPr marL="0" indent="0">
              <a:lnSpc>
                <a:spcPts val="1900"/>
              </a:lnSpc>
              <a:buNone/>
            </a:pPr>
            <a:r>
              <a:rPr lang="en-US" sz="1300" b="1" dirty="0">
                <a:solidFill>
                  <a:srgbClr val="0E3A5C"/>
                </a:solidFill>
                <a:latin typeface="맑은 고딕" pitchFamily="34" charset="0"/>
                <a:ea typeface="맑은 고딕" pitchFamily="34" charset="-122"/>
                <a:cs typeface="맑은 고딕" pitchFamily="34" charset="-120"/>
              </a:rPr>
              <a:t>주의   </a:t>
            </a:r>
            <a:r>
              <a:rPr lang="en-US" sz="1300" dirty="0">
                <a:solidFill>
                  <a:srgbClr val="1A1A1A"/>
                </a:solidFill>
                <a:latin typeface="맑은 고딕" pitchFamily="34" charset="0"/>
                <a:ea typeface="맑은 고딕" pitchFamily="34" charset="-122"/>
                <a:cs typeface="맑은 고딕" pitchFamily="34" charset="-120"/>
              </a:rPr>
              <a:t>상관계수는 직선 관계만 요약한다. 하위 순위 변수를 "영향이 없다"고 읽으면 안 된다.</a:t>
            </a:r>
            <a:endParaRPr lang="en-US" sz="1300" dirty="0"/>
          </a:p>
        </p:txBody>
      </p:sp>
      <p:sp>
        <p:nvSpPr>
          <p:cNvPr id="12" name="Shape 9"/>
          <p:cNvSpPr/>
          <p:nvPr/>
        </p:nvSpPr>
        <p:spPr>
          <a:xfrm>
            <a:off x="7269480" y="5065776"/>
            <a:ext cx="4361688" cy="1005840"/>
          </a:xfrm>
          <a:prstGeom prst="roundRect">
            <a:avLst>
              <a:gd name="adj" fmla="val 4545"/>
            </a:avLst>
          </a:prstGeom>
          <a:solidFill>
            <a:srgbClr val="D8E8F0"/>
          </a:solidFill>
          <a:ln w="12700">
            <a:solidFill>
              <a:srgbClr val="1C7293"/>
            </a:solidFill>
            <a:prstDash val="solid"/>
          </a:ln>
        </p:spPr>
        <p:txBody>
          <a:bodyPr/>
          <a:lstStyle/>
          <a:p>
            <a:endParaRPr lang="ko-KR" altLang="en-US"/>
          </a:p>
        </p:txBody>
      </p:sp>
      <p:sp>
        <p:nvSpPr>
          <p:cNvPr id="13" name="Text 10"/>
          <p:cNvSpPr txBox="1"/>
          <p:nvPr/>
        </p:nvSpPr>
        <p:spPr>
          <a:xfrm>
            <a:off x="7507224" y="5065776"/>
            <a:ext cx="3886200" cy="1005840"/>
          </a:xfrm>
          <a:prstGeom prst="rect">
            <a:avLst/>
          </a:prstGeom>
          <a:noFill/>
          <a:ln/>
        </p:spPr>
        <p:txBody>
          <a:bodyPr wrap="square" lIns="0" tIns="0" rIns="0" bIns="0" rtlCol="0" anchor="ctr"/>
          <a:lstStyle/>
          <a:p>
            <a:pPr marL="0" indent="0">
              <a:lnSpc>
                <a:spcPts val="1900"/>
              </a:lnSpc>
              <a:buNone/>
            </a:pPr>
            <a:r>
              <a:rPr lang="en-US" sz="1250" b="1" dirty="0">
                <a:solidFill>
                  <a:srgbClr val="0E3A5C"/>
                </a:solidFill>
                <a:latin typeface="맑은 고딕" pitchFamily="34" charset="0"/>
                <a:ea typeface="맑은 고딕" pitchFamily="34" charset="-122"/>
                <a:cs typeface="맑은 고딕" pitchFamily="34" charset="-120"/>
              </a:rPr>
              <a:t>다음 확인   </a:t>
            </a:r>
            <a:r>
              <a:rPr lang="en-US" sz="1250" dirty="0">
                <a:solidFill>
                  <a:srgbClr val="1A1A1A"/>
                </a:solidFill>
                <a:latin typeface="맑은 고딕" pitchFamily="34" charset="0"/>
                <a:ea typeface="맑은 고딕" pitchFamily="34" charset="-122"/>
                <a:cs typeface="맑은 고딕" pitchFamily="34" charset="-120"/>
              </a:rPr>
              <a:t>곡선 관계가 숨어 있는지 산점도와 구간별 평균으로 다시 본다.</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66928" y="365760"/>
            <a:ext cx="457200" cy="457200"/>
          </a:xfrm>
          <a:prstGeom prst="ellipse">
            <a:avLst/>
          </a:prstGeom>
          <a:solidFill>
            <a:srgbClr val="1C7293"/>
          </a:solidFill>
          <a:ln w="12700">
            <a:solidFill>
              <a:srgbClr val="1C7293"/>
            </a:solidFill>
            <a:prstDash val="solid"/>
          </a:ln>
        </p:spPr>
        <p:txBody>
          <a:bodyPr/>
          <a:lstStyle/>
          <a:p>
            <a:endParaRPr lang="ko-KR" altLang="en-US"/>
          </a:p>
        </p:txBody>
      </p:sp>
      <p:sp>
        <p:nvSpPr>
          <p:cNvPr id="3" name="Text 1"/>
          <p:cNvSpPr txBox="1"/>
          <p:nvPr/>
        </p:nvSpPr>
        <p:spPr>
          <a:xfrm>
            <a:off x="566928" y="3657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7</a:t>
            </a:r>
            <a:endParaRPr lang="en-US" sz="1600" dirty="0"/>
          </a:p>
        </p:txBody>
      </p:sp>
      <p:sp>
        <p:nvSpPr>
          <p:cNvPr id="4" name="Text 2"/>
          <p:cNvSpPr txBox="1"/>
          <p:nvPr/>
        </p:nvSpPr>
        <p:spPr>
          <a:xfrm>
            <a:off x="1152144" y="310896"/>
            <a:ext cx="10424160" cy="246888"/>
          </a:xfrm>
          <a:prstGeom prst="rect">
            <a:avLst/>
          </a:prstGeom>
          <a:noFill/>
          <a:ln/>
        </p:spPr>
        <p:txBody>
          <a:bodyPr wrap="square" lIns="0" tIns="0" rIns="0" bIns="0" rtlCol="0" anchor="ctr"/>
          <a:lstStyle/>
          <a:p>
            <a:pPr marL="0" indent="0">
              <a:buNone/>
            </a:pPr>
            <a:r>
              <a:rPr lang="en-US" sz="1150" b="1" kern="0" spc="100" dirty="0">
                <a:solidFill>
                  <a:srgbClr val="1C7293"/>
                </a:solidFill>
                <a:latin typeface="맑은 고딕" pitchFamily="34" charset="0"/>
                <a:ea typeface="맑은 고딕" pitchFamily="34" charset="-122"/>
                <a:cs typeface="맑은 고딕" pitchFamily="34" charset="-120"/>
              </a:rPr>
              <a:t>EDA ② · 변수별 산점도</a:t>
            </a:r>
            <a:endParaRPr lang="en-US" sz="1150" dirty="0"/>
          </a:p>
        </p:txBody>
      </p:sp>
      <p:sp>
        <p:nvSpPr>
          <p:cNvPr id="5" name="Text 3"/>
          <p:cNvSpPr txBox="1"/>
          <p:nvPr/>
        </p:nvSpPr>
        <p:spPr>
          <a:xfrm>
            <a:off x="1152144" y="566928"/>
            <a:ext cx="10469880" cy="530352"/>
          </a:xfrm>
          <a:prstGeom prst="rect">
            <a:avLst/>
          </a:prstGeom>
          <a:noFill/>
          <a:ln/>
        </p:spPr>
        <p:txBody>
          <a:bodyPr wrap="square" lIns="0" tIns="0" rIns="0" bIns="0" rtlCol="0" anchor="ctr"/>
          <a:lstStyle/>
          <a:p>
            <a:pPr marL="0" indent="0">
              <a:buNone/>
            </a:pPr>
            <a:r>
              <a:rPr lang="en-US" sz="2500" b="1" dirty="0">
                <a:solidFill>
                  <a:srgbClr val="0E3A5C"/>
                </a:solidFill>
                <a:latin typeface="맑은 고딕" pitchFamily="34" charset="0"/>
                <a:ea typeface="맑은 고딕" pitchFamily="34" charset="-122"/>
                <a:cs typeface="맑은 고딕" pitchFamily="34" charset="-120"/>
              </a:rPr>
              <a:t>산점도에서는 관계의 방향과 퍼짐을 본다</a:t>
            </a:r>
            <a:endParaRPr lang="en-US" sz="2500" dirty="0"/>
          </a:p>
        </p:txBody>
      </p:sp>
      <p:sp>
        <p:nvSpPr>
          <p:cNvPr id="6" name="Text 4"/>
          <p:cNvSpPr txBox="1"/>
          <p:nvPr/>
        </p:nvSpPr>
        <p:spPr>
          <a:xfrm>
            <a:off x="8686800" y="6519672"/>
            <a:ext cx="2926080" cy="274320"/>
          </a:xfrm>
          <a:prstGeom prst="rect">
            <a:avLst/>
          </a:prstGeom>
          <a:noFill/>
          <a:ln/>
        </p:spPr>
        <p:txBody>
          <a:bodyPr wrap="square" lIns="0" tIns="0" rIns="0" bIns="0" rtlCol="0" anchor="ctr"/>
          <a:lstStyle/>
          <a:p>
            <a:pPr marL="0" indent="0" algn="r">
              <a:buNone/>
            </a:pPr>
            <a:r>
              <a:rPr lang="en-US" sz="1000" dirty="0">
                <a:solidFill>
                  <a:srgbClr val="A8B4BE"/>
                </a:solidFill>
                <a:latin typeface="맑은 고딕" pitchFamily="34" charset="0"/>
                <a:ea typeface="맑은 고딕" pitchFamily="34" charset="-122"/>
                <a:cs typeface="맑은 고딕" pitchFamily="34" charset="-120"/>
              </a:rPr>
              <a:t>3. 탐색적 데이터 분석</a:t>
            </a:r>
            <a:endParaRPr lang="en-US" sz="1000" dirty="0"/>
          </a:p>
        </p:txBody>
      </p:sp>
      <p:pic>
        <p:nvPicPr>
          <p:cNvPr id="7" name="Image 0" descr="nb/scatter.png"/>
          <p:cNvPicPr>
            <a:picLocks noChangeAspect="1"/>
          </p:cNvPicPr>
          <p:nvPr/>
        </p:nvPicPr>
        <p:blipFill>
          <a:blip r:embed="rId3"/>
          <a:stretch>
            <a:fillRect/>
          </a:stretch>
        </p:blipFill>
        <p:spPr>
          <a:xfrm>
            <a:off x="868680" y="1280160"/>
            <a:ext cx="5852160" cy="4672584"/>
          </a:xfrm>
          <a:prstGeom prst="rect">
            <a:avLst/>
          </a:prstGeom>
        </p:spPr>
      </p:pic>
      <p:sp>
        <p:nvSpPr>
          <p:cNvPr id="8" name="Text 5"/>
          <p:cNvSpPr txBox="1"/>
          <p:nvPr/>
        </p:nvSpPr>
        <p:spPr>
          <a:xfrm>
            <a:off x="868680" y="5989320"/>
            <a:ext cx="5852160" cy="237744"/>
          </a:xfrm>
          <a:prstGeom prst="rect">
            <a:avLst/>
          </a:prstGeom>
          <a:noFill/>
          <a:ln/>
        </p:spPr>
        <p:txBody>
          <a:bodyPr wrap="square" lIns="0" tIns="0" rIns="0" bIns="0" rtlCol="0" anchor="ctr"/>
          <a:lstStyle/>
          <a:p>
            <a:pPr marL="0" indent="0" algn="ctr">
              <a:buNone/>
            </a:pPr>
            <a:r>
              <a:rPr lang="en-US" sz="1050" dirty="0">
                <a:solidFill>
                  <a:srgbClr val="5F6B78"/>
                </a:solidFill>
                <a:latin typeface="맑은 고딕" pitchFamily="34" charset="0"/>
                <a:ea typeface="맑은 고딕" pitchFamily="34" charset="-122"/>
                <a:cs typeface="맑은 고딕" pitchFamily="34" charset="-120"/>
              </a:rPr>
              <a:t>9개 입력변수 대 목표변수 산점도 (alpha 0.20)</a:t>
            </a:r>
            <a:endParaRPr lang="en-US" sz="1050" dirty="0"/>
          </a:p>
        </p:txBody>
      </p:sp>
      <p:sp>
        <p:nvSpPr>
          <p:cNvPr id="9" name="Shape 6"/>
          <p:cNvSpPr/>
          <p:nvPr/>
        </p:nvSpPr>
        <p:spPr>
          <a:xfrm>
            <a:off x="7086600" y="1371600"/>
            <a:ext cx="4572000" cy="1737360"/>
          </a:xfrm>
          <a:prstGeom prst="roundRect">
            <a:avLst>
              <a:gd name="adj" fmla="val 2632"/>
            </a:avLst>
          </a:prstGeom>
          <a:solidFill>
            <a:srgbClr val="D8E8F0"/>
          </a:solidFill>
          <a:ln w="12700">
            <a:solidFill>
              <a:srgbClr val="1C7293"/>
            </a:solidFill>
            <a:prstDash val="solid"/>
          </a:ln>
        </p:spPr>
        <p:txBody>
          <a:bodyPr/>
          <a:lstStyle/>
          <a:p>
            <a:endParaRPr lang="ko-KR" altLang="en-US"/>
          </a:p>
        </p:txBody>
      </p:sp>
      <p:sp>
        <p:nvSpPr>
          <p:cNvPr id="10" name="Text 7"/>
          <p:cNvSpPr txBox="1"/>
          <p:nvPr/>
        </p:nvSpPr>
        <p:spPr>
          <a:xfrm>
            <a:off x="7324344" y="1371600"/>
            <a:ext cx="4096512" cy="1737360"/>
          </a:xfrm>
          <a:prstGeom prst="rect">
            <a:avLst/>
          </a:prstGeom>
          <a:noFill/>
          <a:ln/>
        </p:spPr>
        <p:txBody>
          <a:bodyPr wrap="square" lIns="0" tIns="0" rIns="0" bIns="0" rtlCol="0" anchor="ctr"/>
          <a:lstStyle/>
          <a:p>
            <a:pPr marL="0" indent="0">
              <a:lnSpc>
                <a:spcPts val="1900"/>
              </a:lnSpc>
              <a:buNone/>
            </a:pPr>
            <a:r>
              <a:rPr lang="en-US" sz="1250" b="1" dirty="0">
                <a:solidFill>
                  <a:srgbClr val="0E3A5C"/>
                </a:solidFill>
                <a:latin typeface="맑은 고딕" pitchFamily="34" charset="0"/>
                <a:ea typeface="맑은 고딕" pitchFamily="34" charset="-122"/>
                <a:cs typeface="맑은 고딕" pitchFamily="34" charset="-120"/>
              </a:rPr>
              <a:t>읽히는 것   </a:t>
            </a:r>
            <a:r>
              <a:rPr lang="en-US" sz="1250" dirty="0">
                <a:solidFill>
                  <a:srgbClr val="1A1A1A"/>
                </a:solidFill>
                <a:latin typeface="맑은 고딕" pitchFamily="34" charset="0"/>
                <a:ea typeface="맑은 고딕" pitchFamily="34" charset="-122"/>
                <a:cs typeface="맑은 고딕" pitchFamily="34" charset="-120"/>
              </a:rPr>
              <a:t>경사도 · 적재중량 · 속도 · 공조 전력은 우상향 경향이 보이지만, 점이 넓게 퍼져 있어 단일 변수만으로는 소비율이 정해지지 않는다.</a:t>
            </a:r>
            <a:endParaRPr lang="en-US" sz="1250" dirty="0"/>
          </a:p>
        </p:txBody>
      </p:sp>
      <p:sp>
        <p:nvSpPr>
          <p:cNvPr id="11" name="Shape 8"/>
          <p:cNvSpPr/>
          <p:nvPr/>
        </p:nvSpPr>
        <p:spPr>
          <a:xfrm>
            <a:off x="7086600" y="3255264"/>
            <a:ext cx="4572000" cy="1600200"/>
          </a:xfrm>
          <a:prstGeom prst="roundRect">
            <a:avLst>
              <a:gd name="adj" fmla="val 2857"/>
            </a:avLst>
          </a:prstGeom>
          <a:solidFill>
            <a:srgbClr val="FFFFFF"/>
          </a:solidFill>
          <a:ln w="12700">
            <a:solidFill>
              <a:srgbClr val="D8E8F0"/>
            </a:solidFill>
            <a:prstDash val="solid"/>
          </a:ln>
        </p:spPr>
        <p:txBody>
          <a:bodyPr/>
          <a:lstStyle/>
          <a:p>
            <a:endParaRPr lang="ko-KR" altLang="en-US"/>
          </a:p>
        </p:txBody>
      </p:sp>
      <p:sp>
        <p:nvSpPr>
          <p:cNvPr id="12" name="Text 9"/>
          <p:cNvSpPr txBox="1"/>
          <p:nvPr/>
        </p:nvSpPr>
        <p:spPr>
          <a:xfrm>
            <a:off x="7324344" y="3255264"/>
            <a:ext cx="4096512" cy="1600200"/>
          </a:xfrm>
          <a:prstGeom prst="rect">
            <a:avLst/>
          </a:prstGeom>
          <a:noFill/>
          <a:ln/>
        </p:spPr>
        <p:txBody>
          <a:bodyPr wrap="square" lIns="0" tIns="0" rIns="0" bIns="0" rtlCol="0" anchor="ctr"/>
          <a:lstStyle/>
          <a:p>
            <a:pPr marL="0" indent="0">
              <a:lnSpc>
                <a:spcPts val="1900"/>
              </a:lnSpc>
              <a:buNone/>
            </a:pPr>
            <a:r>
              <a:rPr lang="en-US" sz="1250" b="1" dirty="0">
                <a:solidFill>
                  <a:srgbClr val="0E3A5C"/>
                </a:solidFill>
                <a:latin typeface="맑은 고딕" pitchFamily="34" charset="0"/>
                <a:ea typeface="맑은 고딕" pitchFamily="34" charset="-122"/>
                <a:cs typeface="맑은 고딕" pitchFamily="34" charset="-120"/>
              </a:rPr>
              <a:t>한계   </a:t>
            </a:r>
            <a:r>
              <a:rPr lang="en-US" sz="1250" dirty="0">
                <a:solidFill>
                  <a:srgbClr val="1A1A1A"/>
                </a:solidFill>
                <a:latin typeface="맑은 고딕" pitchFamily="34" charset="0"/>
                <a:ea typeface="맑은 고딕" pitchFamily="34" charset="-122"/>
                <a:cs typeface="맑은 고딕" pitchFamily="34" charset="-120"/>
              </a:rPr>
              <a:t>8,000개 점이 겹쳐 있어 곡선 관계가 있어도 눈으로는 잘 드러나지 않는다.</a:t>
            </a:r>
            <a:endParaRPr lang="en-US" sz="1250" dirty="0"/>
          </a:p>
        </p:txBody>
      </p:sp>
      <p:sp>
        <p:nvSpPr>
          <p:cNvPr id="13" name="Shape 10"/>
          <p:cNvSpPr/>
          <p:nvPr/>
        </p:nvSpPr>
        <p:spPr>
          <a:xfrm>
            <a:off x="7086600" y="5001768"/>
            <a:ext cx="4572000" cy="1051560"/>
          </a:xfrm>
          <a:prstGeom prst="roundRect">
            <a:avLst>
              <a:gd name="adj" fmla="val 4348"/>
            </a:avLst>
          </a:prstGeom>
          <a:solidFill>
            <a:srgbClr val="D8E8F0"/>
          </a:solidFill>
          <a:ln w="12700">
            <a:solidFill>
              <a:srgbClr val="1C7293"/>
            </a:solidFill>
            <a:prstDash val="solid"/>
          </a:ln>
        </p:spPr>
        <p:txBody>
          <a:bodyPr/>
          <a:lstStyle/>
          <a:p>
            <a:endParaRPr lang="ko-KR" altLang="en-US"/>
          </a:p>
        </p:txBody>
      </p:sp>
      <p:sp>
        <p:nvSpPr>
          <p:cNvPr id="14" name="Text 11"/>
          <p:cNvSpPr txBox="1"/>
          <p:nvPr/>
        </p:nvSpPr>
        <p:spPr>
          <a:xfrm>
            <a:off x="7324344" y="5001768"/>
            <a:ext cx="4096512" cy="1051560"/>
          </a:xfrm>
          <a:prstGeom prst="rect">
            <a:avLst/>
          </a:prstGeom>
          <a:noFill/>
          <a:ln/>
        </p:spPr>
        <p:txBody>
          <a:bodyPr wrap="square" lIns="0" tIns="0" rIns="0" bIns="0" rtlCol="0" anchor="ctr"/>
          <a:lstStyle/>
          <a:p>
            <a:pPr marL="0" indent="0">
              <a:lnSpc>
                <a:spcPts val="1900"/>
              </a:lnSpc>
              <a:buNone/>
            </a:pPr>
            <a:r>
              <a:rPr lang="en-US" sz="1250" b="1" dirty="0">
                <a:solidFill>
                  <a:srgbClr val="0E3A5C"/>
                </a:solidFill>
                <a:latin typeface="맑은 고딕" pitchFamily="34" charset="0"/>
                <a:ea typeface="맑은 고딕" pitchFamily="34" charset="-122"/>
                <a:cs typeface="맑은 고딕" pitchFamily="34" charset="-120"/>
              </a:rPr>
              <a:t>그래서 다음   </a:t>
            </a:r>
            <a:r>
              <a:rPr lang="en-US" sz="1250" dirty="0">
                <a:solidFill>
                  <a:srgbClr val="1A1A1A"/>
                </a:solidFill>
                <a:latin typeface="맑은 고딕" pitchFamily="34" charset="0"/>
                <a:ea typeface="맑은 고딕" pitchFamily="34" charset="-122"/>
                <a:cs typeface="맑은 고딕" pitchFamily="34" charset="-120"/>
              </a:rPr>
              <a:t>구간별 평균으로 점의 안개를 걷어내고 추세만 본다.</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66928" y="365760"/>
            <a:ext cx="457200" cy="457200"/>
          </a:xfrm>
          <a:prstGeom prst="ellipse">
            <a:avLst/>
          </a:prstGeom>
          <a:solidFill>
            <a:srgbClr val="1C7293"/>
          </a:solidFill>
          <a:ln w="12700">
            <a:solidFill>
              <a:srgbClr val="1C7293"/>
            </a:solidFill>
            <a:prstDash val="solid"/>
          </a:ln>
        </p:spPr>
        <p:txBody>
          <a:bodyPr/>
          <a:lstStyle/>
          <a:p>
            <a:endParaRPr lang="ko-KR" altLang="en-US"/>
          </a:p>
        </p:txBody>
      </p:sp>
      <p:sp>
        <p:nvSpPr>
          <p:cNvPr id="3" name="Text 1"/>
          <p:cNvSpPr txBox="1"/>
          <p:nvPr/>
        </p:nvSpPr>
        <p:spPr>
          <a:xfrm>
            <a:off x="566928" y="3657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8</a:t>
            </a:r>
            <a:endParaRPr lang="en-US" sz="1600" dirty="0"/>
          </a:p>
        </p:txBody>
      </p:sp>
      <p:sp>
        <p:nvSpPr>
          <p:cNvPr id="4" name="Text 2"/>
          <p:cNvSpPr txBox="1"/>
          <p:nvPr/>
        </p:nvSpPr>
        <p:spPr>
          <a:xfrm>
            <a:off x="1152144" y="310896"/>
            <a:ext cx="10424160" cy="246888"/>
          </a:xfrm>
          <a:prstGeom prst="rect">
            <a:avLst/>
          </a:prstGeom>
          <a:noFill/>
          <a:ln/>
        </p:spPr>
        <p:txBody>
          <a:bodyPr wrap="square" lIns="0" tIns="0" rIns="0" bIns="0" rtlCol="0" anchor="ctr"/>
          <a:lstStyle/>
          <a:p>
            <a:pPr marL="0" indent="0">
              <a:buNone/>
            </a:pPr>
            <a:r>
              <a:rPr lang="en-US" sz="1150" b="1" kern="0" spc="100" dirty="0">
                <a:solidFill>
                  <a:srgbClr val="1C7293"/>
                </a:solidFill>
                <a:latin typeface="맑은 고딕" pitchFamily="34" charset="0"/>
                <a:ea typeface="맑은 고딕" pitchFamily="34" charset="-122"/>
                <a:cs typeface="맑은 고딕" pitchFamily="34" charset="-120"/>
              </a:rPr>
              <a:t>EDA ③ · 비선형 관계 탐색</a:t>
            </a:r>
            <a:endParaRPr lang="en-US" sz="1150" dirty="0"/>
          </a:p>
        </p:txBody>
      </p:sp>
      <p:sp>
        <p:nvSpPr>
          <p:cNvPr id="5" name="Text 3"/>
          <p:cNvSpPr txBox="1"/>
          <p:nvPr/>
        </p:nvSpPr>
        <p:spPr>
          <a:xfrm>
            <a:off x="1152144" y="566928"/>
            <a:ext cx="10469880" cy="530352"/>
          </a:xfrm>
          <a:prstGeom prst="rect">
            <a:avLst/>
          </a:prstGeom>
          <a:noFill/>
          <a:ln/>
        </p:spPr>
        <p:txBody>
          <a:bodyPr wrap="square" lIns="0" tIns="0" rIns="0" bIns="0" rtlCol="0" anchor="ctr"/>
          <a:lstStyle/>
          <a:p>
            <a:pPr marL="0" indent="0">
              <a:buNone/>
            </a:pPr>
            <a:r>
              <a:rPr lang="en-US" sz="2500" b="1" dirty="0">
                <a:solidFill>
                  <a:srgbClr val="0E3A5C"/>
                </a:solidFill>
                <a:latin typeface="맑은 고딕" pitchFamily="34" charset="0"/>
                <a:ea typeface="맑은 고딕" pitchFamily="34" charset="-122"/>
                <a:cs typeface="맑은 고딕" pitchFamily="34" charset="-120"/>
              </a:rPr>
              <a:t>구간별 평균으로 보니 하나만 모양이 달랐다</a:t>
            </a:r>
            <a:endParaRPr lang="en-US" sz="2500" dirty="0"/>
          </a:p>
        </p:txBody>
      </p:sp>
      <p:sp>
        <p:nvSpPr>
          <p:cNvPr id="6" name="Text 4"/>
          <p:cNvSpPr txBox="1"/>
          <p:nvPr/>
        </p:nvSpPr>
        <p:spPr>
          <a:xfrm>
            <a:off x="8686800" y="6519672"/>
            <a:ext cx="2926080" cy="274320"/>
          </a:xfrm>
          <a:prstGeom prst="rect">
            <a:avLst/>
          </a:prstGeom>
          <a:noFill/>
          <a:ln/>
        </p:spPr>
        <p:txBody>
          <a:bodyPr wrap="square" lIns="0" tIns="0" rIns="0" bIns="0" rtlCol="0" anchor="ctr"/>
          <a:lstStyle/>
          <a:p>
            <a:pPr marL="0" indent="0" algn="r">
              <a:buNone/>
            </a:pPr>
            <a:r>
              <a:rPr lang="en-US" sz="1000" dirty="0">
                <a:solidFill>
                  <a:srgbClr val="A8B4BE"/>
                </a:solidFill>
                <a:latin typeface="맑은 고딕" pitchFamily="34" charset="0"/>
                <a:ea typeface="맑은 고딕" pitchFamily="34" charset="-122"/>
                <a:cs typeface="맑은 고딕" pitchFamily="34" charset="-120"/>
              </a:rPr>
              <a:t>3. 탐색적 데이터 분석</a:t>
            </a:r>
            <a:endParaRPr lang="en-US" sz="1000" dirty="0"/>
          </a:p>
        </p:txBody>
      </p:sp>
      <p:pic>
        <p:nvPicPr>
          <p:cNvPr id="7" name="Image 0" descr="nb/binned.png"/>
          <p:cNvPicPr>
            <a:picLocks noChangeAspect="1"/>
          </p:cNvPicPr>
          <p:nvPr/>
        </p:nvPicPr>
        <p:blipFill>
          <a:blip r:embed="rId3"/>
          <a:stretch>
            <a:fillRect/>
          </a:stretch>
        </p:blipFill>
        <p:spPr>
          <a:xfrm>
            <a:off x="868680" y="1280160"/>
            <a:ext cx="5852160" cy="4672584"/>
          </a:xfrm>
          <a:prstGeom prst="rect">
            <a:avLst/>
          </a:prstGeom>
        </p:spPr>
      </p:pic>
      <p:sp>
        <p:nvSpPr>
          <p:cNvPr id="8" name="Text 5"/>
          <p:cNvSpPr txBox="1"/>
          <p:nvPr/>
        </p:nvSpPr>
        <p:spPr>
          <a:xfrm>
            <a:off x="868680" y="5989320"/>
            <a:ext cx="5852160" cy="237744"/>
          </a:xfrm>
          <a:prstGeom prst="rect">
            <a:avLst/>
          </a:prstGeom>
          <a:noFill/>
          <a:ln/>
        </p:spPr>
        <p:txBody>
          <a:bodyPr wrap="square" lIns="0" tIns="0" rIns="0" bIns="0" rtlCol="0" anchor="ctr"/>
          <a:lstStyle/>
          <a:p>
            <a:pPr marL="0" indent="0" algn="ctr">
              <a:buNone/>
            </a:pPr>
            <a:r>
              <a:rPr lang="en-US" sz="1050" dirty="0">
                <a:solidFill>
                  <a:srgbClr val="5F6B78"/>
                </a:solidFill>
                <a:latin typeface="맑은 고딕" pitchFamily="34" charset="0"/>
                <a:ea typeface="맑은 고딕" pitchFamily="34" charset="-122"/>
                <a:cs typeface="맑은 고딕" pitchFamily="34" charset="-120"/>
              </a:rPr>
              <a:t>각 변수를 관측 수가 비슷한 10개 구간으로 나눈 뒤 구간별 평균 소비율</a:t>
            </a:r>
            <a:endParaRPr lang="en-US" sz="1050" dirty="0"/>
          </a:p>
        </p:txBody>
      </p:sp>
      <p:sp>
        <p:nvSpPr>
          <p:cNvPr id="9" name="Shape 6"/>
          <p:cNvSpPr/>
          <p:nvPr/>
        </p:nvSpPr>
        <p:spPr>
          <a:xfrm>
            <a:off x="7086600" y="1371600"/>
            <a:ext cx="4572000" cy="1737360"/>
          </a:xfrm>
          <a:prstGeom prst="roundRect">
            <a:avLst>
              <a:gd name="adj" fmla="val 2632"/>
            </a:avLst>
          </a:prstGeom>
          <a:solidFill>
            <a:srgbClr val="D8E8F0"/>
          </a:solidFill>
          <a:ln w="12700">
            <a:solidFill>
              <a:srgbClr val="1C7293"/>
            </a:solidFill>
            <a:prstDash val="solid"/>
          </a:ln>
        </p:spPr>
        <p:txBody>
          <a:bodyPr/>
          <a:lstStyle/>
          <a:p>
            <a:endParaRPr lang="ko-KR" altLang="en-US"/>
          </a:p>
        </p:txBody>
      </p:sp>
      <p:sp>
        <p:nvSpPr>
          <p:cNvPr id="10" name="Text 7"/>
          <p:cNvSpPr txBox="1"/>
          <p:nvPr/>
        </p:nvSpPr>
        <p:spPr>
          <a:xfrm>
            <a:off x="7324344" y="1371600"/>
            <a:ext cx="4096512" cy="1737360"/>
          </a:xfrm>
          <a:prstGeom prst="rect">
            <a:avLst/>
          </a:prstGeom>
          <a:noFill/>
          <a:ln/>
        </p:spPr>
        <p:txBody>
          <a:bodyPr wrap="square" lIns="0" tIns="0" rIns="0" bIns="0" rtlCol="0" anchor="ctr"/>
          <a:lstStyle/>
          <a:p>
            <a:pPr marL="0" indent="0">
              <a:lnSpc>
                <a:spcPts val="1900"/>
              </a:lnSpc>
              <a:buNone/>
            </a:pPr>
            <a:r>
              <a:rPr lang="en-US" sz="1250" b="1" dirty="0">
                <a:solidFill>
                  <a:srgbClr val="0E3A5C"/>
                </a:solidFill>
                <a:latin typeface="맑은 고딕" pitchFamily="34" charset="0"/>
                <a:ea typeface="맑은 고딕" pitchFamily="34" charset="-122"/>
                <a:cs typeface="맑은 고딕" pitchFamily="34" charset="-120"/>
              </a:rPr>
              <a:t>방법   </a:t>
            </a:r>
            <a:r>
              <a:rPr lang="en-US" sz="1250" dirty="0">
                <a:solidFill>
                  <a:srgbClr val="1A1A1A"/>
                </a:solidFill>
                <a:latin typeface="맑은 고딕" pitchFamily="34" charset="0"/>
                <a:ea typeface="맑은 고딕" pitchFamily="34" charset="-122"/>
                <a:cs typeface="맑은 고딕" pitchFamily="34" charset="-120"/>
              </a:rPr>
              <a:t>pd.qcut으로 각 변수를 관측 수가 비슷한 10개 구간으로 나누고, 구간별 평균 소비율을 선으로 이었다. 점의 안개가 걷히고 추세만 남는다.</a:t>
            </a:r>
            <a:endParaRPr lang="en-US" sz="1250" dirty="0"/>
          </a:p>
        </p:txBody>
      </p:sp>
      <p:sp>
        <p:nvSpPr>
          <p:cNvPr id="11" name="Shape 8"/>
          <p:cNvSpPr/>
          <p:nvPr/>
        </p:nvSpPr>
        <p:spPr>
          <a:xfrm>
            <a:off x="7086600" y="3255264"/>
            <a:ext cx="4572000" cy="1737360"/>
          </a:xfrm>
          <a:prstGeom prst="roundRect">
            <a:avLst>
              <a:gd name="adj" fmla="val 2632"/>
            </a:avLst>
          </a:prstGeom>
          <a:solidFill>
            <a:srgbClr val="FFFFFF"/>
          </a:solidFill>
          <a:ln w="12700">
            <a:solidFill>
              <a:srgbClr val="D8E8F0"/>
            </a:solidFill>
            <a:prstDash val="solid"/>
          </a:ln>
        </p:spPr>
        <p:txBody>
          <a:bodyPr/>
          <a:lstStyle/>
          <a:p>
            <a:endParaRPr lang="ko-KR" altLang="en-US"/>
          </a:p>
        </p:txBody>
      </p:sp>
      <p:sp>
        <p:nvSpPr>
          <p:cNvPr id="12" name="Text 9"/>
          <p:cNvSpPr txBox="1"/>
          <p:nvPr/>
        </p:nvSpPr>
        <p:spPr>
          <a:xfrm>
            <a:off x="7324344" y="3255264"/>
            <a:ext cx="4096512" cy="1737360"/>
          </a:xfrm>
          <a:prstGeom prst="rect">
            <a:avLst/>
          </a:prstGeom>
          <a:noFill/>
          <a:ln/>
        </p:spPr>
        <p:txBody>
          <a:bodyPr wrap="square" lIns="0" tIns="0" rIns="0" bIns="0" rtlCol="0" anchor="ctr"/>
          <a:lstStyle/>
          <a:p>
            <a:pPr marL="0" indent="0">
              <a:lnSpc>
                <a:spcPts val="1900"/>
              </a:lnSpc>
              <a:buNone/>
            </a:pPr>
            <a:r>
              <a:rPr lang="en-US" sz="1250" b="1" dirty="0">
                <a:solidFill>
                  <a:srgbClr val="0E3A5C"/>
                </a:solidFill>
                <a:latin typeface="맑은 고딕" pitchFamily="34" charset="0"/>
                <a:ea typeface="맑은 고딕" pitchFamily="34" charset="-122"/>
                <a:cs typeface="맑은 고딕" pitchFamily="34" charset="-120"/>
              </a:rPr>
              <a:t>결과   </a:t>
            </a:r>
            <a:r>
              <a:rPr lang="en-US" sz="1250" dirty="0">
                <a:solidFill>
                  <a:srgbClr val="1A1A1A"/>
                </a:solidFill>
                <a:latin typeface="맑은 고딕" pitchFamily="34" charset="0"/>
                <a:ea typeface="맑은 고딕" pitchFamily="34" charset="-122"/>
                <a:cs typeface="맑은 고딕" pitchFamily="34" charset="-120"/>
              </a:rPr>
              <a:t>속도 · 적재중량 · 경사도 · 공조는 거의 직선으로 증가한다. 그런데 </a:t>
            </a:r>
            <a:r>
              <a:rPr lang="en-US" sz="1250" b="1" dirty="0">
                <a:solidFill>
                  <a:srgbClr val="C0392B"/>
                </a:solidFill>
                <a:latin typeface="맑은 고딕" pitchFamily="34" charset="0"/>
                <a:ea typeface="맑은 고딕" pitchFamily="34" charset="-122"/>
                <a:cs typeface="맑은 고딕" pitchFamily="34" charset="-120"/>
              </a:rPr>
              <a:t>외기온만 U자형</a:t>
            </a:r>
            <a:r>
              <a:rPr lang="en-US" sz="1250" dirty="0">
                <a:solidFill>
                  <a:srgbClr val="1A1A1A"/>
                </a:solidFill>
                <a:latin typeface="맑은 고딕" pitchFamily="34" charset="0"/>
                <a:ea typeface="맑은 고딕" pitchFamily="34" charset="-122"/>
                <a:cs typeface="맑은 고딕" pitchFamily="34" charset="-120"/>
              </a:rPr>
              <a:t>이다.</a:t>
            </a:r>
            <a:endParaRPr lang="en-US" sz="1250" dirty="0"/>
          </a:p>
        </p:txBody>
      </p:sp>
      <p:sp>
        <p:nvSpPr>
          <p:cNvPr id="13" name="Shape 10"/>
          <p:cNvSpPr/>
          <p:nvPr/>
        </p:nvSpPr>
        <p:spPr>
          <a:xfrm>
            <a:off x="7086600" y="5138928"/>
            <a:ext cx="4572000" cy="914400"/>
          </a:xfrm>
          <a:prstGeom prst="roundRect">
            <a:avLst>
              <a:gd name="adj" fmla="val 5000"/>
            </a:avLst>
          </a:prstGeom>
          <a:solidFill>
            <a:srgbClr val="D8E8F0"/>
          </a:solidFill>
          <a:ln w="12700">
            <a:solidFill>
              <a:srgbClr val="1C7293"/>
            </a:solidFill>
            <a:prstDash val="solid"/>
          </a:ln>
        </p:spPr>
        <p:txBody>
          <a:bodyPr/>
          <a:lstStyle/>
          <a:p>
            <a:endParaRPr lang="ko-KR" altLang="en-US"/>
          </a:p>
        </p:txBody>
      </p:sp>
      <p:sp>
        <p:nvSpPr>
          <p:cNvPr id="14" name="Text 11"/>
          <p:cNvSpPr txBox="1"/>
          <p:nvPr/>
        </p:nvSpPr>
        <p:spPr>
          <a:xfrm>
            <a:off x="7324344" y="5138928"/>
            <a:ext cx="4096512" cy="914400"/>
          </a:xfrm>
          <a:prstGeom prst="rect">
            <a:avLst/>
          </a:prstGeom>
          <a:noFill/>
          <a:ln/>
        </p:spPr>
        <p:txBody>
          <a:bodyPr wrap="square" lIns="0" tIns="0" rIns="0" bIns="0" rtlCol="0" anchor="ctr"/>
          <a:lstStyle/>
          <a:p>
            <a:pPr marL="0" indent="0">
              <a:lnSpc>
                <a:spcPts val="1900"/>
              </a:lnSpc>
              <a:buNone/>
            </a:pPr>
            <a:r>
              <a:rPr lang="en-US" sz="1250" b="1" dirty="0">
                <a:solidFill>
                  <a:srgbClr val="0E3A5C"/>
                </a:solidFill>
                <a:latin typeface="맑은 고딕" pitchFamily="34" charset="0"/>
                <a:ea typeface="맑은 고딕" pitchFamily="34" charset="-122"/>
                <a:cs typeface="맑은 고딕" pitchFamily="34" charset="-120"/>
              </a:rPr>
              <a:t>다음 장   </a:t>
            </a:r>
            <a:r>
              <a:rPr lang="en-US" sz="1250" dirty="0">
                <a:solidFill>
                  <a:srgbClr val="1A1A1A"/>
                </a:solidFill>
                <a:latin typeface="맑은 고딕" pitchFamily="34" charset="0"/>
                <a:ea typeface="맑은 고딕" pitchFamily="34" charset="-122"/>
                <a:cs typeface="맑은 고딕" pitchFamily="34" charset="-120"/>
              </a:rPr>
              <a:t>이 한 칸만 확대해서 보겠다.</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66928" y="365760"/>
            <a:ext cx="457200" cy="457200"/>
          </a:xfrm>
          <a:prstGeom prst="ellipse">
            <a:avLst/>
          </a:prstGeom>
          <a:solidFill>
            <a:srgbClr val="1C7293"/>
          </a:solidFill>
          <a:ln w="12700">
            <a:solidFill>
              <a:srgbClr val="1C7293"/>
            </a:solidFill>
            <a:prstDash val="solid"/>
          </a:ln>
        </p:spPr>
        <p:txBody>
          <a:bodyPr/>
          <a:lstStyle/>
          <a:p>
            <a:endParaRPr lang="ko-KR" altLang="en-US"/>
          </a:p>
        </p:txBody>
      </p:sp>
      <p:sp>
        <p:nvSpPr>
          <p:cNvPr id="3" name="Text 1"/>
          <p:cNvSpPr txBox="1"/>
          <p:nvPr/>
        </p:nvSpPr>
        <p:spPr>
          <a:xfrm>
            <a:off x="566928" y="3657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9</a:t>
            </a:r>
            <a:endParaRPr lang="en-US" sz="1600" dirty="0"/>
          </a:p>
        </p:txBody>
      </p:sp>
      <p:sp>
        <p:nvSpPr>
          <p:cNvPr id="4" name="Text 2"/>
          <p:cNvSpPr txBox="1"/>
          <p:nvPr/>
        </p:nvSpPr>
        <p:spPr>
          <a:xfrm>
            <a:off x="1152144" y="310896"/>
            <a:ext cx="10424160" cy="246888"/>
          </a:xfrm>
          <a:prstGeom prst="rect">
            <a:avLst/>
          </a:prstGeom>
          <a:noFill/>
          <a:ln/>
        </p:spPr>
        <p:txBody>
          <a:bodyPr wrap="square" lIns="0" tIns="0" rIns="0" bIns="0" rtlCol="0" anchor="ctr"/>
          <a:lstStyle/>
          <a:p>
            <a:pPr marL="0" indent="0">
              <a:buNone/>
            </a:pPr>
            <a:r>
              <a:rPr lang="en-US" sz="1150" b="1" kern="0" spc="100" dirty="0">
                <a:solidFill>
                  <a:srgbClr val="1C7293"/>
                </a:solidFill>
                <a:latin typeface="맑은 고딕" pitchFamily="34" charset="0"/>
                <a:ea typeface="맑은 고딕" pitchFamily="34" charset="-122"/>
                <a:cs typeface="맑은 고딕" pitchFamily="34" charset="-120"/>
              </a:rPr>
              <a:t>EDA ④ · 핵심 발견</a:t>
            </a:r>
            <a:endParaRPr lang="en-US" sz="1150" dirty="0"/>
          </a:p>
        </p:txBody>
      </p:sp>
      <p:sp>
        <p:nvSpPr>
          <p:cNvPr id="5" name="Text 3"/>
          <p:cNvSpPr txBox="1"/>
          <p:nvPr/>
        </p:nvSpPr>
        <p:spPr>
          <a:xfrm>
            <a:off x="1152144" y="566928"/>
            <a:ext cx="10469880" cy="530352"/>
          </a:xfrm>
          <a:prstGeom prst="rect">
            <a:avLst/>
          </a:prstGeom>
          <a:noFill/>
          <a:ln/>
        </p:spPr>
        <p:txBody>
          <a:bodyPr wrap="square" lIns="0" tIns="0" rIns="0" bIns="0" rtlCol="0" anchor="ctr"/>
          <a:lstStyle/>
          <a:p>
            <a:pPr marL="0" indent="0">
              <a:buNone/>
            </a:pPr>
            <a:r>
              <a:rPr lang="en-US" sz="2500" b="1" dirty="0">
                <a:solidFill>
                  <a:srgbClr val="0E3A5C"/>
                </a:solidFill>
                <a:latin typeface="맑은 고딕" pitchFamily="34" charset="0"/>
                <a:ea typeface="맑은 고딕" pitchFamily="34" charset="-122"/>
                <a:cs typeface="맑은 고딕" pitchFamily="34" charset="-120"/>
              </a:rPr>
              <a:t>상관계수가 놓친 것 — 외기온</a:t>
            </a:r>
            <a:endParaRPr lang="en-US" sz="2500" dirty="0"/>
          </a:p>
        </p:txBody>
      </p:sp>
      <p:sp>
        <p:nvSpPr>
          <p:cNvPr id="6" name="Text 4"/>
          <p:cNvSpPr txBox="1"/>
          <p:nvPr/>
        </p:nvSpPr>
        <p:spPr>
          <a:xfrm>
            <a:off x="8686800" y="6519672"/>
            <a:ext cx="2926080" cy="274320"/>
          </a:xfrm>
          <a:prstGeom prst="rect">
            <a:avLst/>
          </a:prstGeom>
          <a:noFill/>
          <a:ln/>
        </p:spPr>
        <p:txBody>
          <a:bodyPr wrap="square" lIns="0" tIns="0" rIns="0" bIns="0" rtlCol="0" anchor="ctr"/>
          <a:lstStyle/>
          <a:p>
            <a:pPr marL="0" indent="0" algn="r">
              <a:buNone/>
            </a:pPr>
            <a:r>
              <a:rPr lang="en-US" sz="1000" dirty="0">
                <a:solidFill>
                  <a:srgbClr val="A8B4BE"/>
                </a:solidFill>
                <a:latin typeface="맑은 고딕" pitchFamily="34" charset="0"/>
                <a:ea typeface="맑은 고딕" pitchFamily="34" charset="-122"/>
                <a:cs typeface="맑은 고딕" pitchFamily="34" charset="-120"/>
              </a:rPr>
              <a:t>3. 탐색적 데이터 분석</a:t>
            </a:r>
            <a:endParaRPr lang="en-US" sz="1000" dirty="0"/>
          </a:p>
        </p:txBody>
      </p:sp>
      <p:graphicFrame>
        <p:nvGraphicFramePr>
          <p:cNvPr id="7" name="Chart 0"/>
          <p:cNvGraphicFramePr/>
          <p:nvPr/>
        </p:nvGraphicFramePr>
        <p:xfrm>
          <a:off x="475488" y="1325880"/>
          <a:ext cx="672084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txBox="1"/>
          <p:nvPr/>
        </p:nvSpPr>
        <p:spPr>
          <a:xfrm>
            <a:off x="566928" y="5532120"/>
            <a:ext cx="6675120" cy="274320"/>
          </a:xfrm>
          <a:prstGeom prst="rect">
            <a:avLst/>
          </a:prstGeom>
          <a:noFill/>
          <a:ln/>
        </p:spPr>
        <p:txBody>
          <a:bodyPr wrap="square" lIns="0" tIns="0" rIns="0" bIns="0" rtlCol="0" anchor="ctr"/>
          <a:lstStyle/>
          <a:p>
            <a:pPr marL="0" indent="0">
              <a:buNone/>
            </a:pPr>
            <a:r>
              <a:rPr lang="en-US" sz="1200" dirty="0">
                <a:solidFill>
                  <a:srgbClr val="5F6B78"/>
                </a:solidFill>
                <a:latin typeface="맑은 고딕" pitchFamily="34" charset="0"/>
                <a:ea typeface="맑은 고딕" pitchFamily="34" charset="-122"/>
                <a:cs typeface="맑은 고딕" pitchFamily="34" charset="-120"/>
              </a:rPr>
              <a:t>영하에서 25.99 → 23.3°C에서 23.51 → 37.8°C에서 24.17로 다시 상승</a:t>
            </a:r>
            <a:endParaRPr lang="en-US" sz="1200" dirty="0"/>
          </a:p>
        </p:txBody>
      </p:sp>
      <p:sp>
        <p:nvSpPr>
          <p:cNvPr id="9" name="Shape 6"/>
          <p:cNvSpPr/>
          <p:nvPr/>
        </p:nvSpPr>
        <p:spPr>
          <a:xfrm>
            <a:off x="7269480" y="1371600"/>
            <a:ext cx="4361688" cy="1828800"/>
          </a:xfrm>
          <a:prstGeom prst="roundRect">
            <a:avLst>
              <a:gd name="adj" fmla="val 2500"/>
            </a:avLst>
          </a:prstGeom>
          <a:solidFill>
            <a:srgbClr val="FFFFFF"/>
          </a:solidFill>
          <a:ln w="12700">
            <a:solidFill>
              <a:srgbClr val="D8E8F0"/>
            </a:solidFill>
            <a:prstDash val="solid"/>
          </a:ln>
        </p:spPr>
        <p:txBody>
          <a:bodyPr/>
          <a:lstStyle/>
          <a:p>
            <a:endParaRPr lang="ko-KR" altLang="en-US"/>
          </a:p>
        </p:txBody>
      </p:sp>
      <p:sp>
        <p:nvSpPr>
          <p:cNvPr id="10" name="Text 7"/>
          <p:cNvSpPr txBox="1"/>
          <p:nvPr/>
        </p:nvSpPr>
        <p:spPr>
          <a:xfrm>
            <a:off x="7507224" y="1371600"/>
            <a:ext cx="3886200" cy="1828800"/>
          </a:xfrm>
          <a:prstGeom prst="rect">
            <a:avLst/>
          </a:prstGeom>
          <a:noFill/>
          <a:ln/>
        </p:spPr>
        <p:txBody>
          <a:bodyPr wrap="square" lIns="0" tIns="0" rIns="0" bIns="0" rtlCol="0" anchor="ctr"/>
          <a:lstStyle/>
          <a:p>
            <a:pPr marL="0" indent="0">
              <a:lnSpc>
                <a:spcPts val="1900"/>
              </a:lnSpc>
              <a:buNone/>
            </a:pPr>
            <a:r>
              <a:rPr lang="en-US" sz="1300" b="1" dirty="0">
                <a:solidFill>
                  <a:srgbClr val="0E3A5C"/>
                </a:solidFill>
                <a:latin typeface="맑은 고딕" pitchFamily="34" charset="0"/>
                <a:ea typeface="맑은 고딕" pitchFamily="34" charset="-122"/>
                <a:cs typeface="맑은 고딕" pitchFamily="34" charset="-120"/>
              </a:rPr>
              <a:t>직선이 아니라 U자형   </a:t>
            </a:r>
            <a:r>
              <a:rPr lang="en-US" sz="1300" dirty="0">
                <a:solidFill>
                  <a:srgbClr val="1A1A1A"/>
                </a:solidFill>
                <a:latin typeface="맑은 고딕" pitchFamily="34" charset="0"/>
                <a:ea typeface="맑은 고딕" pitchFamily="34" charset="-122"/>
                <a:cs typeface="맑은 고딕" pitchFamily="34" charset="-120"/>
              </a:rPr>
              <a:t>저온에서 높다 (난방 부하)</a:t>
            </a:r>
            <a:endParaRPr lang="en-US" sz="1300" dirty="0"/>
          </a:p>
          <a:p>
            <a:pPr marL="0" indent="0">
              <a:lnSpc>
                <a:spcPts val="1900"/>
              </a:lnSpc>
              <a:buNone/>
            </a:pPr>
            <a:r>
              <a:rPr lang="en-US" sz="1300" dirty="0">
                <a:solidFill>
                  <a:srgbClr val="1A1A1A"/>
                </a:solidFill>
                <a:latin typeface="맑은 고딕" pitchFamily="34" charset="0"/>
                <a:ea typeface="맑은 고딕" pitchFamily="34" charset="-122"/>
                <a:cs typeface="맑은 고딕" pitchFamily="34" charset="-120"/>
              </a:rPr>
              <a:t>10~30°C에서 가장 낮다</a:t>
            </a:r>
            <a:endParaRPr lang="en-US" sz="1300" dirty="0"/>
          </a:p>
          <a:p>
            <a:pPr marL="0" indent="0">
              <a:lnSpc>
                <a:spcPts val="1900"/>
              </a:lnSpc>
              <a:buNone/>
            </a:pPr>
            <a:r>
              <a:rPr lang="en-US" sz="1300" dirty="0">
                <a:solidFill>
                  <a:srgbClr val="1A1A1A"/>
                </a:solidFill>
                <a:latin typeface="맑은 고딕" pitchFamily="34" charset="0"/>
                <a:ea typeface="맑은 고딕" pitchFamily="34" charset="-122"/>
                <a:cs typeface="맑은 고딕" pitchFamily="34" charset="-120"/>
              </a:rPr>
              <a:t>고온에서 다시 오른다 (냉방 부하)</a:t>
            </a:r>
            <a:endParaRPr lang="en-US" sz="1300" dirty="0"/>
          </a:p>
        </p:txBody>
      </p:sp>
      <p:sp>
        <p:nvSpPr>
          <p:cNvPr id="11" name="Shape 8"/>
          <p:cNvSpPr/>
          <p:nvPr/>
        </p:nvSpPr>
        <p:spPr>
          <a:xfrm>
            <a:off x="7269480" y="3346704"/>
            <a:ext cx="4361688" cy="1600200"/>
          </a:xfrm>
          <a:prstGeom prst="roundRect">
            <a:avLst>
              <a:gd name="adj" fmla="val 2857"/>
            </a:avLst>
          </a:prstGeom>
          <a:solidFill>
            <a:srgbClr val="D8E8F0"/>
          </a:solidFill>
          <a:ln w="12700">
            <a:solidFill>
              <a:srgbClr val="1C7293"/>
            </a:solidFill>
            <a:prstDash val="solid"/>
          </a:ln>
        </p:spPr>
        <p:txBody>
          <a:bodyPr/>
          <a:lstStyle/>
          <a:p>
            <a:endParaRPr lang="ko-KR" altLang="en-US"/>
          </a:p>
        </p:txBody>
      </p:sp>
      <p:sp>
        <p:nvSpPr>
          <p:cNvPr id="12" name="Text 9"/>
          <p:cNvSpPr txBox="1"/>
          <p:nvPr/>
        </p:nvSpPr>
        <p:spPr>
          <a:xfrm>
            <a:off x="7507224" y="3346704"/>
            <a:ext cx="3886200" cy="1600200"/>
          </a:xfrm>
          <a:prstGeom prst="rect">
            <a:avLst/>
          </a:prstGeom>
          <a:noFill/>
          <a:ln/>
        </p:spPr>
        <p:txBody>
          <a:bodyPr wrap="square" lIns="0" tIns="0" rIns="0" bIns="0" rtlCol="0" anchor="ctr"/>
          <a:lstStyle/>
          <a:p>
            <a:pPr marL="0" indent="0">
              <a:lnSpc>
                <a:spcPts val="1900"/>
              </a:lnSpc>
              <a:buNone/>
            </a:pPr>
            <a:r>
              <a:rPr lang="en-US" sz="1300" b="1" dirty="0">
                <a:solidFill>
                  <a:srgbClr val="0E3A5C"/>
                </a:solidFill>
                <a:latin typeface="맑은 고딕" pitchFamily="34" charset="0"/>
                <a:ea typeface="맑은 고딕" pitchFamily="34" charset="-122"/>
                <a:cs typeface="맑은 고딕" pitchFamily="34" charset="-120"/>
              </a:rPr>
              <a:t>그래서 상관계수가 작았다   </a:t>
            </a:r>
            <a:r>
              <a:rPr lang="en-US" sz="1300" dirty="0">
                <a:solidFill>
                  <a:srgbClr val="1A1A1A"/>
                </a:solidFill>
                <a:latin typeface="맑은 고딕" pitchFamily="34" charset="0"/>
                <a:ea typeface="맑은 고딕" pitchFamily="34" charset="-122"/>
                <a:cs typeface="맑은 고딕" pitchFamily="34" charset="-120"/>
              </a:rPr>
              <a:t>증가 구간과 감소 구간이 상쇄되어 -0.155로 나왔을 뿐, 영향이 작아서가 아니다.</a:t>
            </a:r>
            <a:endParaRPr lang="en-US" sz="1300" dirty="0"/>
          </a:p>
        </p:txBody>
      </p:sp>
      <p:sp>
        <p:nvSpPr>
          <p:cNvPr id="13" name="Shape 10"/>
          <p:cNvSpPr/>
          <p:nvPr/>
        </p:nvSpPr>
        <p:spPr>
          <a:xfrm>
            <a:off x="7269480" y="5093208"/>
            <a:ext cx="4361688" cy="960120"/>
          </a:xfrm>
          <a:prstGeom prst="roundRect">
            <a:avLst>
              <a:gd name="adj" fmla="val 4762"/>
            </a:avLst>
          </a:prstGeom>
          <a:solidFill>
            <a:srgbClr val="0E3A5C"/>
          </a:solidFill>
          <a:ln w="12700">
            <a:solidFill>
              <a:srgbClr val="0E3A5C"/>
            </a:solidFill>
            <a:prstDash val="solid"/>
          </a:ln>
        </p:spPr>
        <p:txBody>
          <a:bodyPr/>
          <a:lstStyle/>
          <a:p>
            <a:endParaRPr lang="ko-KR" altLang="en-US"/>
          </a:p>
        </p:txBody>
      </p:sp>
      <p:sp>
        <p:nvSpPr>
          <p:cNvPr id="14" name="Text 11"/>
          <p:cNvSpPr txBox="1"/>
          <p:nvPr/>
        </p:nvSpPr>
        <p:spPr>
          <a:xfrm>
            <a:off x="7498080" y="5093208"/>
            <a:ext cx="3931920" cy="960120"/>
          </a:xfrm>
          <a:prstGeom prst="rect">
            <a:avLst/>
          </a:prstGeom>
          <a:noFill/>
          <a:ln/>
        </p:spPr>
        <p:txBody>
          <a:bodyPr wrap="square" lIns="0" tIns="0" rIns="0" bIns="0" rtlCol="0" anchor="ctr"/>
          <a:lstStyle/>
          <a:p>
            <a:pPr marL="0" indent="0">
              <a:buNone/>
            </a:pPr>
            <a:r>
              <a:rPr lang="en-US" sz="1350" b="1" dirty="0">
                <a:solidFill>
                  <a:srgbClr val="FFFFFF"/>
                </a:solidFill>
                <a:latin typeface="맑은 고딕" pitchFamily="34" charset="0"/>
                <a:ea typeface="맑은 고딕" pitchFamily="34" charset="-122"/>
                <a:cs typeface="맑은 고딕" pitchFamily="34" charset="-120"/>
              </a:rPr>
              <a:t>→ 이 발견이 5부 모델 개선의 근거가 된다</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66928" y="365760"/>
            <a:ext cx="457200" cy="457200"/>
          </a:xfrm>
          <a:prstGeom prst="ellipse">
            <a:avLst/>
          </a:prstGeom>
          <a:solidFill>
            <a:srgbClr val="1C7293"/>
          </a:solidFill>
          <a:ln w="12700">
            <a:solidFill>
              <a:srgbClr val="1C7293"/>
            </a:solidFill>
            <a:prstDash val="solid"/>
          </a:ln>
        </p:spPr>
        <p:txBody>
          <a:bodyPr/>
          <a:lstStyle/>
          <a:p>
            <a:endParaRPr lang="ko-KR" altLang="en-US"/>
          </a:p>
        </p:txBody>
      </p:sp>
      <p:sp>
        <p:nvSpPr>
          <p:cNvPr id="3" name="Text 1"/>
          <p:cNvSpPr txBox="1"/>
          <p:nvPr/>
        </p:nvSpPr>
        <p:spPr>
          <a:xfrm>
            <a:off x="566928" y="3657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10</a:t>
            </a:r>
            <a:endParaRPr lang="en-US" sz="1600" dirty="0"/>
          </a:p>
        </p:txBody>
      </p:sp>
      <p:sp>
        <p:nvSpPr>
          <p:cNvPr id="4" name="Text 2"/>
          <p:cNvSpPr txBox="1"/>
          <p:nvPr/>
        </p:nvSpPr>
        <p:spPr>
          <a:xfrm>
            <a:off x="1152144" y="310896"/>
            <a:ext cx="10424160" cy="246888"/>
          </a:xfrm>
          <a:prstGeom prst="rect">
            <a:avLst/>
          </a:prstGeom>
          <a:noFill/>
          <a:ln/>
        </p:spPr>
        <p:txBody>
          <a:bodyPr wrap="square" lIns="0" tIns="0" rIns="0" bIns="0" rtlCol="0" anchor="ctr"/>
          <a:lstStyle/>
          <a:p>
            <a:pPr marL="0" indent="0">
              <a:buNone/>
            </a:pPr>
            <a:r>
              <a:rPr lang="en-US" sz="1150" b="1" kern="0" spc="100" dirty="0">
                <a:solidFill>
                  <a:srgbClr val="1C7293"/>
                </a:solidFill>
                <a:latin typeface="맑은 고딕" pitchFamily="34" charset="0"/>
                <a:ea typeface="맑은 고딕" pitchFamily="34" charset="-122"/>
                <a:cs typeface="맑은 고딕" pitchFamily="34" charset="-120"/>
              </a:rPr>
              <a:t>EDA ⑤ · 다중공선성 확인</a:t>
            </a:r>
            <a:endParaRPr lang="en-US" sz="1150" dirty="0"/>
          </a:p>
        </p:txBody>
      </p:sp>
      <p:sp>
        <p:nvSpPr>
          <p:cNvPr id="5" name="Text 3"/>
          <p:cNvSpPr txBox="1"/>
          <p:nvPr/>
        </p:nvSpPr>
        <p:spPr>
          <a:xfrm>
            <a:off x="1152144" y="566928"/>
            <a:ext cx="10469880" cy="530352"/>
          </a:xfrm>
          <a:prstGeom prst="rect">
            <a:avLst/>
          </a:prstGeom>
          <a:noFill/>
          <a:ln/>
        </p:spPr>
        <p:txBody>
          <a:bodyPr wrap="square" lIns="0" tIns="0" rIns="0" bIns="0" rtlCol="0" anchor="ctr"/>
          <a:lstStyle/>
          <a:p>
            <a:pPr marL="0" indent="0">
              <a:buNone/>
            </a:pPr>
            <a:r>
              <a:rPr lang="en-US" sz="2500" b="1" dirty="0">
                <a:solidFill>
                  <a:srgbClr val="0E3A5C"/>
                </a:solidFill>
                <a:latin typeface="맑은 고딕" pitchFamily="34" charset="0"/>
                <a:ea typeface="맑은 고딕" pitchFamily="34" charset="-122"/>
                <a:cs typeface="맑은 고딕" pitchFamily="34" charset="-120"/>
              </a:rPr>
              <a:t>입력변수끼리는 서로 겹치지 않는다</a:t>
            </a:r>
            <a:endParaRPr lang="en-US" sz="2500" dirty="0"/>
          </a:p>
        </p:txBody>
      </p:sp>
      <p:sp>
        <p:nvSpPr>
          <p:cNvPr id="6" name="Text 4"/>
          <p:cNvSpPr txBox="1"/>
          <p:nvPr/>
        </p:nvSpPr>
        <p:spPr>
          <a:xfrm>
            <a:off x="8686800" y="6519672"/>
            <a:ext cx="2926080" cy="274320"/>
          </a:xfrm>
          <a:prstGeom prst="rect">
            <a:avLst/>
          </a:prstGeom>
          <a:noFill/>
          <a:ln/>
        </p:spPr>
        <p:txBody>
          <a:bodyPr wrap="square" lIns="0" tIns="0" rIns="0" bIns="0" rtlCol="0" anchor="ctr"/>
          <a:lstStyle/>
          <a:p>
            <a:pPr marL="0" indent="0" algn="r">
              <a:buNone/>
            </a:pPr>
            <a:r>
              <a:rPr lang="en-US" sz="1000" dirty="0">
                <a:solidFill>
                  <a:srgbClr val="A8B4BE"/>
                </a:solidFill>
                <a:latin typeface="맑은 고딕" pitchFamily="34" charset="0"/>
                <a:ea typeface="맑은 고딕" pitchFamily="34" charset="-122"/>
                <a:cs typeface="맑은 고딕" pitchFamily="34" charset="-120"/>
              </a:rPr>
              <a:t>3. 탐색적 데이터 분석</a:t>
            </a:r>
            <a:endParaRPr lang="en-US" sz="1000" dirty="0"/>
          </a:p>
        </p:txBody>
      </p:sp>
      <p:pic>
        <p:nvPicPr>
          <p:cNvPr id="7" name="Image 0" descr="nb/heatmap.png"/>
          <p:cNvPicPr>
            <a:picLocks noChangeAspect="1"/>
          </p:cNvPicPr>
          <p:nvPr/>
        </p:nvPicPr>
        <p:blipFill>
          <a:blip r:embed="rId3"/>
          <a:stretch>
            <a:fillRect/>
          </a:stretch>
        </p:blipFill>
        <p:spPr>
          <a:xfrm>
            <a:off x="1463040" y="1298448"/>
            <a:ext cx="5029200" cy="4389120"/>
          </a:xfrm>
          <a:prstGeom prst="rect">
            <a:avLst/>
          </a:prstGeom>
        </p:spPr>
      </p:pic>
      <p:sp>
        <p:nvSpPr>
          <p:cNvPr id="8" name="Text 5"/>
          <p:cNvSpPr txBox="1"/>
          <p:nvPr/>
        </p:nvSpPr>
        <p:spPr>
          <a:xfrm>
            <a:off x="1463040" y="5724144"/>
            <a:ext cx="5029200" cy="237744"/>
          </a:xfrm>
          <a:prstGeom prst="rect">
            <a:avLst/>
          </a:prstGeom>
          <a:noFill/>
          <a:ln/>
        </p:spPr>
        <p:txBody>
          <a:bodyPr wrap="square" lIns="0" tIns="0" rIns="0" bIns="0" rtlCol="0" anchor="ctr"/>
          <a:lstStyle/>
          <a:p>
            <a:pPr marL="0" indent="0" algn="ctr">
              <a:buNone/>
            </a:pPr>
            <a:r>
              <a:rPr lang="en-US" sz="1050" dirty="0">
                <a:solidFill>
                  <a:srgbClr val="5F6B78"/>
                </a:solidFill>
                <a:latin typeface="맑은 고딕" pitchFamily="34" charset="0"/>
                <a:ea typeface="맑은 고딕" pitchFamily="34" charset="-122"/>
                <a:cs typeface="맑은 고딕" pitchFamily="34" charset="-120"/>
              </a:rPr>
              <a:t>입력변수 간 상관계수 히트맵</a:t>
            </a:r>
            <a:endParaRPr lang="en-US" sz="1050" dirty="0"/>
          </a:p>
        </p:txBody>
      </p:sp>
      <p:sp>
        <p:nvSpPr>
          <p:cNvPr id="9" name="Shape 6"/>
          <p:cNvSpPr/>
          <p:nvPr/>
        </p:nvSpPr>
        <p:spPr>
          <a:xfrm>
            <a:off x="6858000" y="1371600"/>
            <a:ext cx="4773168" cy="1691640"/>
          </a:xfrm>
          <a:prstGeom prst="roundRect">
            <a:avLst>
              <a:gd name="adj" fmla="val 2703"/>
            </a:avLst>
          </a:prstGeom>
          <a:solidFill>
            <a:srgbClr val="D8E8F0"/>
          </a:solidFill>
          <a:ln w="12700">
            <a:solidFill>
              <a:srgbClr val="1C7293"/>
            </a:solidFill>
            <a:prstDash val="solid"/>
          </a:ln>
        </p:spPr>
        <p:txBody>
          <a:bodyPr/>
          <a:lstStyle/>
          <a:p>
            <a:endParaRPr lang="ko-KR" altLang="en-US"/>
          </a:p>
        </p:txBody>
      </p:sp>
      <p:sp>
        <p:nvSpPr>
          <p:cNvPr id="10" name="Text 7"/>
          <p:cNvSpPr txBox="1"/>
          <p:nvPr/>
        </p:nvSpPr>
        <p:spPr>
          <a:xfrm>
            <a:off x="7095744" y="1371600"/>
            <a:ext cx="4297680" cy="1691640"/>
          </a:xfrm>
          <a:prstGeom prst="rect">
            <a:avLst/>
          </a:prstGeom>
          <a:noFill/>
          <a:ln/>
        </p:spPr>
        <p:txBody>
          <a:bodyPr wrap="square" lIns="0" tIns="0" rIns="0" bIns="0" rtlCol="0" anchor="ctr"/>
          <a:lstStyle/>
          <a:p>
            <a:pPr marL="0" indent="0">
              <a:lnSpc>
                <a:spcPts val="1900"/>
              </a:lnSpc>
              <a:buNone/>
            </a:pPr>
            <a:r>
              <a:rPr lang="en-US" sz="1250" b="1" dirty="0">
                <a:solidFill>
                  <a:srgbClr val="0E3A5C"/>
                </a:solidFill>
                <a:latin typeface="맑은 고딕" pitchFamily="34" charset="0"/>
                <a:ea typeface="맑은 고딕" pitchFamily="34" charset="-122"/>
                <a:cs typeface="맑은 고딕" pitchFamily="34" charset="-120"/>
              </a:rPr>
              <a:t>확인한 것   </a:t>
            </a:r>
            <a:r>
              <a:rPr lang="en-US" sz="1250" dirty="0">
                <a:solidFill>
                  <a:srgbClr val="1A1A1A"/>
                </a:solidFill>
                <a:latin typeface="맑은 고딕" pitchFamily="34" charset="0"/>
                <a:ea typeface="맑은 고딕" pitchFamily="34" charset="-122"/>
                <a:cs typeface="맑은 고딕" pitchFamily="34" charset="-120"/>
              </a:rPr>
              <a:t>입력변수끼리 상관계수가 높으면 선형회귀 계수의 해석이 불안정해진다. 서로 같은 정보를 중복해서 담고 있는지 본 것이다.</a:t>
            </a:r>
            <a:endParaRPr lang="en-US" sz="1250" dirty="0"/>
          </a:p>
        </p:txBody>
      </p:sp>
      <p:sp>
        <p:nvSpPr>
          <p:cNvPr id="11" name="Shape 8"/>
          <p:cNvSpPr/>
          <p:nvPr/>
        </p:nvSpPr>
        <p:spPr>
          <a:xfrm>
            <a:off x="6858000" y="3209544"/>
            <a:ext cx="4773168" cy="1417320"/>
          </a:xfrm>
          <a:prstGeom prst="roundRect">
            <a:avLst>
              <a:gd name="adj" fmla="val 3226"/>
            </a:avLst>
          </a:prstGeom>
          <a:solidFill>
            <a:srgbClr val="FFFFFF"/>
          </a:solidFill>
          <a:ln w="12700">
            <a:solidFill>
              <a:srgbClr val="D8E8F0"/>
            </a:solidFill>
            <a:prstDash val="solid"/>
          </a:ln>
        </p:spPr>
        <p:txBody>
          <a:bodyPr/>
          <a:lstStyle/>
          <a:p>
            <a:endParaRPr lang="ko-KR" altLang="en-US"/>
          </a:p>
        </p:txBody>
      </p:sp>
      <p:sp>
        <p:nvSpPr>
          <p:cNvPr id="12" name="Text 9"/>
          <p:cNvSpPr txBox="1"/>
          <p:nvPr/>
        </p:nvSpPr>
        <p:spPr>
          <a:xfrm>
            <a:off x="7095744" y="3209544"/>
            <a:ext cx="4297680" cy="1417320"/>
          </a:xfrm>
          <a:prstGeom prst="rect">
            <a:avLst/>
          </a:prstGeom>
          <a:noFill/>
          <a:ln/>
        </p:spPr>
        <p:txBody>
          <a:bodyPr wrap="square" lIns="0" tIns="0" rIns="0" bIns="0" rtlCol="0" anchor="ctr"/>
          <a:lstStyle/>
          <a:p>
            <a:pPr marL="0" indent="0">
              <a:lnSpc>
                <a:spcPts val="1900"/>
              </a:lnSpc>
              <a:buNone/>
            </a:pPr>
            <a:r>
              <a:rPr lang="en-US" sz="1250" b="1" dirty="0">
                <a:solidFill>
                  <a:srgbClr val="0E3A5C"/>
                </a:solidFill>
                <a:latin typeface="맑은 고딕" pitchFamily="34" charset="0"/>
                <a:ea typeface="맑은 고딕" pitchFamily="34" charset="-122"/>
                <a:cs typeface="맑은 고딕" pitchFamily="34" charset="-120"/>
              </a:rPr>
              <a:t>결과   </a:t>
            </a:r>
            <a:r>
              <a:rPr lang="en-US" sz="1250" dirty="0">
                <a:solidFill>
                  <a:srgbClr val="1A1A1A"/>
                </a:solidFill>
                <a:latin typeface="맑은 고딕" pitchFamily="34" charset="0"/>
                <a:ea typeface="맑은 고딕" pitchFamily="34" charset="-122"/>
                <a:cs typeface="맑은 고딕" pitchFamily="34" charset="-120"/>
              </a:rPr>
              <a:t>대각선을 제외한 모든 값이 0에 가깝다. 다중공선성 우려가 크지 않다.</a:t>
            </a:r>
            <a:endParaRPr lang="en-US" sz="1250" dirty="0"/>
          </a:p>
        </p:txBody>
      </p:sp>
      <p:sp>
        <p:nvSpPr>
          <p:cNvPr id="13" name="Shape 10"/>
          <p:cNvSpPr/>
          <p:nvPr/>
        </p:nvSpPr>
        <p:spPr>
          <a:xfrm>
            <a:off x="6858000" y="4773168"/>
            <a:ext cx="4773168" cy="1280160"/>
          </a:xfrm>
          <a:prstGeom prst="roundRect">
            <a:avLst>
              <a:gd name="adj" fmla="val 3571"/>
            </a:avLst>
          </a:prstGeom>
          <a:solidFill>
            <a:srgbClr val="D8E8F0"/>
          </a:solidFill>
          <a:ln w="12700">
            <a:solidFill>
              <a:srgbClr val="1C7293"/>
            </a:solidFill>
            <a:prstDash val="solid"/>
          </a:ln>
        </p:spPr>
        <p:txBody>
          <a:bodyPr/>
          <a:lstStyle/>
          <a:p>
            <a:endParaRPr lang="ko-KR" altLang="en-US"/>
          </a:p>
        </p:txBody>
      </p:sp>
      <p:sp>
        <p:nvSpPr>
          <p:cNvPr id="14" name="Text 11"/>
          <p:cNvSpPr txBox="1"/>
          <p:nvPr/>
        </p:nvSpPr>
        <p:spPr>
          <a:xfrm>
            <a:off x="7095744" y="4773168"/>
            <a:ext cx="4297680" cy="1280160"/>
          </a:xfrm>
          <a:prstGeom prst="rect">
            <a:avLst/>
          </a:prstGeom>
          <a:noFill/>
          <a:ln/>
        </p:spPr>
        <p:txBody>
          <a:bodyPr wrap="square" lIns="0" tIns="0" rIns="0" bIns="0" rtlCol="0" anchor="ctr"/>
          <a:lstStyle/>
          <a:p>
            <a:pPr marL="0" indent="0">
              <a:lnSpc>
                <a:spcPts val="1900"/>
              </a:lnSpc>
              <a:buNone/>
            </a:pPr>
            <a:r>
              <a:rPr lang="en-US" sz="1250" b="1" dirty="0">
                <a:solidFill>
                  <a:srgbClr val="0E3A5C"/>
                </a:solidFill>
                <a:latin typeface="맑은 고딕" pitchFamily="34" charset="0"/>
                <a:ea typeface="맑은 고딕" pitchFamily="34" charset="-122"/>
                <a:cs typeface="맑은 고딕" pitchFamily="34" charset="-120"/>
              </a:rPr>
              <a:t>그래서 내린 결정   </a:t>
            </a:r>
            <a:r>
              <a:rPr lang="en-US" sz="1250" dirty="0">
                <a:solidFill>
                  <a:srgbClr val="1A1A1A"/>
                </a:solidFill>
                <a:latin typeface="맑은 고딕" pitchFamily="34" charset="0"/>
                <a:ea typeface="맑은 고딕" pitchFamily="34" charset="-122"/>
                <a:cs typeface="맑은 고딕" pitchFamily="34" charset="-120"/>
              </a:rPr>
              <a:t>변수를 사전에 제거하지 않고 9개를 모두 사용한다. 상관계수가 낮은 변수도 다른 변수와 함께라면 기여할 수 있다.</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0E3A5C"/>
        </a:solidFill>
        <a:effectLst/>
      </p:bgPr>
    </p:bg>
    <p:spTree>
      <p:nvGrpSpPr>
        <p:cNvPr id="1" name=""/>
        <p:cNvGrpSpPr/>
        <p:nvPr/>
      </p:nvGrpSpPr>
      <p:grpSpPr>
        <a:xfrm>
          <a:off x="0" y="0"/>
          <a:ext cx="0" cy="0"/>
          <a:chOff x="0" y="0"/>
          <a:chExt cx="0" cy="0"/>
        </a:xfrm>
      </p:grpSpPr>
      <p:sp>
        <p:nvSpPr>
          <p:cNvPr id="2" name="Shape 0"/>
          <p:cNvSpPr/>
          <p:nvPr/>
        </p:nvSpPr>
        <p:spPr>
          <a:xfrm>
            <a:off x="9966960" y="4023360"/>
            <a:ext cx="3108960" cy="3108960"/>
          </a:xfrm>
          <a:prstGeom prst="ellipse">
            <a:avLst/>
          </a:prstGeom>
          <a:solidFill>
            <a:srgbClr val="1C7293">
              <a:alpha val="20000"/>
            </a:srgbClr>
          </a:solidFill>
          <a:ln w="12700">
            <a:solidFill>
              <a:srgbClr val="1C7293">
                <a:alpha val="0"/>
              </a:srgbClr>
            </a:solidFill>
            <a:prstDash val="solid"/>
          </a:ln>
        </p:spPr>
        <p:txBody>
          <a:bodyPr/>
          <a:lstStyle/>
          <a:p>
            <a:endParaRPr lang="ko-KR" altLang="en-US"/>
          </a:p>
        </p:txBody>
      </p:sp>
      <p:sp>
        <p:nvSpPr>
          <p:cNvPr id="3" name="Text 1"/>
          <p:cNvSpPr txBox="1"/>
          <p:nvPr/>
        </p:nvSpPr>
        <p:spPr>
          <a:xfrm>
            <a:off x="658368" y="2286000"/>
            <a:ext cx="7315200" cy="292608"/>
          </a:xfrm>
          <a:prstGeom prst="rect">
            <a:avLst/>
          </a:prstGeom>
          <a:noFill/>
          <a:ln/>
        </p:spPr>
        <p:txBody>
          <a:bodyPr wrap="square" lIns="0" tIns="0" rIns="0" bIns="0" rtlCol="0" anchor="ctr"/>
          <a:lstStyle/>
          <a:p>
            <a:pPr marL="0" indent="0">
              <a:buNone/>
            </a:pPr>
            <a:r>
              <a:rPr lang="en-US" sz="1300" b="1" kern="0" spc="200" dirty="0">
                <a:solidFill>
                  <a:srgbClr val="9FC2D6"/>
                </a:solidFill>
                <a:latin typeface="맑은 고딕" pitchFamily="34" charset="0"/>
                <a:ea typeface="맑은 고딕" pitchFamily="34" charset="-122"/>
                <a:cs typeface="맑은 고딕" pitchFamily="34" charset="-120"/>
              </a:rPr>
              <a:t>PART 4</a:t>
            </a:r>
            <a:endParaRPr lang="en-US" sz="1300" dirty="0"/>
          </a:p>
        </p:txBody>
      </p:sp>
      <p:sp>
        <p:nvSpPr>
          <p:cNvPr id="4" name="Text 2"/>
          <p:cNvSpPr txBox="1"/>
          <p:nvPr/>
        </p:nvSpPr>
        <p:spPr>
          <a:xfrm>
            <a:off x="658368" y="2670048"/>
            <a:ext cx="8778240" cy="685800"/>
          </a:xfrm>
          <a:prstGeom prst="rect">
            <a:avLst/>
          </a:prstGeom>
          <a:noFill/>
          <a:ln/>
        </p:spPr>
        <p:txBody>
          <a:bodyPr wrap="square" lIns="0" tIns="0" rIns="0" bIns="0" rtlCol="0" anchor="ctr"/>
          <a:lstStyle/>
          <a:p>
            <a:pPr marL="0" indent="0">
              <a:buNone/>
            </a:pPr>
            <a:r>
              <a:rPr lang="en-US" sz="3400" b="1" dirty="0">
                <a:solidFill>
                  <a:srgbClr val="FFFFFF"/>
                </a:solidFill>
                <a:latin typeface="맑은 고딕" pitchFamily="34" charset="0"/>
                <a:ea typeface="맑은 고딕" pitchFamily="34" charset="-122"/>
                <a:cs typeface="맑은 고딕" pitchFamily="34" charset="-120"/>
              </a:rPr>
              <a:t>모델링</a:t>
            </a:r>
            <a:endParaRPr lang="en-US" sz="3400" dirty="0"/>
          </a:p>
        </p:txBody>
      </p:sp>
      <p:sp>
        <p:nvSpPr>
          <p:cNvPr id="5" name="Text 3"/>
          <p:cNvSpPr txBox="1"/>
          <p:nvPr/>
        </p:nvSpPr>
        <p:spPr>
          <a:xfrm>
            <a:off x="658368" y="3520440"/>
            <a:ext cx="8778240" cy="365760"/>
          </a:xfrm>
          <a:prstGeom prst="rect">
            <a:avLst/>
          </a:prstGeom>
          <a:noFill/>
          <a:ln/>
        </p:spPr>
        <p:txBody>
          <a:bodyPr wrap="square" lIns="0" tIns="0" rIns="0" bIns="0" rtlCol="0" anchor="ctr"/>
          <a:lstStyle/>
          <a:p>
            <a:pPr marL="0" indent="0">
              <a:buNone/>
            </a:pPr>
            <a:r>
              <a:rPr lang="en-US" sz="1400" dirty="0">
                <a:solidFill>
                  <a:srgbClr val="D8E8F0"/>
                </a:solidFill>
                <a:latin typeface="맑은 고딕" pitchFamily="34" charset="0"/>
                <a:ea typeface="맑은 고딕" pitchFamily="34" charset="-122"/>
                <a:cs typeface="맑은 고딕" pitchFamily="34" charset="-120"/>
              </a:rPr>
              <a:t>기준 모델 → 비교 모델 → 튜닝 → 성능 비교</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66928" y="365760"/>
            <a:ext cx="457200" cy="457200"/>
          </a:xfrm>
          <a:prstGeom prst="ellipse">
            <a:avLst/>
          </a:prstGeom>
          <a:solidFill>
            <a:srgbClr val="1C7293"/>
          </a:solidFill>
          <a:ln w="12700">
            <a:solidFill>
              <a:srgbClr val="1C7293"/>
            </a:solidFill>
            <a:prstDash val="solid"/>
          </a:ln>
        </p:spPr>
        <p:txBody>
          <a:bodyPr/>
          <a:lstStyle/>
          <a:p>
            <a:endParaRPr lang="ko-KR" altLang="en-US"/>
          </a:p>
        </p:txBody>
      </p:sp>
      <p:sp>
        <p:nvSpPr>
          <p:cNvPr id="3" name="Text 1"/>
          <p:cNvSpPr txBox="1"/>
          <p:nvPr/>
        </p:nvSpPr>
        <p:spPr>
          <a:xfrm>
            <a:off x="566928" y="3657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11</a:t>
            </a:r>
            <a:endParaRPr lang="en-US" sz="1600" dirty="0"/>
          </a:p>
        </p:txBody>
      </p:sp>
      <p:sp>
        <p:nvSpPr>
          <p:cNvPr id="4" name="Text 2"/>
          <p:cNvSpPr txBox="1"/>
          <p:nvPr/>
        </p:nvSpPr>
        <p:spPr>
          <a:xfrm>
            <a:off x="1152144" y="310896"/>
            <a:ext cx="10424160" cy="246888"/>
          </a:xfrm>
          <a:prstGeom prst="rect">
            <a:avLst/>
          </a:prstGeom>
          <a:noFill/>
          <a:ln/>
        </p:spPr>
        <p:txBody>
          <a:bodyPr wrap="square" lIns="0" tIns="0" rIns="0" bIns="0" rtlCol="0" anchor="ctr"/>
          <a:lstStyle/>
          <a:p>
            <a:pPr marL="0" indent="0">
              <a:buNone/>
            </a:pPr>
            <a:r>
              <a:rPr lang="en-US" sz="1150" b="1" kern="0" spc="100" dirty="0">
                <a:solidFill>
                  <a:srgbClr val="1C7293"/>
                </a:solidFill>
                <a:latin typeface="맑은 고딕" pitchFamily="34" charset="0"/>
                <a:ea typeface="맑은 고딕" pitchFamily="34" charset="-122"/>
                <a:cs typeface="맑은 고딕" pitchFamily="34" charset="-120"/>
              </a:rPr>
              <a:t>모델링 · 학습 준비</a:t>
            </a:r>
            <a:endParaRPr lang="en-US" sz="1150" dirty="0"/>
          </a:p>
        </p:txBody>
      </p:sp>
      <p:sp>
        <p:nvSpPr>
          <p:cNvPr id="5" name="Text 3"/>
          <p:cNvSpPr txBox="1"/>
          <p:nvPr/>
        </p:nvSpPr>
        <p:spPr>
          <a:xfrm>
            <a:off x="1152144" y="566928"/>
            <a:ext cx="10469880" cy="530352"/>
          </a:xfrm>
          <a:prstGeom prst="rect">
            <a:avLst/>
          </a:prstGeom>
          <a:noFill/>
          <a:ln/>
        </p:spPr>
        <p:txBody>
          <a:bodyPr wrap="square" lIns="0" tIns="0" rIns="0" bIns="0" rtlCol="0" anchor="ctr"/>
          <a:lstStyle/>
          <a:p>
            <a:pPr marL="0" indent="0">
              <a:buNone/>
            </a:pPr>
            <a:r>
              <a:rPr lang="en-US" sz="2500" b="1" dirty="0">
                <a:solidFill>
                  <a:srgbClr val="0E3A5C"/>
                </a:solidFill>
                <a:latin typeface="맑은 고딕" pitchFamily="34" charset="0"/>
                <a:ea typeface="맑은 고딕" pitchFamily="34" charset="-122"/>
                <a:cs typeface="맑은 고딕" pitchFamily="34" charset="-120"/>
              </a:rPr>
              <a:t>먼저 나누고, 기준은 학습 데이터에서만 정한다</a:t>
            </a:r>
            <a:endParaRPr lang="en-US" sz="2500" dirty="0"/>
          </a:p>
        </p:txBody>
      </p:sp>
      <p:sp>
        <p:nvSpPr>
          <p:cNvPr id="6" name="Text 4"/>
          <p:cNvSpPr txBox="1"/>
          <p:nvPr/>
        </p:nvSpPr>
        <p:spPr>
          <a:xfrm>
            <a:off x="8686800" y="6519672"/>
            <a:ext cx="2926080" cy="274320"/>
          </a:xfrm>
          <a:prstGeom prst="rect">
            <a:avLst/>
          </a:prstGeom>
          <a:noFill/>
          <a:ln/>
        </p:spPr>
        <p:txBody>
          <a:bodyPr wrap="square" lIns="0" tIns="0" rIns="0" bIns="0" rtlCol="0" anchor="ctr"/>
          <a:lstStyle/>
          <a:p>
            <a:pPr marL="0" indent="0" algn="r">
              <a:buNone/>
            </a:pPr>
            <a:r>
              <a:rPr lang="en-US" sz="1000" dirty="0">
                <a:solidFill>
                  <a:srgbClr val="A8B4BE"/>
                </a:solidFill>
                <a:latin typeface="맑은 고딕" pitchFamily="34" charset="0"/>
                <a:ea typeface="맑은 고딕" pitchFamily="34" charset="-122"/>
                <a:cs typeface="맑은 고딕" pitchFamily="34" charset="-120"/>
              </a:rPr>
              <a:t>4. 모델링</a:t>
            </a:r>
            <a:endParaRPr lang="en-US" sz="1000" dirty="0"/>
          </a:p>
        </p:txBody>
      </p:sp>
      <p:sp>
        <p:nvSpPr>
          <p:cNvPr id="7" name="Shape 5"/>
          <p:cNvSpPr/>
          <p:nvPr/>
        </p:nvSpPr>
        <p:spPr>
          <a:xfrm>
            <a:off x="566928" y="1371600"/>
            <a:ext cx="2487168" cy="1417320"/>
          </a:xfrm>
          <a:prstGeom prst="roundRect">
            <a:avLst>
              <a:gd name="adj" fmla="val 3226"/>
            </a:avLst>
          </a:prstGeom>
          <a:solidFill>
            <a:srgbClr val="EFF6FA"/>
          </a:solidFill>
          <a:ln w="12700">
            <a:solidFill>
              <a:srgbClr val="D8E8F0"/>
            </a:solidFill>
            <a:prstDash val="solid"/>
          </a:ln>
        </p:spPr>
        <p:txBody>
          <a:bodyPr/>
          <a:lstStyle/>
          <a:p>
            <a:endParaRPr lang="ko-KR" altLang="en-US"/>
          </a:p>
        </p:txBody>
      </p:sp>
      <p:sp>
        <p:nvSpPr>
          <p:cNvPr id="8" name="Text 6"/>
          <p:cNvSpPr txBox="1"/>
          <p:nvPr/>
        </p:nvSpPr>
        <p:spPr>
          <a:xfrm>
            <a:off x="731520" y="1536192"/>
            <a:ext cx="2157984" cy="329184"/>
          </a:xfrm>
          <a:prstGeom prst="rect">
            <a:avLst/>
          </a:prstGeom>
          <a:noFill/>
          <a:ln/>
        </p:spPr>
        <p:txBody>
          <a:bodyPr wrap="square" lIns="0" tIns="0" rIns="0" bIns="0" rtlCol="0" anchor="ctr"/>
          <a:lstStyle/>
          <a:p>
            <a:pPr marL="0" indent="0">
              <a:buNone/>
            </a:pPr>
            <a:r>
              <a:rPr lang="en-US" sz="1350" b="1" dirty="0">
                <a:solidFill>
                  <a:srgbClr val="1C7293"/>
                </a:solidFill>
                <a:latin typeface="맑은 고딕" pitchFamily="34" charset="0"/>
                <a:ea typeface="맑은 고딕" pitchFamily="34" charset="-122"/>
                <a:cs typeface="맑은 고딕" pitchFamily="34" charset="-120"/>
              </a:rPr>
              <a:t>X / y 분리</a:t>
            </a:r>
            <a:endParaRPr lang="en-US" sz="1350" dirty="0"/>
          </a:p>
        </p:txBody>
      </p:sp>
      <p:sp>
        <p:nvSpPr>
          <p:cNvPr id="9" name="Text 7"/>
          <p:cNvSpPr txBox="1"/>
          <p:nvPr/>
        </p:nvSpPr>
        <p:spPr>
          <a:xfrm>
            <a:off x="731520" y="1920240"/>
            <a:ext cx="2157984" cy="777240"/>
          </a:xfrm>
          <a:prstGeom prst="rect">
            <a:avLst/>
          </a:prstGeom>
          <a:noFill/>
          <a:ln/>
        </p:spPr>
        <p:txBody>
          <a:bodyPr wrap="square" lIns="0" tIns="0" rIns="0" bIns="0" rtlCol="0" anchor="ctr"/>
          <a:lstStyle/>
          <a:p>
            <a:pPr marL="0" indent="0">
              <a:lnSpc>
                <a:spcPts val="1700"/>
              </a:lnSpc>
              <a:buNone/>
            </a:pPr>
            <a:r>
              <a:rPr lang="en-US" sz="1200" dirty="0">
                <a:solidFill>
                  <a:srgbClr val="1A1A1A"/>
                </a:solidFill>
                <a:latin typeface="맑은 고딕" pitchFamily="34" charset="0"/>
                <a:ea typeface="맑은 고딕" pitchFamily="34" charset="-122"/>
                <a:cs typeface="맑은 고딕" pitchFamily="34" charset="-120"/>
              </a:rPr>
              <a:t>X = 9개 입력변수</a:t>
            </a:r>
            <a:endParaRPr lang="en-US" sz="1200" dirty="0"/>
          </a:p>
          <a:p>
            <a:pPr marL="0" indent="0">
              <a:lnSpc>
                <a:spcPts val="1700"/>
              </a:lnSpc>
              <a:buNone/>
            </a:pPr>
            <a:r>
              <a:rPr lang="en-US" sz="1200" dirty="0">
                <a:solidFill>
                  <a:srgbClr val="1A1A1A"/>
                </a:solidFill>
                <a:latin typeface="맑은 고딕" pitchFamily="34" charset="0"/>
                <a:ea typeface="맑은 고딕" pitchFamily="34" charset="-122"/>
                <a:cs typeface="맑은 고딕" pitchFamily="34" charset="-120"/>
              </a:rPr>
              <a:t>y = 소비율</a:t>
            </a:r>
            <a:endParaRPr lang="en-US" sz="1200" dirty="0"/>
          </a:p>
        </p:txBody>
      </p:sp>
      <p:sp>
        <p:nvSpPr>
          <p:cNvPr id="10" name="Text 8"/>
          <p:cNvSpPr txBox="1"/>
          <p:nvPr/>
        </p:nvSpPr>
        <p:spPr>
          <a:xfrm>
            <a:off x="3054096" y="1371600"/>
            <a:ext cx="365760" cy="1417320"/>
          </a:xfrm>
          <a:prstGeom prst="rect">
            <a:avLst/>
          </a:prstGeom>
          <a:noFill/>
          <a:ln/>
        </p:spPr>
        <p:txBody>
          <a:bodyPr wrap="square" lIns="0" tIns="0" rIns="0" bIns="0" rtlCol="0" anchor="ctr"/>
          <a:lstStyle/>
          <a:p>
            <a:pPr marL="0" indent="0" algn="ctr">
              <a:buNone/>
            </a:pPr>
            <a:r>
              <a:rPr lang="en-US" sz="1700" dirty="0">
                <a:solidFill>
                  <a:srgbClr val="1C7293"/>
                </a:solidFill>
                <a:latin typeface="맑은 고딕" pitchFamily="34" charset="0"/>
                <a:ea typeface="맑은 고딕" pitchFamily="34" charset="-122"/>
                <a:cs typeface="맑은 고딕" pitchFamily="34" charset="-120"/>
              </a:rPr>
              <a:t>→</a:t>
            </a:r>
            <a:endParaRPr lang="en-US" sz="1700" dirty="0"/>
          </a:p>
        </p:txBody>
      </p:sp>
      <p:sp>
        <p:nvSpPr>
          <p:cNvPr id="11" name="Shape 9"/>
          <p:cNvSpPr/>
          <p:nvPr/>
        </p:nvSpPr>
        <p:spPr>
          <a:xfrm>
            <a:off x="3419856" y="1371600"/>
            <a:ext cx="2487168" cy="1417320"/>
          </a:xfrm>
          <a:prstGeom prst="roundRect">
            <a:avLst>
              <a:gd name="adj" fmla="val 3226"/>
            </a:avLst>
          </a:prstGeom>
          <a:solidFill>
            <a:srgbClr val="EFF6FA"/>
          </a:solidFill>
          <a:ln w="12700">
            <a:solidFill>
              <a:srgbClr val="D8E8F0"/>
            </a:solidFill>
            <a:prstDash val="solid"/>
          </a:ln>
        </p:spPr>
        <p:txBody>
          <a:bodyPr/>
          <a:lstStyle/>
          <a:p>
            <a:endParaRPr lang="ko-KR" altLang="en-US"/>
          </a:p>
        </p:txBody>
      </p:sp>
      <p:sp>
        <p:nvSpPr>
          <p:cNvPr id="12" name="Text 10"/>
          <p:cNvSpPr txBox="1"/>
          <p:nvPr/>
        </p:nvSpPr>
        <p:spPr>
          <a:xfrm>
            <a:off x="3584448" y="1536192"/>
            <a:ext cx="2157984" cy="329184"/>
          </a:xfrm>
          <a:prstGeom prst="rect">
            <a:avLst/>
          </a:prstGeom>
          <a:noFill/>
          <a:ln/>
        </p:spPr>
        <p:txBody>
          <a:bodyPr wrap="square" lIns="0" tIns="0" rIns="0" bIns="0" rtlCol="0" anchor="ctr"/>
          <a:lstStyle/>
          <a:p>
            <a:pPr marL="0" indent="0">
              <a:buNone/>
            </a:pPr>
            <a:r>
              <a:rPr lang="en-US" sz="1350" b="1" dirty="0">
                <a:solidFill>
                  <a:srgbClr val="1C7293"/>
                </a:solidFill>
                <a:latin typeface="맑은 고딕" pitchFamily="34" charset="0"/>
                <a:ea typeface="맑은 고딕" pitchFamily="34" charset="-122"/>
                <a:cs typeface="맑은 고딕" pitchFamily="34" charset="-120"/>
              </a:rPr>
              <a:t>Train / Test 분리</a:t>
            </a:r>
            <a:endParaRPr lang="en-US" sz="1350" dirty="0"/>
          </a:p>
        </p:txBody>
      </p:sp>
      <p:sp>
        <p:nvSpPr>
          <p:cNvPr id="13" name="Text 11"/>
          <p:cNvSpPr txBox="1"/>
          <p:nvPr/>
        </p:nvSpPr>
        <p:spPr>
          <a:xfrm>
            <a:off x="3584448" y="1920240"/>
            <a:ext cx="2157984" cy="777240"/>
          </a:xfrm>
          <a:prstGeom prst="rect">
            <a:avLst/>
          </a:prstGeom>
          <a:noFill/>
          <a:ln/>
        </p:spPr>
        <p:txBody>
          <a:bodyPr wrap="square" lIns="0" tIns="0" rIns="0" bIns="0" rtlCol="0" anchor="ctr"/>
          <a:lstStyle/>
          <a:p>
            <a:pPr marL="0" indent="0">
              <a:lnSpc>
                <a:spcPts val="1700"/>
              </a:lnSpc>
              <a:buNone/>
            </a:pPr>
            <a:r>
              <a:rPr lang="en-US" sz="1200" dirty="0">
                <a:solidFill>
                  <a:srgbClr val="1A1A1A"/>
                </a:solidFill>
                <a:latin typeface="맑은 고딕" pitchFamily="34" charset="0"/>
                <a:ea typeface="맑은 고딕" pitchFamily="34" charset="-122"/>
                <a:cs typeface="맑은 고딕" pitchFamily="34" charset="-120"/>
              </a:rPr>
              <a:t>6,400 / 1,600</a:t>
            </a:r>
            <a:endParaRPr lang="en-US" sz="1200" dirty="0"/>
          </a:p>
          <a:p>
            <a:pPr marL="0" indent="0">
              <a:lnSpc>
                <a:spcPts val="1700"/>
              </a:lnSpc>
              <a:buNone/>
            </a:pPr>
            <a:r>
              <a:rPr lang="en-US" sz="1200" dirty="0">
                <a:solidFill>
                  <a:srgbClr val="1A1A1A"/>
                </a:solidFill>
                <a:latin typeface="맑은 고딕" pitchFamily="34" charset="0"/>
                <a:ea typeface="맑은 고딕" pitchFamily="34" charset="-122"/>
                <a:cs typeface="맑은 고딕" pitchFamily="34" charset="-120"/>
              </a:rPr>
              <a:t>(80 : 20)</a:t>
            </a:r>
            <a:endParaRPr lang="en-US" sz="1200" dirty="0"/>
          </a:p>
        </p:txBody>
      </p:sp>
      <p:sp>
        <p:nvSpPr>
          <p:cNvPr id="14" name="Text 12"/>
          <p:cNvSpPr txBox="1"/>
          <p:nvPr/>
        </p:nvSpPr>
        <p:spPr>
          <a:xfrm>
            <a:off x="5907024" y="1371600"/>
            <a:ext cx="365760" cy="1417320"/>
          </a:xfrm>
          <a:prstGeom prst="rect">
            <a:avLst/>
          </a:prstGeom>
          <a:noFill/>
          <a:ln/>
        </p:spPr>
        <p:txBody>
          <a:bodyPr wrap="square" lIns="0" tIns="0" rIns="0" bIns="0" rtlCol="0" anchor="ctr"/>
          <a:lstStyle/>
          <a:p>
            <a:pPr marL="0" indent="0" algn="ctr">
              <a:buNone/>
            </a:pPr>
            <a:r>
              <a:rPr lang="en-US" sz="1700" dirty="0">
                <a:solidFill>
                  <a:srgbClr val="1C7293"/>
                </a:solidFill>
                <a:latin typeface="맑은 고딕" pitchFamily="34" charset="0"/>
                <a:ea typeface="맑은 고딕" pitchFamily="34" charset="-122"/>
                <a:cs typeface="맑은 고딕" pitchFamily="34" charset="-120"/>
              </a:rPr>
              <a:t>→</a:t>
            </a:r>
            <a:endParaRPr lang="en-US" sz="1700" dirty="0"/>
          </a:p>
        </p:txBody>
      </p:sp>
      <p:sp>
        <p:nvSpPr>
          <p:cNvPr id="15" name="Shape 13"/>
          <p:cNvSpPr/>
          <p:nvPr/>
        </p:nvSpPr>
        <p:spPr>
          <a:xfrm>
            <a:off x="6272784" y="1371600"/>
            <a:ext cx="2487168" cy="1417320"/>
          </a:xfrm>
          <a:prstGeom prst="roundRect">
            <a:avLst>
              <a:gd name="adj" fmla="val 3226"/>
            </a:avLst>
          </a:prstGeom>
          <a:solidFill>
            <a:srgbClr val="EFF6FA"/>
          </a:solidFill>
          <a:ln w="12700">
            <a:solidFill>
              <a:srgbClr val="D8E8F0"/>
            </a:solidFill>
            <a:prstDash val="solid"/>
          </a:ln>
        </p:spPr>
        <p:txBody>
          <a:bodyPr/>
          <a:lstStyle/>
          <a:p>
            <a:endParaRPr lang="ko-KR" altLang="en-US"/>
          </a:p>
        </p:txBody>
      </p:sp>
      <p:sp>
        <p:nvSpPr>
          <p:cNvPr id="16" name="Text 14"/>
          <p:cNvSpPr txBox="1"/>
          <p:nvPr/>
        </p:nvSpPr>
        <p:spPr>
          <a:xfrm>
            <a:off x="6437376" y="1536192"/>
            <a:ext cx="2157984" cy="329184"/>
          </a:xfrm>
          <a:prstGeom prst="rect">
            <a:avLst/>
          </a:prstGeom>
          <a:noFill/>
          <a:ln/>
        </p:spPr>
        <p:txBody>
          <a:bodyPr wrap="square" lIns="0" tIns="0" rIns="0" bIns="0" rtlCol="0" anchor="ctr"/>
          <a:lstStyle/>
          <a:p>
            <a:pPr marL="0" indent="0">
              <a:buNone/>
            </a:pPr>
            <a:r>
              <a:rPr lang="en-US" sz="1350" b="1" dirty="0">
                <a:solidFill>
                  <a:srgbClr val="1C7293"/>
                </a:solidFill>
                <a:latin typeface="맑은 고딕" pitchFamily="34" charset="0"/>
                <a:ea typeface="맑은 고딕" pitchFamily="34" charset="-122"/>
                <a:cs typeface="맑은 고딕" pitchFamily="34" charset="-120"/>
              </a:rPr>
              <a:t>재현성 고정</a:t>
            </a:r>
            <a:endParaRPr lang="en-US" sz="1350" dirty="0"/>
          </a:p>
        </p:txBody>
      </p:sp>
      <p:sp>
        <p:nvSpPr>
          <p:cNvPr id="17" name="Text 15"/>
          <p:cNvSpPr txBox="1"/>
          <p:nvPr/>
        </p:nvSpPr>
        <p:spPr>
          <a:xfrm>
            <a:off x="6437376" y="1920240"/>
            <a:ext cx="2157984" cy="777240"/>
          </a:xfrm>
          <a:prstGeom prst="rect">
            <a:avLst/>
          </a:prstGeom>
          <a:noFill/>
          <a:ln/>
        </p:spPr>
        <p:txBody>
          <a:bodyPr wrap="square" lIns="0" tIns="0" rIns="0" bIns="0" rtlCol="0" anchor="ctr"/>
          <a:lstStyle/>
          <a:p>
            <a:pPr marL="0" indent="0">
              <a:lnSpc>
                <a:spcPts val="1700"/>
              </a:lnSpc>
              <a:buNone/>
            </a:pPr>
            <a:r>
              <a:rPr lang="en-US" sz="1200" dirty="0">
                <a:solidFill>
                  <a:srgbClr val="1A1A1A"/>
                </a:solidFill>
                <a:latin typeface="맑은 고딕" pitchFamily="34" charset="0"/>
                <a:ea typeface="맑은 고딕" pitchFamily="34" charset="-122"/>
                <a:cs typeface="맑은 고딕" pitchFamily="34" charset="-120"/>
              </a:rPr>
              <a:t>random_state=42</a:t>
            </a:r>
            <a:endParaRPr lang="en-US" sz="1200" dirty="0"/>
          </a:p>
          <a:p>
            <a:pPr marL="0" indent="0">
              <a:lnSpc>
                <a:spcPts val="1700"/>
              </a:lnSpc>
              <a:buNone/>
            </a:pPr>
            <a:r>
              <a:rPr lang="en-US" sz="1200" dirty="0">
                <a:solidFill>
                  <a:srgbClr val="1A1A1A"/>
                </a:solidFill>
                <a:latin typeface="맑은 고딕" pitchFamily="34" charset="0"/>
                <a:ea typeface="맑은 고딕" pitchFamily="34" charset="-122"/>
                <a:cs typeface="맑은 고딕" pitchFamily="34" charset="-120"/>
              </a:rPr>
              <a:t>모든 모델 동일 분할</a:t>
            </a:r>
            <a:endParaRPr lang="en-US" sz="1200" dirty="0"/>
          </a:p>
        </p:txBody>
      </p:sp>
      <p:sp>
        <p:nvSpPr>
          <p:cNvPr id="18" name="Text 16"/>
          <p:cNvSpPr txBox="1"/>
          <p:nvPr/>
        </p:nvSpPr>
        <p:spPr>
          <a:xfrm>
            <a:off x="8759952" y="1371600"/>
            <a:ext cx="365760" cy="1417320"/>
          </a:xfrm>
          <a:prstGeom prst="rect">
            <a:avLst/>
          </a:prstGeom>
          <a:noFill/>
          <a:ln/>
        </p:spPr>
        <p:txBody>
          <a:bodyPr wrap="square" lIns="0" tIns="0" rIns="0" bIns="0" rtlCol="0" anchor="ctr"/>
          <a:lstStyle/>
          <a:p>
            <a:pPr marL="0" indent="0" algn="ctr">
              <a:buNone/>
            </a:pPr>
            <a:r>
              <a:rPr lang="en-US" sz="1700" dirty="0">
                <a:solidFill>
                  <a:srgbClr val="1C7293"/>
                </a:solidFill>
                <a:latin typeface="맑은 고딕" pitchFamily="34" charset="0"/>
                <a:ea typeface="맑은 고딕" pitchFamily="34" charset="-122"/>
                <a:cs typeface="맑은 고딕" pitchFamily="34" charset="-120"/>
              </a:rPr>
              <a:t>→</a:t>
            </a:r>
            <a:endParaRPr lang="en-US" sz="1700" dirty="0"/>
          </a:p>
        </p:txBody>
      </p:sp>
      <p:sp>
        <p:nvSpPr>
          <p:cNvPr id="19" name="Shape 17"/>
          <p:cNvSpPr/>
          <p:nvPr/>
        </p:nvSpPr>
        <p:spPr>
          <a:xfrm>
            <a:off x="9125712" y="1371600"/>
            <a:ext cx="2487168" cy="1417320"/>
          </a:xfrm>
          <a:prstGeom prst="roundRect">
            <a:avLst>
              <a:gd name="adj" fmla="val 3226"/>
            </a:avLst>
          </a:prstGeom>
          <a:solidFill>
            <a:srgbClr val="D8E8F0"/>
          </a:solidFill>
          <a:ln w="12700">
            <a:solidFill>
              <a:srgbClr val="1C7293"/>
            </a:solidFill>
            <a:prstDash val="solid"/>
          </a:ln>
        </p:spPr>
        <p:txBody>
          <a:bodyPr/>
          <a:lstStyle/>
          <a:p>
            <a:endParaRPr lang="ko-KR" altLang="en-US"/>
          </a:p>
        </p:txBody>
      </p:sp>
      <p:sp>
        <p:nvSpPr>
          <p:cNvPr id="20" name="Text 18"/>
          <p:cNvSpPr txBox="1"/>
          <p:nvPr/>
        </p:nvSpPr>
        <p:spPr>
          <a:xfrm>
            <a:off x="9290304" y="1536192"/>
            <a:ext cx="2157984" cy="329184"/>
          </a:xfrm>
          <a:prstGeom prst="rect">
            <a:avLst/>
          </a:prstGeom>
          <a:noFill/>
          <a:ln/>
        </p:spPr>
        <p:txBody>
          <a:bodyPr wrap="square" lIns="0" tIns="0" rIns="0" bIns="0" rtlCol="0" anchor="ctr"/>
          <a:lstStyle/>
          <a:p>
            <a:pPr marL="0" indent="0">
              <a:buNone/>
            </a:pPr>
            <a:r>
              <a:rPr lang="en-US" sz="1350" b="1" dirty="0">
                <a:solidFill>
                  <a:srgbClr val="0E3A5C"/>
                </a:solidFill>
                <a:latin typeface="맑은 고딕" pitchFamily="34" charset="0"/>
                <a:ea typeface="맑은 고딕" pitchFamily="34" charset="-122"/>
                <a:cs typeface="맑은 고딕" pitchFamily="34" charset="-120"/>
              </a:rPr>
              <a:t>전처리 기준 결정</a:t>
            </a:r>
            <a:endParaRPr lang="en-US" sz="1350" dirty="0"/>
          </a:p>
        </p:txBody>
      </p:sp>
      <p:sp>
        <p:nvSpPr>
          <p:cNvPr id="21" name="Text 19"/>
          <p:cNvSpPr txBox="1"/>
          <p:nvPr/>
        </p:nvSpPr>
        <p:spPr>
          <a:xfrm>
            <a:off x="9290304" y="1920240"/>
            <a:ext cx="2157984" cy="777240"/>
          </a:xfrm>
          <a:prstGeom prst="rect">
            <a:avLst/>
          </a:prstGeom>
          <a:noFill/>
          <a:ln/>
        </p:spPr>
        <p:txBody>
          <a:bodyPr wrap="square" lIns="0" tIns="0" rIns="0" bIns="0" rtlCol="0" anchor="ctr"/>
          <a:lstStyle/>
          <a:p>
            <a:pPr marL="0" indent="0">
              <a:lnSpc>
                <a:spcPts val="1700"/>
              </a:lnSpc>
              <a:buNone/>
            </a:pPr>
            <a:r>
              <a:rPr lang="en-US" sz="1200" dirty="0">
                <a:solidFill>
                  <a:srgbClr val="1A1A1A"/>
                </a:solidFill>
                <a:latin typeface="맑은 고딕" pitchFamily="34" charset="0"/>
                <a:ea typeface="맑은 고딕" pitchFamily="34" charset="-122"/>
                <a:cs typeface="맑은 고딕" pitchFamily="34" charset="-120"/>
              </a:rPr>
              <a:t>학습 데이터 안에서만</a:t>
            </a:r>
            <a:endParaRPr lang="en-US" sz="1200" dirty="0"/>
          </a:p>
          <a:p>
            <a:pPr marL="0" indent="0">
              <a:lnSpc>
                <a:spcPts val="1700"/>
              </a:lnSpc>
              <a:buNone/>
            </a:pPr>
            <a:r>
              <a:rPr lang="en-US" sz="1200" dirty="0">
                <a:solidFill>
                  <a:srgbClr val="1A1A1A"/>
                </a:solidFill>
                <a:latin typeface="맑은 고딕" pitchFamily="34" charset="0"/>
                <a:ea typeface="맑은 고딕" pitchFamily="34" charset="-122"/>
                <a:cs typeface="맑은 고딕" pitchFamily="34" charset="-120"/>
              </a:rPr>
              <a:t>테스트는 최종 확인용</a:t>
            </a:r>
            <a:endParaRPr lang="en-US" sz="1200" dirty="0"/>
          </a:p>
        </p:txBody>
      </p:sp>
      <p:sp>
        <p:nvSpPr>
          <p:cNvPr id="22" name="Shape 20"/>
          <p:cNvSpPr/>
          <p:nvPr/>
        </p:nvSpPr>
        <p:spPr>
          <a:xfrm>
            <a:off x="566928" y="2971800"/>
            <a:ext cx="11064240" cy="868680"/>
          </a:xfrm>
          <a:prstGeom prst="roundRect">
            <a:avLst>
              <a:gd name="adj" fmla="val 5263"/>
            </a:avLst>
          </a:prstGeom>
          <a:solidFill>
            <a:srgbClr val="D8E8F0"/>
          </a:solidFill>
          <a:ln w="12700">
            <a:solidFill>
              <a:srgbClr val="1C7293"/>
            </a:solidFill>
            <a:prstDash val="solid"/>
          </a:ln>
        </p:spPr>
        <p:txBody>
          <a:bodyPr/>
          <a:lstStyle/>
          <a:p>
            <a:endParaRPr lang="ko-KR" altLang="en-US"/>
          </a:p>
        </p:txBody>
      </p:sp>
      <p:sp>
        <p:nvSpPr>
          <p:cNvPr id="23" name="Text 21"/>
          <p:cNvSpPr txBox="1"/>
          <p:nvPr/>
        </p:nvSpPr>
        <p:spPr>
          <a:xfrm>
            <a:off x="804672" y="2971800"/>
            <a:ext cx="10588752" cy="868680"/>
          </a:xfrm>
          <a:prstGeom prst="rect">
            <a:avLst/>
          </a:prstGeom>
          <a:noFill/>
          <a:ln/>
        </p:spPr>
        <p:txBody>
          <a:bodyPr wrap="square" lIns="0" tIns="0" rIns="0" bIns="0" rtlCol="0" anchor="ctr"/>
          <a:lstStyle/>
          <a:p>
            <a:pPr marL="0" indent="0">
              <a:lnSpc>
                <a:spcPts val="1900"/>
              </a:lnSpc>
              <a:buNone/>
            </a:pPr>
            <a:r>
              <a:rPr lang="en-US" sz="1350" b="1" dirty="0">
                <a:solidFill>
                  <a:srgbClr val="0E3A5C"/>
                </a:solidFill>
                <a:latin typeface="맑은 고딕" pitchFamily="34" charset="0"/>
                <a:ea typeface="맑은 고딕" pitchFamily="34" charset="-122"/>
                <a:cs typeface="맑은 고딕" pitchFamily="34" charset="-120"/>
              </a:rPr>
              <a:t>데이터 누수 방지 원칙   </a:t>
            </a:r>
            <a:r>
              <a:rPr lang="en-US" sz="1350" dirty="0">
                <a:solidFill>
                  <a:srgbClr val="1A1A1A"/>
                </a:solidFill>
                <a:latin typeface="맑은 고딕" pitchFamily="34" charset="0"/>
                <a:ea typeface="맑은 고딕" pitchFamily="34" charset="-122"/>
                <a:cs typeface="맑은 고딕" pitchFamily="34" charset="-120"/>
              </a:rPr>
              <a:t>테스트 데이터를 포함해 전처리 기준을 계산하면 성능이 실제보다 좋게 나온다. 따라서 파생변수의 온도 기준, 트리의 하이퍼파라미터, 최종 모델 후보는 모두 학습 데이터 내부의 검증·교차검증 결과만으로 결정했다.</a:t>
            </a:r>
            <a:endParaRPr lang="en-US" sz="1350" dirty="0"/>
          </a:p>
        </p:txBody>
      </p:sp>
      <p:sp>
        <p:nvSpPr>
          <p:cNvPr id="24" name="Text 22"/>
          <p:cNvSpPr txBox="1"/>
          <p:nvPr/>
        </p:nvSpPr>
        <p:spPr>
          <a:xfrm>
            <a:off x="566928" y="4023360"/>
            <a:ext cx="7315200" cy="292608"/>
          </a:xfrm>
          <a:prstGeom prst="rect">
            <a:avLst/>
          </a:prstGeom>
          <a:noFill/>
          <a:ln/>
        </p:spPr>
        <p:txBody>
          <a:bodyPr wrap="square" lIns="0" tIns="0" rIns="0" bIns="0" rtlCol="0" anchor="ctr"/>
          <a:lstStyle/>
          <a:p>
            <a:pPr marL="0" indent="0">
              <a:buNone/>
            </a:pPr>
            <a:r>
              <a:rPr lang="en-US" sz="1500" b="1" dirty="0">
                <a:solidFill>
                  <a:srgbClr val="0E3A5C"/>
                </a:solidFill>
                <a:latin typeface="맑은 고딕" pitchFamily="34" charset="0"/>
                <a:ea typeface="맑은 고딕" pitchFamily="34" charset="-122"/>
                <a:cs typeface="맑은 고딕" pitchFamily="34" charset="-120"/>
              </a:rPr>
              <a:t>이번 프로젝트에서 사용하지 않은 전처리와 그 이유</a:t>
            </a:r>
            <a:endParaRPr lang="en-US" sz="15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66928" y="4279392"/>
          <a:ext cx="11064240" cy="1760220"/>
        </p:xfrm>
        <a:graphic>
          <a:graphicData uri="http://schemas.openxmlformats.org/drawingml/2006/table">
            <a:tbl>
              <a:tblPr/>
              <a:tblGrid>
                <a:gridCol w="21031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6949440">
                  <a:extLst>
                    <a:ext uri="{9D8B030D-6E8A-4147-A177-3AD203B41FA5}">
                      <a16:colId xmlns:a16="http://schemas.microsoft.com/office/drawing/2014/main" val="20002"/>
                    </a:ext>
                  </a:extLst>
                </a:gridCol>
              </a:tblGrid>
              <a:tr h="246888">
                <a:tc>
                  <a:txBody>
                    <a:bodyPr/>
                    <a:lstStyle/>
                    <a:p>
                      <a:pPr marL="0" indent="0" algn="ctr">
                        <a:buNone/>
                      </a:pPr>
                      <a:r>
                        <a:rPr lang="en-US" sz="1150" b="1" dirty="0">
                          <a:solidFill>
                            <a:srgbClr val="0E3A5C"/>
                          </a:solidFill>
                          <a:latin typeface="맑은 고딕" pitchFamily="34" charset="0"/>
                          <a:ea typeface="맑은 고딕" pitchFamily="34" charset="-122"/>
                          <a:cs typeface="맑은 고딕" pitchFamily="34" charset="-120"/>
                        </a:rPr>
                        <a:t>처리</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150" b="1" dirty="0">
                          <a:solidFill>
                            <a:srgbClr val="0E3A5C"/>
                          </a:solidFill>
                          <a:latin typeface="맑은 고딕" pitchFamily="34" charset="0"/>
                          <a:ea typeface="맑은 고딕" pitchFamily="34" charset="-122"/>
                          <a:cs typeface="맑은 고딕" pitchFamily="34" charset="-120"/>
                        </a:rPr>
                        <a:t>적용 여부</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150" b="1" dirty="0">
                          <a:solidFill>
                            <a:srgbClr val="0E3A5C"/>
                          </a:solidFill>
                          <a:latin typeface="맑은 고딕" pitchFamily="34" charset="0"/>
                          <a:ea typeface="맑은 고딕" pitchFamily="34" charset="-122"/>
                          <a:cs typeface="맑은 고딕" pitchFamily="34" charset="-120"/>
                        </a:rPr>
                        <a:t>판단 근거</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extLst>
                  <a:ext uri="{0D108BD9-81ED-4DB2-BD59-A6C34878D82A}">
                    <a16:rowId xmlns:a16="http://schemas.microsoft.com/office/drawing/2014/main" val="10000"/>
                  </a:ext>
                </a:extLst>
              </a:tr>
              <a:tr h="246888">
                <a:tc>
                  <a:txBody>
                    <a:bodyPr/>
                    <a:lstStyle/>
                    <a:p>
                      <a:pPr marL="0" indent="0" algn="l">
                        <a:buNone/>
                      </a:pPr>
                      <a:r>
                        <a:rPr lang="en-US" sz="1150" dirty="0">
                          <a:solidFill>
                            <a:srgbClr val="1A1A1A"/>
                          </a:solidFill>
                          <a:latin typeface="맑은 고딕" pitchFamily="34" charset="0"/>
                          <a:ea typeface="맑은 고딕" pitchFamily="34" charset="-122"/>
                          <a:cs typeface="맑은 고딕" pitchFamily="34" charset="-120"/>
                        </a:rPr>
                        <a:t>결측치 대체</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1A"/>
                          </a:solidFill>
                          <a:latin typeface="맑은 고딕" pitchFamily="34" charset="0"/>
                          <a:ea typeface="맑은 고딕" pitchFamily="34" charset="-122"/>
                          <a:cs typeface="맑은 고딕" pitchFamily="34" charset="-120"/>
                        </a:rPr>
                        <a:t>적용하지 않음</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1A"/>
                          </a:solidFill>
                          <a:latin typeface="맑은 고딕" pitchFamily="34" charset="0"/>
                          <a:ea typeface="맑은 고딕" pitchFamily="34" charset="-122"/>
                          <a:cs typeface="맑은 고딕" pitchFamily="34" charset="-120"/>
                        </a:rPr>
                        <a:t>9개 변수 모두 결측 0건 — 대상이 없다</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6888">
                <a:tc>
                  <a:txBody>
                    <a:bodyPr/>
                    <a:lstStyle/>
                    <a:p>
                      <a:pPr marL="0" indent="0" algn="l">
                        <a:buNone/>
                      </a:pPr>
                      <a:r>
                        <a:rPr lang="en-US" sz="1150" dirty="0">
                          <a:solidFill>
                            <a:srgbClr val="1A1A1A"/>
                          </a:solidFill>
                          <a:latin typeface="맑은 고딕" pitchFamily="34" charset="0"/>
                          <a:ea typeface="맑은 고딕" pitchFamily="34" charset="-122"/>
                          <a:cs typeface="맑은 고딕" pitchFamily="34" charset="-120"/>
                        </a:rPr>
                        <a:t>중복행 제거</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1A"/>
                          </a:solidFill>
                          <a:latin typeface="맑은 고딕" pitchFamily="34" charset="0"/>
                          <a:ea typeface="맑은 고딕" pitchFamily="34" charset="-122"/>
                          <a:cs typeface="맑은 고딕" pitchFamily="34" charset="-120"/>
                        </a:rPr>
                        <a:t>적용하지 않음</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1A"/>
                          </a:solidFill>
                          <a:latin typeface="맑은 고딕" pitchFamily="34" charset="0"/>
                          <a:ea typeface="맑은 고딕" pitchFamily="34" charset="-122"/>
                          <a:cs typeface="맑은 고딕" pitchFamily="34" charset="-120"/>
                        </a:rPr>
                        <a:t>중복행 0건 — 대상이 없다</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46888">
                <a:tc>
                  <a:txBody>
                    <a:bodyPr/>
                    <a:lstStyle/>
                    <a:p>
                      <a:pPr marL="0" indent="0" algn="l">
                        <a:buNone/>
                      </a:pPr>
                      <a:r>
                        <a:rPr lang="en-US" sz="1150" dirty="0">
                          <a:solidFill>
                            <a:srgbClr val="1A1A1A"/>
                          </a:solidFill>
                          <a:latin typeface="맑은 고딕" pitchFamily="34" charset="0"/>
                          <a:ea typeface="맑은 고딕" pitchFamily="34" charset="-122"/>
                          <a:cs typeface="맑은 고딕" pitchFamily="34" charset="-120"/>
                        </a:rPr>
                        <a:t>범주형 인코딩</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1A"/>
                          </a:solidFill>
                          <a:latin typeface="맑은 고딕" pitchFamily="34" charset="0"/>
                          <a:ea typeface="맑은 고딕" pitchFamily="34" charset="-122"/>
                          <a:cs typeface="맑은 고딕" pitchFamily="34" charset="-120"/>
                        </a:rPr>
                        <a:t>적용하지 않음</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1A"/>
                          </a:solidFill>
                          <a:latin typeface="맑은 고딕" pitchFamily="34" charset="0"/>
                          <a:ea typeface="맑은 고딕" pitchFamily="34" charset="-122"/>
                          <a:cs typeface="맑은 고딕" pitchFamily="34" charset="-120"/>
                        </a:rPr>
                        <a:t>모든 열이 float64 수치형</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46888">
                <a:tc>
                  <a:txBody>
                    <a:bodyPr/>
                    <a:lstStyle/>
                    <a:p>
                      <a:pPr marL="0" indent="0" algn="l">
                        <a:buNone/>
                      </a:pPr>
                      <a:r>
                        <a:rPr lang="en-US" sz="1150" dirty="0">
                          <a:solidFill>
                            <a:srgbClr val="1A1A1A"/>
                          </a:solidFill>
                          <a:latin typeface="맑은 고딕" pitchFamily="34" charset="0"/>
                          <a:ea typeface="맑은 고딕" pitchFamily="34" charset="-122"/>
                          <a:cs typeface="맑은 고딕" pitchFamily="34" charset="-120"/>
                        </a:rPr>
                        <a:t>스케일링</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1A"/>
                          </a:solidFill>
                          <a:latin typeface="맑은 고딕" pitchFamily="34" charset="0"/>
                          <a:ea typeface="맑은 고딕" pitchFamily="34" charset="-122"/>
                          <a:cs typeface="맑은 고딕" pitchFamily="34" charset="-120"/>
                        </a:rPr>
                        <a:t>적용하지 않음</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1A"/>
                          </a:solidFill>
                          <a:latin typeface="맑은 고딕" pitchFamily="34" charset="0"/>
                          <a:ea typeface="맑은 고딕" pitchFamily="34" charset="-122"/>
                          <a:cs typeface="맑은 고딕" pitchFamily="34" charset="-120"/>
                        </a:rPr>
                        <a:t>선형회귀는 스케일에 무관 · 트리는 값의 순서로 분할</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46888">
                <a:tc>
                  <a:txBody>
                    <a:bodyPr/>
                    <a:lstStyle/>
                    <a:p>
                      <a:pPr marL="0" indent="0" algn="l">
                        <a:buNone/>
                      </a:pPr>
                      <a:r>
                        <a:rPr lang="en-US" sz="1150" dirty="0">
                          <a:solidFill>
                            <a:srgbClr val="1A1A1A"/>
                          </a:solidFill>
                          <a:latin typeface="맑은 고딕" pitchFamily="34" charset="0"/>
                          <a:ea typeface="맑은 고딕" pitchFamily="34" charset="-122"/>
                          <a:cs typeface="맑은 고딕" pitchFamily="34" charset="-120"/>
                        </a:rPr>
                        <a:t>이상치 제거</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1A"/>
                          </a:solidFill>
                          <a:latin typeface="맑은 고딕" pitchFamily="34" charset="0"/>
                          <a:ea typeface="맑은 고딕" pitchFamily="34" charset="-122"/>
                          <a:cs typeface="맑은 고딕" pitchFamily="34" charset="-120"/>
                        </a:rPr>
                        <a:t>적용하지 않음</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1A"/>
                          </a:solidFill>
                          <a:latin typeface="맑은 고딕" pitchFamily="34" charset="0"/>
                          <a:ea typeface="맑은 고딕" pitchFamily="34" charset="-122"/>
                          <a:cs typeface="맑은 고딕" pitchFamily="34" charset="-120"/>
                        </a:rPr>
                        <a:t>극단 조건이야말로 예측이 가장 필요한 구간</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46888">
                <a:tc>
                  <a:txBody>
                    <a:bodyPr/>
                    <a:lstStyle/>
                    <a:p>
                      <a:pPr marL="0" indent="0" algn="l">
                        <a:buNone/>
                      </a:pPr>
                      <a:r>
                        <a:rPr lang="en-US" sz="1150" b="1" dirty="0">
                          <a:solidFill>
                            <a:srgbClr val="0E3A5C"/>
                          </a:solidFill>
                          <a:latin typeface="맑은 고딕" pitchFamily="34" charset="0"/>
                          <a:ea typeface="맑은 고딕" pitchFamily="34" charset="-122"/>
                          <a:cs typeface="맑은 고딕" pitchFamily="34" charset="-120"/>
                        </a:rPr>
                        <a:t>파생변수 생성</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tc>
                  <a:txBody>
                    <a:bodyPr/>
                    <a:lstStyle/>
                    <a:p>
                      <a:pPr marL="0" indent="0" algn="l">
                        <a:buNone/>
                      </a:pPr>
                      <a:r>
                        <a:rPr lang="en-US" sz="1150" b="1" dirty="0">
                          <a:solidFill>
                            <a:srgbClr val="0E3A5C"/>
                          </a:solidFill>
                          <a:latin typeface="맑은 고딕" pitchFamily="34" charset="0"/>
                          <a:ea typeface="맑은 고딕" pitchFamily="34" charset="-122"/>
                          <a:cs typeface="맑은 고딕" pitchFamily="34" charset="-120"/>
                        </a:rPr>
                        <a:t>적용함 (5부)</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tc>
                  <a:txBody>
                    <a:bodyPr/>
                    <a:lstStyle/>
                    <a:p>
                      <a:pPr marL="0" indent="0" algn="l">
                        <a:buNone/>
                      </a:pPr>
                      <a:r>
                        <a:rPr lang="en-US" sz="1150" b="1" dirty="0">
                          <a:solidFill>
                            <a:srgbClr val="0E3A5C"/>
                          </a:solidFill>
                          <a:latin typeface="맑은 고딕" pitchFamily="34" charset="0"/>
                          <a:ea typeface="맑은 고딕" pitchFamily="34" charset="-122"/>
                          <a:cs typeface="맑은 고딕" pitchFamily="34" charset="-120"/>
                        </a:rPr>
                        <a:t>EDA에서 확인한 외기온의 비선형 관계를 반영</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66928" y="365760"/>
            <a:ext cx="457200" cy="457200"/>
          </a:xfrm>
          <a:prstGeom prst="ellipse">
            <a:avLst/>
          </a:prstGeom>
          <a:solidFill>
            <a:srgbClr val="1C7293"/>
          </a:solidFill>
          <a:ln w="12700">
            <a:solidFill>
              <a:srgbClr val="1C7293"/>
            </a:solidFill>
            <a:prstDash val="solid"/>
          </a:ln>
        </p:spPr>
        <p:txBody>
          <a:bodyPr/>
          <a:lstStyle/>
          <a:p>
            <a:endParaRPr lang="ko-KR" altLang="en-US"/>
          </a:p>
        </p:txBody>
      </p:sp>
      <p:sp>
        <p:nvSpPr>
          <p:cNvPr id="3" name="Text 1"/>
          <p:cNvSpPr txBox="1"/>
          <p:nvPr/>
        </p:nvSpPr>
        <p:spPr>
          <a:xfrm>
            <a:off x="566928" y="3657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12</a:t>
            </a:r>
            <a:endParaRPr lang="en-US" sz="1600" dirty="0"/>
          </a:p>
        </p:txBody>
      </p:sp>
      <p:sp>
        <p:nvSpPr>
          <p:cNvPr id="4" name="Text 2"/>
          <p:cNvSpPr txBox="1"/>
          <p:nvPr/>
        </p:nvSpPr>
        <p:spPr>
          <a:xfrm>
            <a:off x="1152144" y="310896"/>
            <a:ext cx="10424160" cy="246888"/>
          </a:xfrm>
          <a:prstGeom prst="rect">
            <a:avLst/>
          </a:prstGeom>
          <a:noFill/>
          <a:ln/>
        </p:spPr>
        <p:txBody>
          <a:bodyPr wrap="square" lIns="0" tIns="0" rIns="0" bIns="0" rtlCol="0" anchor="ctr"/>
          <a:lstStyle/>
          <a:p>
            <a:pPr marL="0" indent="0">
              <a:buNone/>
            </a:pPr>
            <a:r>
              <a:rPr lang="en-US" sz="1150" b="1" kern="0" spc="100" dirty="0">
                <a:solidFill>
                  <a:srgbClr val="1C7293"/>
                </a:solidFill>
                <a:latin typeface="맑은 고딕" pitchFamily="34" charset="0"/>
                <a:ea typeface="맑은 고딕" pitchFamily="34" charset="-122"/>
                <a:cs typeface="맑은 고딕" pitchFamily="34" charset="-120"/>
              </a:rPr>
              <a:t>모델링 · 평가 지표</a:t>
            </a:r>
            <a:endParaRPr lang="en-US" sz="1150" dirty="0"/>
          </a:p>
        </p:txBody>
      </p:sp>
      <p:sp>
        <p:nvSpPr>
          <p:cNvPr id="5" name="Text 3"/>
          <p:cNvSpPr txBox="1"/>
          <p:nvPr/>
        </p:nvSpPr>
        <p:spPr>
          <a:xfrm>
            <a:off x="1152144" y="566928"/>
            <a:ext cx="10469880" cy="530352"/>
          </a:xfrm>
          <a:prstGeom prst="rect">
            <a:avLst/>
          </a:prstGeom>
          <a:noFill/>
          <a:ln/>
        </p:spPr>
        <p:txBody>
          <a:bodyPr wrap="square" lIns="0" tIns="0" rIns="0" bIns="0" rtlCol="0" anchor="ctr"/>
          <a:lstStyle/>
          <a:p>
            <a:pPr marL="0" indent="0">
              <a:buNone/>
            </a:pPr>
            <a:r>
              <a:rPr lang="en-US" sz="2500" b="1" dirty="0">
                <a:solidFill>
                  <a:srgbClr val="0E3A5C"/>
                </a:solidFill>
                <a:latin typeface="맑은 고딕" pitchFamily="34" charset="0"/>
                <a:ea typeface="맑은 고딕" pitchFamily="34" charset="-122"/>
                <a:cs typeface="맑은 고딕" pitchFamily="34" charset="-120"/>
              </a:rPr>
              <a:t>정확도가 아니라 세 개의 회귀 지표로 본다</a:t>
            </a:r>
            <a:endParaRPr lang="en-US" sz="2500" dirty="0"/>
          </a:p>
        </p:txBody>
      </p:sp>
      <p:sp>
        <p:nvSpPr>
          <p:cNvPr id="6" name="Text 4"/>
          <p:cNvSpPr txBox="1"/>
          <p:nvPr/>
        </p:nvSpPr>
        <p:spPr>
          <a:xfrm>
            <a:off x="8686800" y="6519672"/>
            <a:ext cx="2926080" cy="274320"/>
          </a:xfrm>
          <a:prstGeom prst="rect">
            <a:avLst/>
          </a:prstGeom>
          <a:noFill/>
          <a:ln/>
        </p:spPr>
        <p:txBody>
          <a:bodyPr wrap="square" lIns="0" tIns="0" rIns="0" bIns="0" rtlCol="0" anchor="ctr"/>
          <a:lstStyle/>
          <a:p>
            <a:pPr marL="0" indent="0" algn="r">
              <a:buNone/>
            </a:pPr>
            <a:r>
              <a:rPr lang="en-US" sz="1000" dirty="0">
                <a:solidFill>
                  <a:srgbClr val="A8B4BE"/>
                </a:solidFill>
                <a:latin typeface="맑은 고딕" pitchFamily="34" charset="0"/>
                <a:ea typeface="맑은 고딕" pitchFamily="34" charset="-122"/>
                <a:cs typeface="맑은 고딕" pitchFamily="34" charset="-120"/>
              </a:rPr>
              <a:t>4. 모델링</a:t>
            </a:r>
            <a:endParaRPr lang="en-US" sz="1000" dirty="0"/>
          </a:p>
        </p:txBody>
      </p:sp>
      <p:sp>
        <p:nvSpPr>
          <p:cNvPr id="7" name="Shape 5"/>
          <p:cNvSpPr/>
          <p:nvPr/>
        </p:nvSpPr>
        <p:spPr>
          <a:xfrm>
            <a:off x="566928" y="1371600"/>
            <a:ext cx="3474720" cy="1920240"/>
          </a:xfrm>
          <a:prstGeom prst="roundRect">
            <a:avLst>
              <a:gd name="adj" fmla="val 2381"/>
            </a:avLst>
          </a:prstGeom>
          <a:solidFill>
            <a:srgbClr val="EFF6FA"/>
          </a:solidFill>
          <a:ln w="12700">
            <a:solidFill>
              <a:srgbClr val="D8E8F0"/>
            </a:solidFill>
            <a:prstDash val="solid"/>
          </a:ln>
        </p:spPr>
        <p:txBody>
          <a:bodyPr/>
          <a:lstStyle/>
          <a:p>
            <a:endParaRPr lang="ko-KR" altLang="en-US"/>
          </a:p>
        </p:txBody>
      </p:sp>
      <p:sp>
        <p:nvSpPr>
          <p:cNvPr id="8" name="Text 6"/>
          <p:cNvSpPr txBox="1"/>
          <p:nvPr/>
        </p:nvSpPr>
        <p:spPr>
          <a:xfrm>
            <a:off x="804672" y="1536192"/>
            <a:ext cx="3017520" cy="438912"/>
          </a:xfrm>
          <a:prstGeom prst="rect">
            <a:avLst/>
          </a:prstGeom>
          <a:noFill/>
          <a:ln/>
        </p:spPr>
        <p:txBody>
          <a:bodyPr wrap="square" lIns="0" tIns="0" rIns="0" bIns="0" rtlCol="0" anchor="ctr"/>
          <a:lstStyle/>
          <a:p>
            <a:pPr marL="0" indent="0">
              <a:buNone/>
            </a:pPr>
            <a:r>
              <a:rPr lang="en-US" sz="2600" b="1" dirty="0">
                <a:solidFill>
                  <a:srgbClr val="1C7293"/>
                </a:solidFill>
                <a:latin typeface="맑은 고딕" pitchFamily="34" charset="0"/>
                <a:ea typeface="맑은 고딕" pitchFamily="34" charset="-122"/>
                <a:cs typeface="맑은 고딕" pitchFamily="34" charset="-120"/>
              </a:rPr>
              <a:t>R²</a:t>
            </a:r>
            <a:endParaRPr lang="en-US" sz="2600" dirty="0"/>
          </a:p>
        </p:txBody>
      </p:sp>
      <p:sp>
        <p:nvSpPr>
          <p:cNvPr id="9" name="Text 7"/>
          <p:cNvSpPr txBox="1"/>
          <p:nvPr/>
        </p:nvSpPr>
        <p:spPr>
          <a:xfrm>
            <a:off x="804672" y="1975104"/>
            <a:ext cx="3017520" cy="274320"/>
          </a:xfrm>
          <a:prstGeom prst="rect">
            <a:avLst/>
          </a:prstGeom>
          <a:noFill/>
          <a:ln/>
        </p:spPr>
        <p:txBody>
          <a:bodyPr wrap="square" lIns="0" tIns="0" rIns="0" bIns="0" rtlCol="0" anchor="ctr"/>
          <a:lstStyle/>
          <a:p>
            <a:pPr marL="0" indent="0">
              <a:buNone/>
            </a:pPr>
            <a:r>
              <a:rPr lang="en-US" sz="1300" b="1" dirty="0">
                <a:solidFill>
                  <a:srgbClr val="5F6B78"/>
                </a:solidFill>
                <a:latin typeface="맑은 고딕" pitchFamily="34" charset="0"/>
                <a:ea typeface="맑은 고딕" pitchFamily="34" charset="-122"/>
                <a:cs typeface="맑은 고딕" pitchFamily="34" charset="-120"/>
              </a:rPr>
              <a:t>설명력</a:t>
            </a:r>
            <a:endParaRPr lang="en-US" sz="1300" dirty="0"/>
          </a:p>
        </p:txBody>
      </p:sp>
      <p:sp>
        <p:nvSpPr>
          <p:cNvPr id="10" name="Text 8"/>
          <p:cNvSpPr txBox="1"/>
          <p:nvPr/>
        </p:nvSpPr>
        <p:spPr>
          <a:xfrm>
            <a:off x="804672" y="2286000"/>
            <a:ext cx="3017520" cy="566928"/>
          </a:xfrm>
          <a:prstGeom prst="rect">
            <a:avLst/>
          </a:prstGeom>
          <a:noFill/>
          <a:ln/>
        </p:spPr>
        <p:txBody>
          <a:bodyPr wrap="square" lIns="0" tIns="0" rIns="0" bIns="0" rtlCol="0" anchor="ctr"/>
          <a:lstStyle/>
          <a:p>
            <a:pPr marL="0" indent="0">
              <a:lnSpc>
                <a:spcPts val="1700"/>
              </a:lnSpc>
              <a:buNone/>
            </a:pPr>
            <a:r>
              <a:rPr lang="en-US" sz="1200" dirty="0">
                <a:solidFill>
                  <a:srgbClr val="1A1A1A"/>
                </a:solidFill>
                <a:latin typeface="맑은 고딕" pitchFamily="34" charset="0"/>
                <a:ea typeface="맑은 고딕" pitchFamily="34" charset="-122"/>
                <a:cs typeface="맑은 고딕" pitchFamily="34" charset="-120"/>
              </a:rPr>
              <a:t>모델이 소비율 변동을</a:t>
            </a:r>
            <a:endParaRPr lang="en-US" sz="1200" dirty="0"/>
          </a:p>
          <a:p>
            <a:pPr marL="0" indent="0">
              <a:lnSpc>
                <a:spcPts val="1700"/>
              </a:lnSpc>
              <a:buNone/>
            </a:pPr>
            <a:r>
              <a:rPr lang="en-US" sz="1200" dirty="0">
                <a:solidFill>
                  <a:srgbClr val="1A1A1A"/>
                </a:solidFill>
                <a:latin typeface="맑은 고딕" pitchFamily="34" charset="0"/>
                <a:ea typeface="맑은 고딕" pitchFamily="34" charset="-122"/>
                <a:cs typeface="맑은 고딕" pitchFamily="34" charset="-120"/>
              </a:rPr>
              <a:t>어느 정도 설명하는가</a:t>
            </a:r>
            <a:endParaRPr lang="en-US" sz="1200" dirty="0"/>
          </a:p>
        </p:txBody>
      </p:sp>
      <p:sp>
        <p:nvSpPr>
          <p:cNvPr id="11" name="Text 9"/>
          <p:cNvSpPr txBox="1"/>
          <p:nvPr/>
        </p:nvSpPr>
        <p:spPr>
          <a:xfrm>
            <a:off x="804672" y="2871216"/>
            <a:ext cx="3017520" cy="274320"/>
          </a:xfrm>
          <a:prstGeom prst="rect">
            <a:avLst/>
          </a:prstGeom>
          <a:noFill/>
          <a:ln/>
        </p:spPr>
        <p:txBody>
          <a:bodyPr wrap="square" lIns="0" tIns="0" rIns="0" bIns="0" rtlCol="0" anchor="ctr"/>
          <a:lstStyle/>
          <a:p>
            <a:pPr marL="0" indent="0">
              <a:buNone/>
            </a:pPr>
            <a:r>
              <a:rPr lang="en-US" sz="1150" i="1" dirty="0">
                <a:solidFill>
                  <a:srgbClr val="5F6B78"/>
                </a:solidFill>
                <a:latin typeface="맑은 고딕" pitchFamily="34" charset="0"/>
                <a:ea typeface="맑은 고딕" pitchFamily="34" charset="-122"/>
                <a:cs typeface="맑은 고딕" pitchFamily="34" charset="-120"/>
              </a:rPr>
              <a:t>1에 가까울수록 좋음</a:t>
            </a:r>
            <a:endParaRPr lang="en-US" sz="1150" dirty="0"/>
          </a:p>
        </p:txBody>
      </p:sp>
      <p:sp>
        <p:nvSpPr>
          <p:cNvPr id="12" name="Shape 10"/>
          <p:cNvSpPr/>
          <p:nvPr/>
        </p:nvSpPr>
        <p:spPr>
          <a:xfrm>
            <a:off x="4279392" y="1371600"/>
            <a:ext cx="3474720" cy="1920240"/>
          </a:xfrm>
          <a:prstGeom prst="roundRect">
            <a:avLst>
              <a:gd name="adj" fmla="val 2381"/>
            </a:avLst>
          </a:prstGeom>
          <a:solidFill>
            <a:srgbClr val="EFF6FA"/>
          </a:solidFill>
          <a:ln w="12700">
            <a:solidFill>
              <a:srgbClr val="D8E8F0"/>
            </a:solidFill>
            <a:prstDash val="solid"/>
          </a:ln>
        </p:spPr>
        <p:txBody>
          <a:bodyPr/>
          <a:lstStyle/>
          <a:p>
            <a:endParaRPr lang="ko-KR" altLang="en-US"/>
          </a:p>
        </p:txBody>
      </p:sp>
      <p:sp>
        <p:nvSpPr>
          <p:cNvPr id="13" name="Text 11"/>
          <p:cNvSpPr txBox="1"/>
          <p:nvPr/>
        </p:nvSpPr>
        <p:spPr>
          <a:xfrm>
            <a:off x="4517136" y="1536192"/>
            <a:ext cx="3017520" cy="438912"/>
          </a:xfrm>
          <a:prstGeom prst="rect">
            <a:avLst/>
          </a:prstGeom>
          <a:noFill/>
          <a:ln/>
        </p:spPr>
        <p:txBody>
          <a:bodyPr wrap="square" lIns="0" tIns="0" rIns="0" bIns="0" rtlCol="0" anchor="ctr"/>
          <a:lstStyle/>
          <a:p>
            <a:pPr marL="0" indent="0">
              <a:buNone/>
            </a:pPr>
            <a:r>
              <a:rPr lang="en-US" sz="2600" b="1" dirty="0">
                <a:solidFill>
                  <a:srgbClr val="1C7293"/>
                </a:solidFill>
                <a:latin typeface="맑은 고딕" pitchFamily="34" charset="0"/>
                <a:ea typeface="맑은 고딕" pitchFamily="34" charset="-122"/>
                <a:cs typeface="맑은 고딕" pitchFamily="34" charset="-120"/>
              </a:rPr>
              <a:t>MAE</a:t>
            </a:r>
            <a:endParaRPr lang="en-US" sz="2600" dirty="0"/>
          </a:p>
        </p:txBody>
      </p:sp>
      <p:sp>
        <p:nvSpPr>
          <p:cNvPr id="14" name="Text 12"/>
          <p:cNvSpPr txBox="1"/>
          <p:nvPr/>
        </p:nvSpPr>
        <p:spPr>
          <a:xfrm>
            <a:off x="4517136" y="1975104"/>
            <a:ext cx="3017520" cy="274320"/>
          </a:xfrm>
          <a:prstGeom prst="rect">
            <a:avLst/>
          </a:prstGeom>
          <a:noFill/>
          <a:ln/>
        </p:spPr>
        <p:txBody>
          <a:bodyPr wrap="square" lIns="0" tIns="0" rIns="0" bIns="0" rtlCol="0" anchor="ctr"/>
          <a:lstStyle/>
          <a:p>
            <a:pPr marL="0" indent="0">
              <a:buNone/>
            </a:pPr>
            <a:r>
              <a:rPr lang="en-US" sz="1300" b="1" dirty="0">
                <a:solidFill>
                  <a:srgbClr val="5F6B78"/>
                </a:solidFill>
                <a:latin typeface="맑은 고딕" pitchFamily="34" charset="0"/>
                <a:ea typeface="맑은 고딕" pitchFamily="34" charset="-122"/>
                <a:cs typeface="맑은 고딕" pitchFamily="34" charset="-120"/>
              </a:rPr>
              <a:t>평균 오차</a:t>
            </a:r>
            <a:endParaRPr lang="en-US" sz="1300" dirty="0"/>
          </a:p>
        </p:txBody>
      </p:sp>
      <p:sp>
        <p:nvSpPr>
          <p:cNvPr id="15" name="Text 13"/>
          <p:cNvSpPr txBox="1"/>
          <p:nvPr/>
        </p:nvSpPr>
        <p:spPr>
          <a:xfrm>
            <a:off x="4517136" y="2286000"/>
            <a:ext cx="3017520" cy="566928"/>
          </a:xfrm>
          <a:prstGeom prst="rect">
            <a:avLst/>
          </a:prstGeom>
          <a:noFill/>
          <a:ln/>
        </p:spPr>
        <p:txBody>
          <a:bodyPr wrap="square" lIns="0" tIns="0" rIns="0" bIns="0" rtlCol="0" anchor="ctr"/>
          <a:lstStyle/>
          <a:p>
            <a:pPr marL="0" indent="0">
              <a:lnSpc>
                <a:spcPts val="1700"/>
              </a:lnSpc>
              <a:buNone/>
            </a:pPr>
            <a:r>
              <a:rPr lang="en-US" sz="1200" dirty="0">
                <a:solidFill>
                  <a:srgbClr val="1A1A1A"/>
                </a:solidFill>
                <a:latin typeface="맑은 고딕" pitchFamily="34" charset="0"/>
                <a:ea typeface="맑은 고딕" pitchFamily="34" charset="-122"/>
                <a:cs typeface="맑은 고딕" pitchFamily="34" charset="-120"/>
              </a:rPr>
              <a:t>실제값과 예측값의</a:t>
            </a:r>
            <a:endParaRPr lang="en-US" sz="1200" dirty="0"/>
          </a:p>
          <a:p>
            <a:pPr marL="0" indent="0">
              <a:lnSpc>
                <a:spcPts val="1700"/>
              </a:lnSpc>
              <a:buNone/>
            </a:pPr>
            <a:r>
              <a:rPr lang="en-US" sz="1200" dirty="0">
                <a:solidFill>
                  <a:srgbClr val="1A1A1A"/>
                </a:solidFill>
                <a:latin typeface="맑은 고딕" pitchFamily="34" charset="0"/>
                <a:ea typeface="맑은 고딕" pitchFamily="34" charset="-122"/>
                <a:cs typeface="맑은 고딕" pitchFamily="34" charset="-120"/>
              </a:rPr>
              <a:t>평균적인 차이</a:t>
            </a:r>
            <a:endParaRPr lang="en-US" sz="1200" dirty="0"/>
          </a:p>
        </p:txBody>
      </p:sp>
      <p:sp>
        <p:nvSpPr>
          <p:cNvPr id="16" name="Text 14"/>
          <p:cNvSpPr txBox="1"/>
          <p:nvPr/>
        </p:nvSpPr>
        <p:spPr>
          <a:xfrm>
            <a:off x="4517136" y="2871216"/>
            <a:ext cx="3017520" cy="274320"/>
          </a:xfrm>
          <a:prstGeom prst="rect">
            <a:avLst/>
          </a:prstGeom>
          <a:noFill/>
          <a:ln/>
        </p:spPr>
        <p:txBody>
          <a:bodyPr wrap="square" lIns="0" tIns="0" rIns="0" bIns="0" rtlCol="0" anchor="ctr"/>
          <a:lstStyle/>
          <a:p>
            <a:pPr marL="0" indent="0">
              <a:buNone/>
            </a:pPr>
            <a:r>
              <a:rPr lang="en-US" sz="1150" i="1" dirty="0">
                <a:solidFill>
                  <a:srgbClr val="5F6B78"/>
                </a:solidFill>
                <a:latin typeface="맑은 고딕" pitchFamily="34" charset="0"/>
                <a:ea typeface="맑은 고딕" pitchFamily="34" charset="-122"/>
                <a:cs typeface="맑은 고딕" pitchFamily="34" charset="-120"/>
              </a:rPr>
              <a:t>작을수록 좋음</a:t>
            </a:r>
            <a:endParaRPr lang="en-US" sz="1150" dirty="0"/>
          </a:p>
        </p:txBody>
      </p:sp>
      <p:sp>
        <p:nvSpPr>
          <p:cNvPr id="17" name="Shape 15"/>
          <p:cNvSpPr/>
          <p:nvPr/>
        </p:nvSpPr>
        <p:spPr>
          <a:xfrm>
            <a:off x="7991856" y="1371600"/>
            <a:ext cx="3474720" cy="1920240"/>
          </a:xfrm>
          <a:prstGeom prst="roundRect">
            <a:avLst>
              <a:gd name="adj" fmla="val 2381"/>
            </a:avLst>
          </a:prstGeom>
          <a:solidFill>
            <a:srgbClr val="D8E8F0"/>
          </a:solidFill>
          <a:ln w="12700">
            <a:solidFill>
              <a:srgbClr val="1C7293"/>
            </a:solidFill>
            <a:prstDash val="solid"/>
          </a:ln>
        </p:spPr>
        <p:txBody>
          <a:bodyPr/>
          <a:lstStyle/>
          <a:p>
            <a:endParaRPr lang="ko-KR" altLang="en-US"/>
          </a:p>
        </p:txBody>
      </p:sp>
      <p:sp>
        <p:nvSpPr>
          <p:cNvPr id="18" name="Text 16"/>
          <p:cNvSpPr txBox="1"/>
          <p:nvPr/>
        </p:nvSpPr>
        <p:spPr>
          <a:xfrm>
            <a:off x="8229600" y="1536192"/>
            <a:ext cx="3017520" cy="438912"/>
          </a:xfrm>
          <a:prstGeom prst="rect">
            <a:avLst/>
          </a:prstGeom>
          <a:noFill/>
          <a:ln/>
        </p:spPr>
        <p:txBody>
          <a:bodyPr wrap="square" lIns="0" tIns="0" rIns="0" bIns="0" rtlCol="0" anchor="ctr"/>
          <a:lstStyle/>
          <a:p>
            <a:pPr marL="0" indent="0">
              <a:buNone/>
            </a:pPr>
            <a:r>
              <a:rPr lang="en-US" sz="2600" b="1" dirty="0">
                <a:solidFill>
                  <a:srgbClr val="0E3A5C"/>
                </a:solidFill>
                <a:latin typeface="맑은 고딕" pitchFamily="34" charset="0"/>
                <a:ea typeface="맑은 고딕" pitchFamily="34" charset="-122"/>
                <a:cs typeface="맑은 고딕" pitchFamily="34" charset="-120"/>
              </a:rPr>
              <a:t>RMSE</a:t>
            </a:r>
            <a:endParaRPr lang="en-US" sz="2600" dirty="0"/>
          </a:p>
        </p:txBody>
      </p:sp>
      <p:sp>
        <p:nvSpPr>
          <p:cNvPr id="19" name="Text 17"/>
          <p:cNvSpPr txBox="1"/>
          <p:nvPr/>
        </p:nvSpPr>
        <p:spPr>
          <a:xfrm>
            <a:off x="8229600" y="1975104"/>
            <a:ext cx="3017520" cy="274320"/>
          </a:xfrm>
          <a:prstGeom prst="rect">
            <a:avLst/>
          </a:prstGeom>
          <a:noFill/>
          <a:ln/>
        </p:spPr>
        <p:txBody>
          <a:bodyPr wrap="square" lIns="0" tIns="0" rIns="0" bIns="0" rtlCol="0" anchor="ctr"/>
          <a:lstStyle/>
          <a:p>
            <a:pPr marL="0" indent="0">
              <a:buNone/>
            </a:pPr>
            <a:r>
              <a:rPr lang="en-US" sz="1300" b="1" dirty="0">
                <a:solidFill>
                  <a:srgbClr val="5F6B78"/>
                </a:solidFill>
                <a:latin typeface="맑은 고딕" pitchFamily="34" charset="0"/>
                <a:ea typeface="맑은 고딕" pitchFamily="34" charset="-122"/>
                <a:cs typeface="맑은 고딕" pitchFamily="34" charset="-120"/>
              </a:rPr>
              <a:t>큰 오차에 민감</a:t>
            </a:r>
            <a:endParaRPr lang="en-US" sz="1300" dirty="0"/>
          </a:p>
        </p:txBody>
      </p:sp>
      <p:sp>
        <p:nvSpPr>
          <p:cNvPr id="20" name="Text 18"/>
          <p:cNvSpPr txBox="1"/>
          <p:nvPr/>
        </p:nvSpPr>
        <p:spPr>
          <a:xfrm>
            <a:off x="8229600" y="2286000"/>
            <a:ext cx="3017520" cy="566928"/>
          </a:xfrm>
          <a:prstGeom prst="rect">
            <a:avLst/>
          </a:prstGeom>
          <a:noFill/>
          <a:ln/>
        </p:spPr>
        <p:txBody>
          <a:bodyPr wrap="square" lIns="0" tIns="0" rIns="0" bIns="0" rtlCol="0" anchor="ctr"/>
          <a:lstStyle/>
          <a:p>
            <a:pPr marL="0" indent="0">
              <a:lnSpc>
                <a:spcPts val="1700"/>
              </a:lnSpc>
              <a:buNone/>
            </a:pPr>
            <a:r>
              <a:rPr lang="en-US" sz="1200" dirty="0">
                <a:solidFill>
                  <a:srgbClr val="1A1A1A"/>
                </a:solidFill>
                <a:latin typeface="맑은 고딕" pitchFamily="34" charset="0"/>
                <a:ea typeface="맑은 고딕" pitchFamily="34" charset="-122"/>
                <a:cs typeface="맑은 고딕" pitchFamily="34" charset="-120"/>
              </a:rPr>
              <a:t>큰 예측 실패에</a:t>
            </a:r>
            <a:endParaRPr lang="en-US" sz="1200" dirty="0"/>
          </a:p>
          <a:p>
            <a:pPr marL="0" indent="0">
              <a:lnSpc>
                <a:spcPts val="1700"/>
              </a:lnSpc>
              <a:buNone/>
            </a:pPr>
            <a:r>
              <a:rPr lang="en-US" sz="1200" dirty="0">
                <a:solidFill>
                  <a:srgbClr val="1A1A1A"/>
                </a:solidFill>
                <a:latin typeface="맑은 고딕" pitchFamily="34" charset="0"/>
                <a:ea typeface="맑은 고딕" pitchFamily="34" charset="-122"/>
                <a:cs typeface="맑은 고딕" pitchFamily="34" charset="-120"/>
              </a:rPr>
              <a:t>더 큰 불이익을 준다</a:t>
            </a:r>
            <a:endParaRPr lang="en-US" sz="1200" dirty="0"/>
          </a:p>
        </p:txBody>
      </p:sp>
      <p:sp>
        <p:nvSpPr>
          <p:cNvPr id="21" name="Text 19"/>
          <p:cNvSpPr txBox="1"/>
          <p:nvPr/>
        </p:nvSpPr>
        <p:spPr>
          <a:xfrm>
            <a:off x="8229600" y="2871216"/>
            <a:ext cx="3017520" cy="274320"/>
          </a:xfrm>
          <a:prstGeom prst="rect">
            <a:avLst/>
          </a:prstGeom>
          <a:noFill/>
          <a:ln/>
        </p:spPr>
        <p:txBody>
          <a:bodyPr wrap="square" lIns="0" tIns="0" rIns="0" bIns="0" rtlCol="0" anchor="ctr"/>
          <a:lstStyle/>
          <a:p>
            <a:pPr marL="0" indent="0">
              <a:buNone/>
            </a:pPr>
            <a:r>
              <a:rPr lang="en-US" sz="1150" i="1" dirty="0">
                <a:solidFill>
                  <a:srgbClr val="5F6B78"/>
                </a:solidFill>
                <a:latin typeface="맑은 고딕" pitchFamily="34" charset="0"/>
                <a:ea typeface="맑은 고딕" pitchFamily="34" charset="-122"/>
                <a:cs typeface="맑은 고딕" pitchFamily="34" charset="-120"/>
              </a:rPr>
              <a:t>작을수록 좋음</a:t>
            </a:r>
            <a:endParaRPr lang="en-US" sz="1150" dirty="0"/>
          </a:p>
        </p:txBody>
      </p:sp>
      <p:sp>
        <p:nvSpPr>
          <p:cNvPr id="22" name="Shape 20"/>
          <p:cNvSpPr/>
          <p:nvPr/>
        </p:nvSpPr>
        <p:spPr>
          <a:xfrm>
            <a:off x="566928" y="3493008"/>
            <a:ext cx="11064240" cy="914400"/>
          </a:xfrm>
          <a:prstGeom prst="roundRect">
            <a:avLst>
              <a:gd name="adj" fmla="val 5000"/>
            </a:avLst>
          </a:prstGeom>
          <a:solidFill>
            <a:srgbClr val="D8E8F0"/>
          </a:solidFill>
          <a:ln w="12700">
            <a:solidFill>
              <a:srgbClr val="1C7293"/>
            </a:solidFill>
            <a:prstDash val="solid"/>
          </a:ln>
        </p:spPr>
        <p:txBody>
          <a:bodyPr/>
          <a:lstStyle/>
          <a:p>
            <a:endParaRPr lang="ko-KR" altLang="en-US"/>
          </a:p>
        </p:txBody>
      </p:sp>
      <p:sp>
        <p:nvSpPr>
          <p:cNvPr id="23" name="Text 21"/>
          <p:cNvSpPr txBox="1"/>
          <p:nvPr/>
        </p:nvSpPr>
        <p:spPr>
          <a:xfrm>
            <a:off x="804672" y="3493008"/>
            <a:ext cx="10588752" cy="914400"/>
          </a:xfrm>
          <a:prstGeom prst="rect">
            <a:avLst/>
          </a:prstGeom>
          <a:noFill/>
          <a:ln/>
        </p:spPr>
        <p:txBody>
          <a:bodyPr wrap="square" lIns="0" tIns="0" rIns="0" bIns="0" rtlCol="0" anchor="ctr"/>
          <a:lstStyle/>
          <a:p>
            <a:pPr marL="0" indent="0">
              <a:lnSpc>
                <a:spcPts val="1900"/>
              </a:lnSpc>
              <a:buNone/>
            </a:pPr>
            <a:r>
              <a:rPr lang="en-US" sz="1350" b="1" dirty="0">
                <a:solidFill>
                  <a:srgbClr val="0E3A5C"/>
                </a:solidFill>
                <a:latin typeface="맑은 고딕" pitchFamily="34" charset="0"/>
                <a:ea typeface="맑은 고딕" pitchFamily="34" charset="-122"/>
                <a:cs typeface="맑은 고딕" pitchFamily="34" charset="-120"/>
              </a:rPr>
              <a:t>이 문제에서는 RMSE에 더 무게를 둔다   </a:t>
            </a:r>
            <a:r>
              <a:rPr lang="en-US" sz="1350" dirty="0">
                <a:solidFill>
                  <a:srgbClr val="1A1A1A"/>
                </a:solidFill>
                <a:latin typeface="맑은 고딕" pitchFamily="34" charset="0"/>
                <a:ea typeface="맑은 고딕" pitchFamily="34" charset="-122"/>
                <a:cs typeface="맑은 고딕" pitchFamily="34" charset="-120"/>
              </a:rPr>
              <a:t>내비게이션 용도에서는 평균 오차보다 큰 오차 한 번이 더 위험하다. 도착 SOC를 과대평가하면 운전자가 충전 없이 출발했다가 목적지 전에 잔량이 부족해질 수 있기 때문이다.</a:t>
            </a:r>
            <a:endParaRPr lang="en-US" sz="1350" dirty="0"/>
          </a:p>
        </p:txBody>
      </p:sp>
      <p:sp>
        <p:nvSpPr>
          <p:cNvPr id="24" name="Text 22"/>
          <p:cNvSpPr txBox="1"/>
          <p:nvPr/>
        </p:nvSpPr>
        <p:spPr>
          <a:xfrm>
            <a:off x="566928" y="4590288"/>
            <a:ext cx="5486400" cy="292608"/>
          </a:xfrm>
          <a:prstGeom prst="rect">
            <a:avLst/>
          </a:prstGeom>
          <a:noFill/>
          <a:ln/>
        </p:spPr>
        <p:txBody>
          <a:bodyPr wrap="square" lIns="0" tIns="0" rIns="0" bIns="0" rtlCol="0" anchor="ctr"/>
          <a:lstStyle/>
          <a:p>
            <a:pPr marL="0" indent="0">
              <a:buNone/>
            </a:pPr>
            <a:r>
              <a:rPr lang="en-US" sz="1500" b="1" dirty="0">
                <a:solidFill>
                  <a:srgbClr val="0E3A5C"/>
                </a:solidFill>
                <a:latin typeface="맑은 고딕" pitchFamily="34" charset="0"/>
                <a:ea typeface="맑은 고딕" pitchFamily="34" charset="-122"/>
                <a:cs typeface="맑은 고딕" pitchFamily="34" charset="-120"/>
              </a:rPr>
              <a:t>과적합 진단 방법</a:t>
            </a:r>
            <a:endParaRPr lang="en-US" sz="1500" dirty="0"/>
          </a:p>
        </p:txBody>
      </p:sp>
      <p:sp>
        <p:nvSpPr>
          <p:cNvPr id="25" name="Text 23"/>
          <p:cNvSpPr txBox="1"/>
          <p:nvPr/>
        </p:nvSpPr>
        <p:spPr>
          <a:xfrm>
            <a:off x="566928" y="4956048"/>
            <a:ext cx="11064240" cy="1097280"/>
          </a:xfrm>
          <a:prstGeom prst="rect">
            <a:avLst/>
          </a:prstGeom>
          <a:noFill/>
          <a:ln/>
        </p:spPr>
        <p:txBody>
          <a:bodyPr wrap="square" lIns="0" tIns="0" rIns="0" bIns="0" rtlCol="0" anchor="ctr"/>
          <a:lstStyle/>
          <a:p>
            <a:pPr marL="342900" indent="-342900">
              <a:lnSpc>
                <a:spcPts val="2100"/>
              </a:lnSpc>
              <a:spcAft>
                <a:spcPts val="600"/>
              </a:spcAft>
              <a:buSzPct val="100000"/>
              <a:buChar char="–"/>
            </a:pPr>
            <a:r>
              <a:rPr lang="en-US" sz="1350" dirty="0">
                <a:solidFill>
                  <a:srgbClr val="1A1A1A"/>
                </a:solidFill>
                <a:latin typeface="맑은 고딕" pitchFamily="34" charset="0"/>
                <a:ea typeface="맑은 고딕" pitchFamily="34" charset="-122"/>
                <a:cs typeface="맑은 고딕" pitchFamily="34" charset="-120"/>
              </a:rPr>
              <a:t>학습 성능과 테스트 성능을 함께 계산해 차이를 본다</a:t>
            </a:r>
            <a:endParaRPr lang="en-US" sz="1350" dirty="0"/>
          </a:p>
          <a:p>
            <a:pPr marL="342900" indent="-342900">
              <a:lnSpc>
                <a:spcPts val="2100"/>
              </a:lnSpc>
              <a:spcAft>
                <a:spcPts val="600"/>
              </a:spcAft>
              <a:buSzPct val="100000"/>
              <a:buChar char="–"/>
            </a:pPr>
            <a:r>
              <a:rPr lang="en-US" sz="1350" dirty="0">
                <a:solidFill>
                  <a:srgbClr val="1A1A1A"/>
                </a:solidFill>
                <a:latin typeface="맑은 고딕" pitchFamily="34" charset="0"/>
                <a:ea typeface="맑은 고딕" pitchFamily="34" charset="-122"/>
                <a:cs typeface="맑은 고딕" pitchFamily="34" charset="-120"/>
              </a:rPr>
              <a:t>학습 R²가 1에 가까운데 테스트 R²가 크게 낮으면 학습 데이터를 외운 것이다</a:t>
            </a:r>
            <a:endParaRPr lang="en-US" sz="1350" dirty="0"/>
          </a:p>
          <a:p>
            <a:pPr marL="342900" indent="-342900">
              <a:lnSpc>
                <a:spcPts val="2100"/>
              </a:lnSpc>
              <a:spcAft>
                <a:spcPts val="600"/>
              </a:spcAft>
              <a:buSzPct val="100000"/>
              <a:buChar char="–"/>
            </a:pPr>
            <a:r>
              <a:rPr lang="en-US" sz="1350" dirty="0">
                <a:solidFill>
                  <a:srgbClr val="1A1A1A"/>
                </a:solidFill>
                <a:latin typeface="맑은 고딕" pitchFamily="34" charset="0"/>
                <a:ea typeface="맑은 고딕" pitchFamily="34" charset="-122"/>
                <a:cs typeface="맑은 고딕" pitchFamily="34" charset="-120"/>
              </a:rPr>
              <a:t>교차검증 결과와 테스트 결과가 크게 다르면 과적합을 의심한다</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66928" y="365760"/>
            <a:ext cx="457200" cy="457200"/>
          </a:xfrm>
          <a:prstGeom prst="ellipse">
            <a:avLst/>
          </a:prstGeom>
          <a:solidFill>
            <a:srgbClr val="1C7293"/>
          </a:solidFill>
          <a:ln w="12700">
            <a:solidFill>
              <a:srgbClr val="1C7293"/>
            </a:solidFill>
            <a:prstDash val="solid"/>
          </a:ln>
        </p:spPr>
        <p:txBody>
          <a:bodyPr/>
          <a:lstStyle/>
          <a:p>
            <a:endParaRPr lang="ko-KR" altLang="en-US"/>
          </a:p>
        </p:txBody>
      </p:sp>
      <p:sp>
        <p:nvSpPr>
          <p:cNvPr id="3" name="Text 1"/>
          <p:cNvSpPr txBox="1"/>
          <p:nvPr/>
        </p:nvSpPr>
        <p:spPr>
          <a:xfrm>
            <a:off x="566928" y="3657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13</a:t>
            </a:r>
            <a:endParaRPr lang="en-US" sz="1600" dirty="0"/>
          </a:p>
        </p:txBody>
      </p:sp>
      <p:sp>
        <p:nvSpPr>
          <p:cNvPr id="4" name="Text 2"/>
          <p:cNvSpPr txBox="1"/>
          <p:nvPr/>
        </p:nvSpPr>
        <p:spPr>
          <a:xfrm>
            <a:off x="1152144" y="310896"/>
            <a:ext cx="10424160" cy="246888"/>
          </a:xfrm>
          <a:prstGeom prst="rect">
            <a:avLst/>
          </a:prstGeom>
          <a:noFill/>
          <a:ln/>
        </p:spPr>
        <p:txBody>
          <a:bodyPr wrap="square" lIns="0" tIns="0" rIns="0" bIns="0" rtlCol="0" anchor="ctr"/>
          <a:lstStyle/>
          <a:p>
            <a:pPr marL="0" indent="0">
              <a:buNone/>
            </a:pPr>
            <a:r>
              <a:rPr lang="en-US" sz="1150" b="1" kern="0" spc="100" dirty="0">
                <a:solidFill>
                  <a:srgbClr val="1C7293"/>
                </a:solidFill>
                <a:latin typeface="맑은 고딕" pitchFamily="34" charset="0"/>
                <a:ea typeface="맑은 고딕" pitchFamily="34" charset="-122"/>
                <a:cs typeface="맑은 고딕" pitchFamily="34" charset="-120"/>
              </a:rPr>
              <a:t>모델링 · Baseline</a:t>
            </a:r>
            <a:endParaRPr lang="en-US" sz="1150" dirty="0"/>
          </a:p>
        </p:txBody>
      </p:sp>
      <p:sp>
        <p:nvSpPr>
          <p:cNvPr id="5" name="Text 3"/>
          <p:cNvSpPr txBox="1"/>
          <p:nvPr/>
        </p:nvSpPr>
        <p:spPr>
          <a:xfrm>
            <a:off x="1152144" y="566928"/>
            <a:ext cx="10469880" cy="530352"/>
          </a:xfrm>
          <a:prstGeom prst="rect">
            <a:avLst/>
          </a:prstGeom>
          <a:noFill/>
          <a:ln/>
        </p:spPr>
        <p:txBody>
          <a:bodyPr wrap="square" lIns="0" tIns="0" rIns="0" bIns="0" rtlCol="0" anchor="ctr"/>
          <a:lstStyle/>
          <a:p>
            <a:pPr marL="0" indent="0">
              <a:buNone/>
            </a:pPr>
            <a:r>
              <a:rPr lang="en-US" sz="2500" b="1" dirty="0">
                <a:solidFill>
                  <a:srgbClr val="0E3A5C"/>
                </a:solidFill>
                <a:latin typeface="맑은 고딕" pitchFamily="34" charset="0"/>
                <a:ea typeface="맑은 고딕" pitchFamily="34" charset="-122"/>
                <a:cs typeface="맑은 고딕" pitchFamily="34" charset="-120"/>
              </a:rPr>
              <a:t>기준 모델 ① 다중 선형회귀</a:t>
            </a:r>
            <a:endParaRPr lang="en-US" sz="2500" dirty="0"/>
          </a:p>
        </p:txBody>
      </p:sp>
      <p:sp>
        <p:nvSpPr>
          <p:cNvPr id="6" name="Text 4"/>
          <p:cNvSpPr txBox="1"/>
          <p:nvPr/>
        </p:nvSpPr>
        <p:spPr>
          <a:xfrm>
            <a:off x="8686800" y="6519672"/>
            <a:ext cx="2926080" cy="274320"/>
          </a:xfrm>
          <a:prstGeom prst="rect">
            <a:avLst/>
          </a:prstGeom>
          <a:noFill/>
          <a:ln/>
        </p:spPr>
        <p:txBody>
          <a:bodyPr wrap="square" lIns="0" tIns="0" rIns="0" bIns="0" rtlCol="0" anchor="ctr"/>
          <a:lstStyle/>
          <a:p>
            <a:pPr marL="0" indent="0" algn="r">
              <a:buNone/>
            </a:pPr>
            <a:r>
              <a:rPr lang="en-US" sz="1000" dirty="0">
                <a:solidFill>
                  <a:srgbClr val="A8B4BE"/>
                </a:solidFill>
                <a:latin typeface="맑은 고딕" pitchFamily="34" charset="0"/>
                <a:ea typeface="맑은 고딕" pitchFamily="34" charset="-122"/>
                <a:cs typeface="맑은 고딕" pitchFamily="34" charset="-120"/>
              </a:rPr>
              <a:t>4. 모델링</a:t>
            </a:r>
            <a:endParaRPr lang="en-US" sz="1000" dirty="0"/>
          </a:p>
        </p:txBody>
      </p:sp>
      <p:sp>
        <p:nvSpPr>
          <p:cNvPr id="7" name="Text 5"/>
          <p:cNvSpPr txBox="1"/>
          <p:nvPr/>
        </p:nvSpPr>
        <p:spPr>
          <a:xfrm>
            <a:off x="566928" y="1298448"/>
            <a:ext cx="11064240" cy="274320"/>
          </a:xfrm>
          <a:prstGeom prst="rect">
            <a:avLst/>
          </a:prstGeom>
          <a:noFill/>
          <a:ln/>
        </p:spPr>
        <p:txBody>
          <a:bodyPr wrap="square" lIns="0" tIns="0" rIns="0" bIns="0" rtlCol="0" anchor="ctr"/>
          <a:lstStyle/>
          <a:p>
            <a:pPr marL="0" indent="0">
              <a:buNone/>
            </a:pPr>
            <a:r>
              <a:rPr lang="en-US" sz="1300" dirty="0">
                <a:solidFill>
                  <a:srgbClr val="5F6B78"/>
                </a:solidFill>
                <a:latin typeface="맑은 고딕" pitchFamily="34" charset="0"/>
                <a:ea typeface="맑은 고딕" pitchFamily="34" charset="-122"/>
                <a:cs typeface="맑은 고딕" pitchFamily="34" charset="-120"/>
              </a:rPr>
              <a:t>가장 단순한 구조로 기준 성능을 만든다. 이후 모든 모델은 이 값을 넘어야 한다.</a:t>
            </a:r>
            <a:endParaRPr lang="en-US" sz="13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66928" y="1664208"/>
          <a:ext cx="11064240" cy="658368"/>
        </p:xfrm>
        <a:graphic>
          <a:graphicData uri="http://schemas.openxmlformats.org/drawingml/2006/table">
            <a:tbl>
              <a:tblPr/>
              <a:tblGrid>
                <a:gridCol w="28346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gridCol w="1371600">
                  <a:extLst>
                    <a:ext uri="{9D8B030D-6E8A-4147-A177-3AD203B41FA5}">
                      <a16:colId xmlns:a16="http://schemas.microsoft.com/office/drawing/2014/main" val="20006"/>
                    </a:ext>
                  </a:extLst>
                </a:gridCol>
              </a:tblGrid>
              <a:tr h="329184">
                <a:tc>
                  <a:txBody>
                    <a:bodyPr/>
                    <a:lstStyle/>
                    <a:p>
                      <a:pPr marL="0" indent="0" algn="ctr">
                        <a:buNone/>
                      </a:pPr>
                      <a:r>
                        <a:rPr lang="en-US" sz="1250" b="1" dirty="0">
                          <a:solidFill>
                            <a:srgbClr val="0E3A5C"/>
                          </a:solidFill>
                          <a:latin typeface="맑은 고딕" pitchFamily="34" charset="0"/>
                          <a:ea typeface="맑은 고딕" pitchFamily="34" charset="-122"/>
                          <a:cs typeface="맑은 고딕" pitchFamily="34" charset="-120"/>
                        </a:rPr>
                        <a:t>모델</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250" b="1" dirty="0">
                          <a:solidFill>
                            <a:srgbClr val="0E3A5C"/>
                          </a:solidFill>
                          <a:latin typeface="맑은 고딕" pitchFamily="34" charset="0"/>
                          <a:ea typeface="맑은 고딕" pitchFamily="34" charset="-122"/>
                          <a:cs typeface="맑은 고딕" pitchFamily="34" charset="-120"/>
                        </a:rPr>
                        <a:t>Train MAE</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250" b="1" dirty="0">
                          <a:solidFill>
                            <a:srgbClr val="0E3A5C"/>
                          </a:solidFill>
                          <a:latin typeface="맑은 고딕" pitchFamily="34" charset="0"/>
                          <a:ea typeface="맑은 고딕" pitchFamily="34" charset="-122"/>
                          <a:cs typeface="맑은 고딕" pitchFamily="34" charset="-120"/>
                        </a:rPr>
                        <a:t>Test MAE</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250" b="1" dirty="0">
                          <a:solidFill>
                            <a:srgbClr val="0E3A5C"/>
                          </a:solidFill>
                          <a:latin typeface="맑은 고딕" pitchFamily="34" charset="0"/>
                          <a:ea typeface="맑은 고딕" pitchFamily="34" charset="-122"/>
                          <a:cs typeface="맑은 고딕" pitchFamily="34" charset="-120"/>
                        </a:rPr>
                        <a:t>Train RMSE</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250" b="1" dirty="0">
                          <a:solidFill>
                            <a:srgbClr val="0E3A5C"/>
                          </a:solidFill>
                          <a:latin typeface="맑은 고딕" pitchFamily="34" charset="0"/>
                          <a:ea typeface="맑은 고딕" pitchFamily="34" charset="-122"/>
                          <a:cs typeface="맑은 고딕" pitchFamily="34" charset="-120"/>
                        </a:rPr>
                        <a:t>Test RMSE</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250" b="1" dirty="0">
                          <a:solidFill>
                            <a:srgbClr val="0E3A5C"/>
                          </a:solidFill>
                          <a:latin typeface="맑은 고딕" pitchFamily="34" charset="0"/>
                          <a:ea typeface="맑은 고딕" pitchFamily="34" charset="-122"/>
                          <a:cs typeface="맑은 고딕" pitchFamily="34" charset="-120"/>
                        </a:rPr>
                        <a:t>Train R²</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250" b="1" dirty="0">
                          <a:solidFill>
                            <a:srgbClr val="0E3A5C"/>
                          </a:solidFill>
                          <a:latin typeface="맑은 고딕" pitchFamily="34" charset="0"/>
                          <a:ea typeface="맑은 고딕" pitchFamily="34" charset="-122"/>
                          <a:cs typeface="맑은 고딕" pitchFamily="34" charset="-120"/>
                        </a:rPr>
                        <a:t>Test R²</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extLst>
                  <a:ext uri="{0D108BD9-81ED-4DB2-BD59-A6C34878D82A}">
                    <a16:rowId xmlns:a16="http://schemas.microsoft.com/office/drawing/2014/main" val="10000"/>
                  </a:ext>
                </a:extLst>
              </a:tr>
              <a:tr h="329184">
                <a:tc>
                  <a:txBody>
                    <a:bodyPr/>
                    <a:lstStyle/>
                    <a:p>
                      <a:pPr marL="0" indent="0" algn="l">
                        <a:buNone/>
                      </a:pPr>
                      <a:r>
                        <a:rPr lang="en-US" sz="1250" b="1" dirty="0">
                          <a:solidFill>
                            <a:srgbClr val="0E3A5C"/>
                          </a:solidFill>
                          <a:latin typeface="맑은 고딕" pitchFamily="34" charset="0"/>
                          <a:ea typeface="맑은 고딕" pitchFamily="34" charset="-122"/>
                          <a:cs typeface="맑은 고딕" pitchFamily="34" charset="-120"/>
                        </a:rPr>
                        <a:t>Linear Regression</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tc>
                  <a:txBody>
                    <a:bodyPr/>
                    <a:lstStyle/>
                    <a:p>
                      <a:pPr marL="0" indent="0" algn="r">
                        <a:buNone/>
                      </a:pPr>
                      <a:r>
                        <a:rPr lang="en-US" sz="1250" b="1" dirty="0">
                          <a:solidFill>
                            <a:srgbClr val="0E3A5C"/>
                          </a:solidFill>
                          <a:latin typeface="맑은 고딕" pitchFamily="34" charset="0"/>
                          <a:ea typeface="맑은 고딕" pitchFamily="34" charset="-122"/>
                          <a:cs typeface="맑은 고딕" pitchFamily="34" charset="-120"/>
                        </a:rPr>
                        <a:t>0.8052</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tc>
                  <a:txBody>
                    <a:bodyPr/>
                    <a:lstStyle/>
                    <a:p>
                      <a:pPr marL="0" indent="0" algn="r">
                        <a:buNone/>
                      </a:pPr>
                      <a:r>
                        <a:rPr lang="en-US" sz="1250" b="1" dirty="0">
                          <a:solidFill>
                            <a:srgbClr val="0E3A5C"/>
                          </a:solidFill>
                          <a:latin typeface="맑은 고딕" pitchFamily="34" charset="0"/>
                          <a:ea typeface="맑은 고딕" pitchFamily="34" charset="-122"/>
                          <a:cs typeface="맑은 고딕" pitchFamily="34" charset="-120"/>
                        </a:rPr>
                        <a:t>0.8107</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tc>
                  <a:txBody>
                    <a:bodyPr/>
                    <a:lstStyle/>
                    <a:p>
                      <a:pPr marL="0" indent="0" algn="r">
                        <a:buNone/>
                      </a:pPr>
                      <a:r>
                        <a:rPr lang="en-US" sz="1250" b="1" dirty="0">
                          <a:solidFill>
                            <a:srgbClr val="0E3A5C"/>
                          </a:solidFill>
                          <a:latin typeface="맑은 고딕" pitchFamily="34" charset="0"/>
                          <a:ea typeface="맑은 고딕" pitchFamily="34" charset="-122"/>
                          <a:cs typeface="맑은 고딕" pitchFamily="34" charset="-120"/>
                        </a:rPr>
                        <a:t>1.0031</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tc>
                  <a:txBody>
                    <a:bodyPr/>
                    <a:lstStyle/>
                    <a:p>
                      <a:pPr marL="0" indent="0" algn="r">
                        <a:buNone/>
                      </a:pPr>
                      <a:r>
                        <a:rPr lang="en-US" sz="1250" b="1" dirty="0">
                          <a:solidFill>
                            <a:srgbClr val="0E3A5C"/>
                          </a:solidFill>
                          <a:latin typeface="맑은 고딕" pitchFamily="34" charset="0"/>
                          <a:ea typeface="맑은 고딕" pitchFamily="34" charset="-122"/>
                          <a:cs typeface="맑은 고딕" pitchFamily="34" charset="-120"/>
                        </a:rPr>
                        <a:t>1.0093</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tc>
                  <a:txBody>
                    <a:bodyPr/>
                    <a:lstStyle/>
                    <a:p>
                      <a:pPr marL="0" indent="0" algn="r">
                        <a:buNone/>
                      </a:pPr>
                      <a:r>
                        <a:rPr lang="en-US" sz="1250" b="1" dirty="0">
                          <a:solidFill>
                            <a:srgbClr val="0E3A5C"/>
                          </a:solidFill>
                          <a:latin typeface="맑은 고딕" pitchFamily="34" charset="0"/>
                          <a:ea typeface="맑은 고딕" pitchFamily="34" charset="-122"/>
                          <a:cs typeface="맑은 고딕" pitchFamily="34" charset="-120"/>
                        </a:rPr>
                        <a:t>0.9285</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tc>
                  <a:txBody>
                    <a:bodyPr/>
                    <a:lstStyle/>
                    <a:p>
                      <a:pPr marL="0" indent="0" algn="r">
                        <a:buNone/>
                      </a:pPr>
                      <a:r>
                        <a:rPr lang="en-US" sz="1250" b="1" dirty="0">
                          <a:solidFill>
                            <a:srgbClr val="0E3A5C"/>
                          </a:solidFill>
                          <a:latin typeface="맑은 고딕" pitchFamily="34" charset="0"/>
                          <a:ea typeface="맑은 고딕" pitchFamily="34" charset="-122"/>
                          <a:cs typeface="맑은 고딕" pitchFamily="34" charset="-120"/>
                        </a:rPr>
                        <a:t>0.9246</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extLst>
                  <a:ext uri="{0D108BD9-81ED-4DB2-BD59-A6C34878D82A}">
                    <a16:rowId xmlns:a16="http://schemas.microsoft.com/office/drawing/2014/main" val="10001"/>
                  </a:ext>
                </a:extLst>
              </a:tr>
            </a:tbl>
          </a:graphicData>
        </a:graphic>
      </p:graphicFrame>
      <p:sp>
        <p:nvSpPr>
          <p:cNvPr id="9" name="Shape 6"/>
          <p:cNvSpPr/>
          <p:nvPr/>
        </p:nvSpPr>
        <p:spPr>
          <a:xfrm>
            <a:off x="566928" y="2487168"/>
            <a:ext cx="11064240" cy="749808"/>
          </a:xfrm>
          <a:prstGeom prst="roundRect">
            <a:avLst>
              <a:gd name="adj" fmla="val 6098"/>
            </a:avLst>
          </a:prstGeom>
          <a:solidFill>
            <a:srgbClr val="D8E8F0"/>
          </a:solidFill>
          <a:ln w="12700">
            <a:solidFill>
              <a:srgbClr val="1C7293"/>
            </a:solidFill>
            <a:prstDash val="solid"/>
          </a:ln>
        </p:spPr>
        <p:txBody>
          <a:bodyPr/>
          <a:lstStyle/>
          <a:p>
            <a:endParaRPr lang="ko-KR" altLang="en-US"/>
          </a:p>
        </p:txBody>
      </p:sp>
      <p:sp>
        <p:nvSpPr>
          <p:cNvPr id="10" name="Text 7"/>
          <p:cNvSpPr txBox="1"/>
          <p:nvPr/>
        </p:nvSpPr>
        <p:spPr>
          <a:xfrm>
            <a:off x="804672" y="2487168"/>
            <a:ext cx="10588752" cy="749808"/>
          </a:xfrm>
          <a:prstGeom prst="rect">
            <a:avLst/>
          </a:prstGeom>
          <a:noFill/>
          <a:ln/>
        </p:spPr>
        <p:txBody>
          <a:bodyPr wrap="square" lIns="0" tIns="0" rIns="0" bIns="0" rtlCol="0" anchor="ctr"/>
          <a:lstStyle/>
          <a:p>
            <a:pPr marL="0" indent="0">
              <a:lnSpc>
                <a:spcPts val="1900"/>
              </a:lnSpc>
              <a:buNone/>
            </a:pPr>
            <a:r>
              <a:rPr lang="en-US" sz="1350" b="1" dirty="0">
                <a:solidFill>
                  <a:srgbClr val="0E3A5C"/>
                </a:solidFill>
                <a:latin typeface="맑은 고딕" pitchFamily="34" charset="0"/>
                <a:ea typeface="맑은 고딕" pitchFamily="34" charset="-122"/>
                <a:cs typeface="맑은 고딕" pitchFamily="34" charset="-120"/>
              </a:rPr>
              <a:t>첫 번째 관찰   </a:t>
            </a:r>
            <a:r>
              <a:rPr lang="en-US" sz="1350" dirty="0">
                <a:solidFill>
                  <a:srgbClr val="1A1A1A"/>
                </a:solidFill>
                <a:latin typeface="맑은 고딕" pitchFamily="34" charset="0"/>
                <a:ea typeface="맑은 고딕" pitchFamily="34" charset="-122"/>
                <a:cs typeface="맑은 고딕" pitchFamily="34" charset="-120"/>
              </a:rPr>
              <a:t>학습 MAE 0.8052와 테스트 MAE 0.8107이 거의 같다. 학습·테스트 R² 차이도 0.0039에 불과해, 이 시점에서 이미 과적합 징후가 없다.</a:t>
            </a:r>
            <a:endParaRPr lang="en-US" sz="1350" dirty="0"/>
          </a:p>
        </p:txBody>
      </p:sp>
      <p:sp>
        <p:nvSpPr>
          <p:cNvPr id="11" name="Text 8"/>
          <p:cNvSpPr txBox="1"/>
          <p:nvPr/>
        </p:nvSpPr>
        <p:spPr>
          <a:xfrm>
            <a:off x="566928" y="3401568"/>
            <a:ext cx="5486400" cy="292608"/>
          </a:xfrm>
          <a:prstGeom prst="rect">
            <a:avLst/>
          </a:prstGeom>
          <a:noFill/>
          <a:ln/>
        </p:spPr>
        <p:txBody>
          <a:bodyPr wrap="square" lIns="0" tIns="0" rIns="0" bIns="0" rtlCol="0" anchor="ctr"/>
          <a:lstStyle/>
          <a:p>
            <a:pPr marL="0" indent="0">
              <a:buNone/>
            </a:pPr>
            <a:r>
              <a:rPr lang="en-US" sz="1500" b="1" dirty="0">
                <a:solidFill>
                  <a:srgbClr val="0E3A5C"/>
                </a:solidFill>
                <a:latin typeface="맑은 고딕" pitchFamily="34" charset="0"/>
                <a:ea typeface="맑은 고딕" pitchFamily="34" charset="-122"/>
                <a:cs typeface="맑은 고딕" pitchFamily="34" charset="-120"/>
              </a:rPr>
              <a:t>회귀계수 (절편 16.4641)</a:t>
            </a:r>
            <a:endParaRPr lang="en-US" sz="1500" dirty="0"/>
          </a:p>
        </p:txBody>
      </p:sp>
      <p:graphicFrame>
        <p:nvGraphicFramePr>
          <p:cNvPr id="39" name="Table 1"/>
          <p:cNvGraphicFramePr>
            <a:graphicFrameLocks noGrp="1"/>
          </p:cNvGraphicFramePr>
          <p:nvPr>
            <p:extLst>
              <p:ext uri="{D42A27DB-BD31-4B8C-83A1-F6EECF244321}">
                <p14:modId xmlns:p14="http://schemas.microsoft.com/office/powerpoint/2010/main" val="1579011935"/>
              </p:ext>
            </p:extLst>
          </p:nvPr>
        </p:nvGraphicFramePr>
        <p:xfrm>
          <a:off x="566928" y="3639312"/>
          <a:ext cx="4572000" cy="2616200"/>
        </p:xfrm>
        <a:graphic>
          <a:graphicData uri="http://schemas.openxmlformats.org/drawingml/2006/table">
            <a:tbl>
              <a:tblPr/>
              <a:tblGrid>
                <a:gridCol w="31089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tblGrid>
              <a:tr h="182880">
                <a:tc>
                  <a:txBody>
                    <a:bodyPr/>
                    <a:lstStyle/>
                    <a:p>
                      <a:pPr marL="0" indent="0" algn="ctr">
                        <a:buNone/>
                      </a:pPr>
                      <a:r>
                        <a:rPr lang="en-US" sz="1050" b="1" dirty="0">
                          <a:solidFill>
                            <a:srgbClr val="0E3A5C"/>
                          </a:solidFill>
                          <a:latin typeface="맑은 고딕" pitchFamily="34" charset="0"/>
                          <a:ea typeface="맑은 고딕" pitchFamily="34" charset="-122"/>
                          <a:cs typeface="맑은 고딕" pitchFamily="34" charset="-120"/>
                        </a:rPr>
                        <a:t>변수</a:t>
                      </a:r>
                      <a:endParaRPr lang="en-US" sz="1050" dirty="0">
                        <a:latin typeface="맑은 고딕" charset="0"/>
                        <a:ea typeface="맑은 고딕" charset="0"/>
                        <a:cs typeface="맑은 고딕" charset="0"/>
                      </a:endParaRPr>
                    </a:p>
                  </a:txBody>
                  <a:tcPr marL="50800" marR="508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050" b="1" dirty="0">
                          <a:solidFill>
                            <a:srgbClr val="0E3A5C"/>
                          </a:solidFill>
                          <a:latin typeface="맑은 고딕" pitchFamily="34" charset="0"/>
                          <a:ea typeface="맑은 고딕" pitchFamily="34" charset="-122"/>
                          <a:cs typeface="맑은 고딕" pitchFamily="34" charset="-120"/>
                        </a:rPr>
                        <a:t>계수</a:t>
                      </a:r>
                      <a:endParaRPr lang="en-US" sz="1050" dirty="0">
                        <a:latin typeface="맑은 고딕" charset="0"/>
                        <a:ea typeface="맑은 고딕" charset="0"/>
                        <a:cs typeface="맑은 고딕" charset="0"/>
                      </a:endParaRPr>
                    </a:p>
                  </a:txBody>
                  <a:tcPr marL="50800" marR="508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extLst>
                  <a:ext uri="{0D108BD9-81ED-4DB2-BD59-A6C34878D82A}">
                    <a16:rowId xmlns:a16="http://schemas.microsoft.com/office/drawing/2014/main" val="10000"/>
                  </a:ext>
                </a:extLst>
              </a:tr>
              <a:tr h="182880">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driving_style_index</a:t>
                      </a:r>
                      <a:endParaRPr lang="en-US" sz="1050" dirty="0">
                        <a:latin typeface="맑은 고딕" charset="0"/>
                        <a:ea typeface="맑은 고딕" charset="0"/>
                        <a:cs typeface="맑은 고딕" charset="0"/>
                      </a:endParaRPr>
                    </a:p>
                  </a:txBody>
                  <a:tcPr marL="50800" marR="508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3.5071</a:t>
                      </a:r>
                      <a:endParaRPr lang="en-US" sz="1050" dirty="0">
                        <a:latin typeface="맑은 고딕" charset="0"/>
                        <a:ea typeface="맑은 고딕" charset="0"/>
                        <a:cs typeface="맑은 고딕" charset="0"/>
                      </a:endParaRPr>
                    </a:p>
                  </a:txBody>
                  <a:tcPr marL="50800" marR="508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82880">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tire_pressure_bar</a:t>
                      </a:r>
                      <a:endParaRPr lang="en-US" sz="1050" dirty="0">
                        <a:latin typeface="맑은 고딕" charset="0"/>
                        <a:ea typeface="맑은 고딕" charset="0"/>
                        <a:cs typeface="맑은 고딕" charset="0"/>
                      </a:endParaRPr>
                    </a:p>
                  </a:txBody>
                  <a:tcPr marL="50800" marR="508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-1.4253</a:t>
                      </a:r>
                      <a:endParaRPr lang="en-US" sz="1050" dirty="0">
                        <a:latin typeface="맑은 고딕" charset="0"/>
                        <a:ea typeface="맑은 고딕" charset="0"/>
                        <a:cs typeface="맑은 고딕" charset="0"/>
                      </a:endParaRPr>
                    </a:p>
                  </a:txBody>
                  <a:tcPr marL="50800" marR="508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82880">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hvac_power_kw</a:t>
                      </a:r>
                      <a:endParaRPr lang="en-US" sz="1050" dirty="0">
                        <a:latin typeface="맑은 고딕" charset="0"/>
                        <a:ea typeface="맑은 고딕" charset="0"/>
                        <a:cs typeface="맑은 고딕" charset="0"/>
                      </a:endParaRPr>
                    </a:p>
                  </a:txBody>
                  <a:tcPr marL="50800" marR="508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0.9123</a:t>
                      </a:r>
                      <a:endParaRPr lang="en-US" sz="1050" dirty="0">
                        <a:latin typeface="맑은 고딕" charset="0"/>
                        <a:ea typeface="맑은 고딕" charset="0"/>
                        <a:cs typeface="맑은 고딕" charset="0"/>
                      </a:endParaRPr>
                    </a:p>
                  </a:txBody>
                  <a:tcPr marL="50800" marR="508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82880">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road_grade_pct</a:t>
                      </a:r>
                      <a:endParaRPr lang="en-US" sz="1050" dirty="0">
                        <a:latin typeface="맑은 고딕" charset="0"/>
                        <a:ea typeface="맑은 고딕" charset="0"/>
                        <a:cs typeface="맑은 고딕" charset="0"/>
                      </a:endParaRPr>
                    </a:p>
                  </a:txBody>
                  <a:tcPr marL="50800" marR="508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0.4940</a:t>
                      </a:r>
                      <a:endParaRPr lang="en-US" sz="1050" dirty="0">
                        <a:latin typeface="맑은 고딕" charset="0"/>
                        <a:ea typeface="맑은 고딕" charset="0"/>
                        <a:cs typeface="맑은 고딕" charset="0"/>
                      </a:endParaRPr>
                    </a:p>
                  </a:txBody>
                  <a:tcPr marL="50800" marR="508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82880">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speed_kmh</a:t>
                      </a:r>
                      <a:endParaRPr lang="en-US" sz="1050" dirty="0">
                        <a:latin typeface="맑은 고딕" charset="0"/>
                        <a:ea typeface="맑은 고딕" charset="0"/>
                        <a:cs typeface="맑은 고딕" charset="0"/>
                      </a:endParaRPr>
                    </a:p>
                  </a:txBody>
                  <a:tcPr marL="50800" marR="508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0.0517</a:t>
                      </a:r>
                      <a:endParaRPr lang="en-US" sz="1050" dirty="0">
                        <a:latin typeface="맑은 고딕" charset="0"/>
                        <a:ea typeface="맑은 고딕" charset="0"/>
                        <a:cs typeface="맑은 고딕" charset="0"/>
                      </a:endParaRPr>
                    </a:p>
                  </a:txBody>
                  <a:tcPr marL="50800" marR="508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82880">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ambient_temp_C</a:t>
                      </a:r>
                      <a:endParaRPr lang="en-US" sz="1050" dirty="0">
                        <a:latin typeface="맑은 고딕" charset="0"/>
                        <a:ea typeface="맑은 고딕" charset="0"/>
                        <a:cs typeface="맑은 고딕" charset="0"/>
                      </a:endParaRPr>
                    </a:p>
                  </a:txBody>
                  <a:tcPr marL="50800" marR="508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-0.0433</a:t>
                      </a:r>
                      <a:endParaRPr lang="en-US" sz="1050" dirty="0">
                        <a:latin typeface="맑은 고딕" charset="0"/>
                        <a:ea typeface="맑은 고딕" charset="0"/>
                        <a:cs typeface="맑은 고딕" charset="0"/>
                      </a:endParaRPr>
                    </a:p>
                  </a:txBody>
                  <a:tcPr marL="50800" marR="508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182880">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battery_temp_C</a:t>
                      </a:r>
                      <a:endParaRPr lang="en-US" sz="1050" dirty="0">
                        <a:latin typeface="맑은 고딕" charset="0"/>
                        <a:ea typeface="맑은 고딕" charset="0"/>
                        <a:cs typeface="맑은 고딕" charset="0"/>
                      </a:endParaRPr>
                    </a:p>
                  </a:txBody>
                  <a:tcPr marL="50800" marR="508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-0.0287</a:t>
                      </a:r>
                      <a:endParaRPr lang="en-US" sz="1050" dirty="0">
                        <a:latin typeface="맑은 고딕" charset="0"/>
                        <a:ea typeface="맑은 고딕" charset="0"/>
                        <a:cs typeface="맑은 고딕" charset="0"/>
                      </a:endParaRPr>
                    </a:p>
                  </a:txBody>
                  <a:tcPr marL="50800" marR="508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182880">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payload_kg</a:t>
                      </a:r>
                      <a:endParaRPr lang="en-US" sz="1050" dirty="0">
                        <a:latin typeface="맑은 고딕" charset="0"/>
                        <a:ea typeface="맑은 고딕" charset="0"/>
                        <a:cs typeface="맑은 고딕" charset="0"/>
                      </a:endParaRPr>
                    </a:p>
                  </a:txBody>
                  <a:tcPr marL="50800" marR="508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0.0120</a:t>
                      </a:r>
                      <a:endParaRPr lang="en-US" sz="1050" dirty="0">
                        <a:latin typeface="맑은 고딕" charset="0"/>
                        <a:ea typeface="맑은 고딕" charset="0"/>
                        <a:cs typeface="맑은 고딕" charset="0"/>
                      </a:endParaRPr>
                    </a:p>
                  </a:txBody>
                  <a:tcPr marL="50800" marR="508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182880">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trip_distance_km</a:t>
                      </a:r>
                      <a:endParaRPr lang="en-US" sz="1050" dirty="0">
                        <a:latin typeface="맑은 고딕" charset="0"/>
                        <a:ea typeface="맑은 고딕" charset="0"/>
                        <a:cs typeface="맑은 고딕" charset="0"/>
                      </a:endParaRPr>
                    </a:p>
                  </a:txBody>
                  <a:tcPr marL="50800" marR="508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0.0103</a:t>
                      </a:r>
                      <a:endParaRPr lang="en-US" sz="1050" dirty="0">
                        <a:latin typeface="맑은 고딕" charset="0"/>
                        <a:ea typeface="맑은 고딕" charset="0"/>
                        <a:cs typeface="맑은 고딕" charset="0"/>
                      </a:endParaRPr>
                    </a:p>
                  </a:txBody>
                  <a:tcPr marL="50800" marR="508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13" name="Shape 9"/>
          <p:cNvSpPr/>
          <p:nvPr/>
        </p:nvSpPr>
        <p:spPr>
          <a:xfrm>
            <a:off x="5468112" y="3675888"/>
            <a:ext cx="6163056" cy="1417320"/>
          </a:xfrm>
          <a:prstGeom prst="roundRect">
            <a:avLst>
              <a:gd name="adj" fmla="val 3226"/>
            </a:avLst>
          </a:prstGeom>
          <a:solidFill>
            <a:srgbClr val="FFFFFF"/>
          </a:solidFill>
          <a:ln w="12700">
            <a:solidFill>
              <a:srgbClr val="D8E8F0"/>
            </a:solidFill>
            <a:prstDash val="solid"/>
          </a:ln>
        </p:spPr>
        <p:txBody>
          <a:bodyPr/>
          <a:lstStyle/>
          <a:p>
            <a:endParaRPr lang="ko-KR" altLang="en-US"/>
          </a:p>
        </p:txBody>
      </p:sp>
      <p:sp>
        <p:nvSpPr>
          <p:cNvPr id="14" name="Text 10"/>
          <p:cNvSpPr txBox="1"/>
          <p:nvPr/>
        </p:nvSpPr>
        <p:spPr>
          <a:xfrm>
            <a:off x="5705856" y="3675888"/>
            <a:ext cx="5687568" cy="1417320"/>
          </a:xfrm>
          <a:prstGeom prst="rect">
            <a:avLst/>
          </a:prstGeom>
          <a:noFill/>
          <a:ln/>
        </p:spPr>
        <p:txBody>
          <a:bodyPr wrap="square" lIns="0" tIns="0" rIns="0" bIns="0" rtlCol="0" anchor="ctr"/>
          <a:lstStyle/>
          <a:p>
            <a:pPr marL="0" indent="0">
              <a:lnSpc>
                <a:spcPts val="1900"/>
              </a:lnSpc>
              <a:buNone/>
            </a:pPr>
            <a:r>
              <a:rPr lang="en-US" sz="1250" b="1" dirty="0">
                <a:solidFill>
                  <a:srgbClr val="0E3A5C"/>
                </a:solidFill>
                <a:latin typeface="맑은 고딕" pitchFamily="34" charset="0"/>
                <a:ea typeface="맑은 고딕" pitchFamily="34" charset="-122"/>
                <a:cs typeface="맑은 고딕" pitchFamily="34" charset="-120"/>
              </a:rPr>
              <a:t>계수 해석 시 주의   </a:t>
            </a:r>
            <a:r>
              <a:rPr lang="en-US" sz="1250" dirty="0">
                <a:solidFill>
                  <a:srgbClr val="1A1A1A"/>
                </a:solidFill>
                <a:latin typeface="맑은 고딕" pitchFamily="34" charset="0"/>
                <a:ea typeface="맑은 고딕" pitchFamily="34" charset="-122"/>
                <a:cs typeface="맑은 고딕" pitchFamily="34" charset="-120"/>
              </a:rPr>
              <a:t>계수의 부호는 다른 변수가 같을 때의 방향을 알려준다. 그러나 변수마다 단위와 범위가 달라, 절댓값만으로 중요도를 비교하면 안 된다.</a:t>
            </a:r>
            <a:endParaRPr lang="en-US" sz="1250" dirty="0"/>
          </a:p>
        </p:txBody>
      </p:sp>
      <p:sp>
        <p:nvSpPr>
          <p:cNvPr id="15" name="Shape 11"/>
          <p:cNvSpPr/>
          <p:nvPr/>
        </p:nvSpPr>
        <p:spPr>
          <a:xfrm>
            <a:off x="5468112" y="5239512"/>
            <a:ext cx="6163056" cy="960120"/>
          </a:xfrm>
          <a:prstGeom prst="roundRect">
            <a:avLst>
              <a:gd name="adj" fmla="val 4762"/>
            </a:avLst>
          </a:prstGeom>
          <a:solidFill>
            <a:srgbClr val="D8E8F0"/>
          </a:solidFill>
          <a:ln w="12700">
            <a:solidFill>
              <a:srgbClr val="1C7293"/>
            </a:solidFill>
            <a:prstDash val="solid"/>
          </a:ln>
        </p:spPr>
        <p:txBody>
          <a:bodyPr/>
          <a:lstStyle/>
          <a:p>
            <a:endParaRPr lang="ko-KR" altLang="en-US"/>
          </a:p>
        </p:txBody>
      </p:sp>
      <p:sp>
        <p:nvSpPr>
          <p:cNvPr id="16" name="Text 12"/>
          <p:cNvSpPr txBox="1"/>
          <p:nvPr/>
        </p:nvSpPr>
        <p:spPr>
          <a:xfrm>
            <a:off x="5705856" y="5239512"/>
            <a:ext cx="5687568" cy="960120"/>
          </a:xfrm>
          <a:prstGeom prst="rect">
            <a:avLst/>
          </a:prstGeom>
          <a:noFill/>
          <a:ln/>
        </p:spPr>
        <p:txBody>
          <a:bodyPr wrap="square" lIns="0" tIns="0" rIns="0" bIns="0" rtlCol="0" anchor="ctr"/>
          <a:lstStyle/>
          <a:p>
            <a:pPr marL="0" indent="0">
              <a:lnSpc>
                <a:spcPts val="1900"/>
              </a:lnSpc>
              <a:buNone/>
            </a:pPr>
            <a:r>
              <a:rPr lang="en-US" sz="1250" b="1" dirty="0">
                <a:solidFill>
                  <a:srgbClr val="0E3A5C"/>
                </a:solidFill>
                <a:latin typeface="맑은 고딕" pitchFamily="34" charset="0"/>
                <a:ea typeface="맑은 고딕" pitchFamily="34" charset="-122"/>
                <a:cs typeface="맑은 고딕" pitchFamily="34" charset="-120"/>
              </a:rPr>
              <a:t>예시   </a:t>
            </a:r>
            <a:r>
              <a:rPr lang="en-US" sz="1250" dirty="0">
                <a:solidFill>
                  <a:srgbClr val="1A1A1A"/>
                </a:solidFill>
                <a:latin typeface="맑은 고딕" pitchFamily="34" charset="0"/>
                <a:ea typeface="맑은 고딕" pitchFamily="34" charset="-122"/>
                <a:cs typeface="맑은 고딕" pitchFamily="34" charset="-120"/>
              </a:rPr>
              <a:t>driving_style_index의 계수 3.5071이 가장 크지만, 이 변수의 범위는 0~1뿐이다.</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66928" y="365760"/>
            <a:ext cx="457200" cy="457200"/>
          </a:xfrm>
          <a:prstGeom prst="ellipse">
            <a:avLst/>
          </a:prstGeom>
          <a:solidFill>
            <a:srgbClr val="1C7293"/>
          </a:solidFill>
          <a:ln w="12700">
            <a:solidFill>
              <a:srgbClr val="1C7293"/>
            </a:solidFill>
            <a:prstDash val="solid"/>
          </a:ln>
        </p:spPr>
        <p:txBody>
          <a:bodyPr/>
          <a:lstStyle/>
          <a:p>
            <a:endParaRPr lang="ko-KR" altLang="en-US"/>
          </a:p>
        </p:txBody>
      </p:sp>
      <p:sp>
        <p:nvSpPr>
          <p:cNvPr id="3" name="Text 1"/>
          <p:cNvSpPr txBox="1"/>
          <p:nvPr/>
        </p:nvSpPr>
        <p:spPr>
          <a:xfrm>
            <a:off x="566928" y="3657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14</a:t>
            </a:r>
            <a:endParaRPr lang="en-US" sz="1600" dirty="0"/>
          </a:p>
        </p:txBody>
      </p:sp>
      <p:sp>
        <p:nvSpPr>
          <p:cNvPr id="4" name="Text 2"/>
          <p:cNvSpPr txBox="1"/>
          <p:nvPr/>
        </p:nvSpPr>
        <p:spPr>
          <a:xfrm>
            <a:off x="1152144" y="310896"/>
            <a:ext cx="10424160" cy="246888"/>
          </a:xfrm>
          <a:prstGeom prst="rect">
            <a:avLst/>
          </a:prstGeom>
          <a:noFill/>
          <a:ln/>
        </p:spPr>
        <p:txBody>
          <a:bodyPr wrap="square" lIns="0" tIns="0" rIns="0" bIns="0" rtlCol="0" anchor="ctr"/>
          <a:lstStyle/>
          <a:p>
            <a:pPr marL="0" indent="0">
              <a:buNone/>
            </a:pPr>
            <a:r>
              <a:rPr lang="en-US" sz="1150" b="1" kern="0" spc="100" dirty="0">
                <a:solidFill>
                  <a:srgbClr val="1C7293"/>
                </a:solidFill>
                <a:latin typeface="맑은 고딕" pitchFamily="34" charset="0"/>
                <a:ea typeface="맑은 고딕" pitchFamily="34" charset="-122"/>
                <a:cs typeface="맑은 고딕" pitchFamily="34" charset="-120"/>
              </a:rPr>
              <a:t>모델링 · Compare</a:t>
            </a:r>
            <a:endParaRPr lang="en-US" sz="1150" dirty="0"/>
          </a:p>
        </p:txBody>
      </p:sp>
      <p:sp>
        <p:nvSpPr>
          <p:cNvPr id="5" name="Text 3"/>
          <p:cNvSpPr txBox="1"/>
          <p:nvPr/>
        </p:nvSpPr>
        <p:spPr>
          <a:xfrm>
            <a:off x="1152144" y="566928"/>
            <a:ext cx="10469880" cy="530352"/>
          </a:xfrm>
          <a:prstGeom prst="rect">
            <a:avLst/>
          </a:prstGeom>
          <a:noFill/>
          <a:ln/>
        </p:spPr>
        <p:txBody>
          <a:bodyPr wrap="square" lIns="0" tIns="0" rIns="0" bIns="0" rtlCol="0" anchor="ctr"/>
          <a:lstStyle/>
          <a:p>
            <a:pPr marL="0" indent="0">
              <a:buNone/>
            </a:pPr>
            <a:r>
              <a:rPr lang="en-US" sz="2500" b="1" dirty="0">
                <a:solidFill>
                  <a:srgbClr val="0E3A5C"/>
                </a:solidFill>
                <a:latin typeface="맑은 고딕" pitchFamily="34" charset="0"/>
                <a:ea typeface="맑은 고딕" pitchFamily="34" charset="-122"/>
                <a:cs typeface="맑은 고딕" pitchFamily="34" charset="-120"/>
              </a:rPr>
              <a:t>비교 모델 ② 기본 의사결정트리 — 과적합</a:t>
            </a:r>
            <a:endParaRPr lang="en-US" sz="2500" dirty="0"/>
          </a:p>
        </p:txBody>
      </p:sp>
      <p:sp>
        <p:nvSpPr>
          <p:cNvPr id="6" name="Text 4"/>
          <p:cNvSpPr txBox="1"/>
          <p:nvPr/>
        </p:nvSpPr>
        <p:spPr>
          <a:xfrm>
            <a:off x="8686800" y="6519672"/>
            <a:ext cx="2926080" cy="274320"/>
          </a:xfrm>
          <a:prstGeom prst="rect">
            <a:avLst/>
          </a:prstGeom>
          <a:noFill/>
          <a:ln/>
        </p:spPr>
        <p:txBody>
          <a:bodyPr wrap="square" lIns="0" tIns="0" rIns="0" bIns="0" rtlCol="0" anchor="ctr"/>
          <a:lstStyle/>
          <a:p>
            <a:pPr marL="0" indent="0" algn="r">
              <a:buNone/>
            </a:pPr>
            <a:r>
              <a:rPr lang="en-US" sz="1000" dirty="0">
                <a:solidFill>
                  <a:srgbClr val="A8B4BE"/>
                </a:solidFill>
                <a:latin typeface="맑은 고딕" pitchFamily="34" charset="0"/>
                <a:ea typeface="맑은 고딕" pitchFamily="34" charset="-122"/>
                <a:cs typeface="맑은 고딕" pitchFamily="34" charset="-120"/>
              </a:rPr>
              <a:t>4. 모델링</a:t>
            </a:r>
            <a:endParaRPr lang="en-US" sz="1000" dirty="0"/>
          </a:p>
        </p:txBody>
      </p:sp>
      <p:sp>
        <p:nvSpPr>
          <p:cNvPr id="7" name="Text 5"/>
          <p:cNvSpPr txBox="1"/>
          <p:nvPr/>
        </p:nvSpPr>
        <p:spPr>
          <a:xfrm>
            <a:off x="566928" y="1298448"/>
            <a:ext cx="11064240" cy="274320"/>
          </a:xfrm>
          <a:prstGeom prst="rect">
            <a:avLst/>
          </a:prstGeom>
          <a:noFill/>
          <a:ln/>
        </p:spPr>
        <p:txBody>
          <a:bodyPr wrap="square" lIns="0" tIns="0" rIns="0" bIns="0" rtlCol="0" anchor="ctr"/>
          <a:lstStyle/>
          <a:p>
            <a:pPr marL="0" indent="0">
              <a:buNone/>
            </a:pPr>
            <a:r>
              <a:rPr lang="en-US" sz="1300" dirty="0">
                <a:solidFill>
                  <a:srgbClr val="5F6B78"/>
                </a:solidFill>
                <a:latin typeface="맑은 고딕" pitchFamily="34" charset="0"/>
                <a:ea typeface="맑은 고딕" pitchFamily="34" charset="-122"/>
                <a:cs typeface="맑은 고딕" pitchFamily="34" charset="-120"/>
              </a:rPr>
              <a:t>트리는 조건에 따라 데이터를 반복해서 나누므로 곡선 관계와 변수 간 상호작용을 표현할 수 있다. 깊이를 제한하지 않고 학습해 보았다.</a:t>
            </a:r>
            <a:endParaRPr lang="en-US" sz="13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66928" y="1664208"/>
          <a:ext cx="11064240" cy="658368"/>
        </p:xfrm>
        <a:graphic>
          <a:graphicData uri="http://schemas.openxmlformats.org/drawingml/2006/table">
            <a:tbl>
              <a:tblPr/>
              <a:tblGrid>
                <a:gridCol w="28346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gridCol w="1371600">
                  <a:extLst>
                    <a:ext uri="{9D8B030D-6E8A-4147-A177-3AD203B41FA5}">
                      <a16:colId xmlns:a16="http://schemas.microsoft.com/office/drawing/2014/main" val="20006"/>
                    </a:ext>
                  </a:extLst>
                </a:gridCol>
              </a:tblGrid>
              <a:tr h="329184">
                <a:tc>
                  <a:txBody>
                    <a:bodyPr/>
                    <a:lstStyle/>
                    <a:p>
                      <a:pPr marL="0" indent="0" algn="ctr">
                        <a:buNone/>
                      </a:pPr>
                      <a:r>
                        <a:rPr lang="en-US" sz="1250" b="1" dirty="0">
                          <a:solidFill>
                            <a:srgbClr val="0E3A5C"/>
                          </a:solidFill>
                          <a:latin typeface="맑은 고딕" pitchFamily="34" charset="0"/>
                          <a:ea typeface="맑은 고딕" pitchFamily="34" charset="-122"/>
                          <a:cs typeface="맑은 고딕" pitchFamily="34" charset="-120"/>
                        </a:rPr>
                        <a:t>모델</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250" b="1" dirty="0">
                          <a:solidFill>
                            <a:srgbClr val="0E3A5C"/>
                          </a:solidFill>
                          <a:latin typeface="맑은 고딕" pitchFamily="34" charset="0"/>
                          <a:ea typeface="맑은 고딕" pitchFamily="34" charset="-122"/>
                          <a:cs typeface="맑은 고딕" pitchFamily="34" charset="-120"/>
                        </a:rPr>
                        <a:t>Train MAE</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250" b="1" dirty="0">
                          <a:solidFill>
                            <a:srgbClr val="0E3A5C"/>
                          </a:solidFill>
                          <a:latin typeface="맑은 고딕" pitchFamily="34" charset="0"/>
                          <a:ea typeface="맑은 고딕" pitchFamily="34" charset="-122"/>
                          <a:cs typeface="맑은 고딕" pitchFamily="34" charset="-120"/>
                        </a:rPr>
                        <a:t>Test MAE</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250" b="1" dirty="0">
                          <a:solidFill>
                            <a:srgbClr val="0E3A5C"/>
                          </a:solidFill>
                          <a:latin typeface="맑은 고딕" pitchFamily="34" charset="0"/>
                          <a:ea typeface="맑은 고딕" pitchFamily="34" charset="-122"/>
                          <a:cs typeface="맑은 고딕" pitchFamily="34" charset="-120"/>
                        </a:rPr>
                        <a:t>Train RMSE</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250" b="1" dirty="0">
                          <a:solidFill>
                            <a:srgbClr val="0E3A5C"/>
                          </a:solidFill>
                          <a:latin typeface="맑은 고딕" pitchFamily="34" charset="0"/>
                          <a:ea typeface="맑은 고딕" pitchFamily="34" charset="-122"/>
                          <a:cs typeface="맑은 고딕" pitchFamily="34" charset="-120"/>
                        </a:rPr>
                        <a:t>Test RMSE</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250" b="1" dirty="0">
                          <a:solidFill>
                            <a:srgbClr val="0E3A5C"/>
                          </a:solidFill>
                          <a:latin typeface="맑은 고딕" pitchFamily="34" charset="0"/>
                          <a:ea typeface="맑은 고딕" pitchFamily="34" charset="-122"/>
                          <a:cs typeface="맑은 고딕" pitchFamily="34" charset="-120"/>
                        </a:rPr>
                        <a:t>Train R²</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250" b="1" dirty="0">
                          <a:solidFill>
                            <a:srgbClr val="0E3A5C"/>
                          </a:solidFill>
                          <a:latin typeface="맑은 고딕" pitchFamily="34" charset="0"/>
                          <a:ea typeface="맑은 고딕" pitchFamily="34" charset="-122"/>
                          <a:cs typeface="맑은 고딕" pitchFamily="34" charset="-120"/>
                        </a:rPr>
                        <a:t>Test R²</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extLst>
                  <a:ext uri="{0D108BD9-81ED-4DB2-BD59-A6C34878D82A}">
                    <a16:rowId xmlns:a16="http://schemas.microsoft.com/office/drawing/2014/main" val="10000"/>
                  </a:ext>
                </a:extLst>
              </a:tr>
              <a:tr h="329184">
                <a:tc>
                  <a:txBody>
                    <a:bodyPr/>
                    <a:lstStyle/>
                    <a:p>
                      <a:pPr marL="0" indent="0" algn="l">
                        <a:buNone/>
                      </a:pPr>
                      <a:r>
                        <a:rPr lang="en-US" sz="1250" b="1" dirty="0">
                          <a:solidFill>
                            <a:srgbClr val="0E3A5C"/>
                          </a:solidFill>
                          <a:latin typeface="맑은 고딕" pitchFamily="34" charset="0"/>
                          <a:ea typeface="맑은 고딕" pitchFamily="34" charset="-122"/>
                          <a:cs typeface="맑은 고딕" pitchFamily="34" charset="-120"/>
                        </a:rPr>
                        <a:t>Decision Tree</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tc>
                  <a:txBody>
                    <a:bodyPr/>
                    <a:lstStyle/>
                    <a:p>
                      <a:pPr marL="0" indent="0" algn="r">
                        <a:buNone/>
                      </a:pPr>
                      <a:r>
                        <a:rPr lang="en-US" sz="1250" b="1" dirty="0">
                          <a:solidFill>
                            <a:srgbClr val="0E3A5C"/>
                          </a:solidFill>
                          <a:latin typeface="맑은 고딕" pitchFamily="34" charset="0"/>
                          <a:ea typeface="맑은 고딕" pitchFamily="34" charset="-122"/>
                          <a:cs typeface="맑은 고딕" pitchFamily="34" charset="-120"/>
                        </a:rPr>
                        <a:t>0.0000</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tc>
                  <a:txBody>
                    <a:bodyPr/>
                    <a:lstStyle/>
                    <a:p>
                      <a:pPr marL="0" indent="0" algn="r">
                        <a:buNone/>
                      </a:pPr>
                      <a:r>
                        <a:rPr lang="en-US" sz="1250" b="1" dirty="0">
                          <a:solidFill>
                            <a:srgbClr val="0E3A5C"/>
                          </a:solidFill>
                          <a:latin typeface="맑은 고딕" pitchFamily="34" charset="0"/>
                          <a:ea typeface="맑은 고딕" pitchFamily="34" charset="-122"/>
                          <a:cs typeface="맑은 고딕" pitchFamily="34" charset="-120"/>
                        </a:rPr>
                        <a:t>1.5588</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tc>
                  <a:txBody>
                    <a:bodyPr/>
                    <a:lstStyle/>
                    <a:p>
                      <a:pPr marL="0" indent="0" algn="r">
                        <a:buNone/>
                      </a:pPr>
                      <a:r>
                        <a:rPr lang="en-US" sz="1250" b="1" dirty="0">
                          <a:solidFill>
                            <a:srgbClr val="0E3A5C"/>
                          </a:solidFill>
                          <a:latin typeface="맑은 고딕" pitchFamily="34" charset="0"/>
                          <a:ea typeface="맑은 고딕" pitchFamily="34" charset="-122"/>
                          <a:cs typeface="맑은 고딕" pitchFamily="34" charset="-120"/>
                        </a:rPr>
                        <a:t>0.0000</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tc>
                  <a:txBody>
                    <a:bodyPr/>
                    <a:lstStyle/>
                    <a:p>
                      <a:pPr marL="0" indent="0" algn="r">
                        <a:buNone/>
                      </a:pPr>
                      <a:r>
                        <a:rPr lang="en-US" sz="1250" b="1" dirty="0">
                          <a:solidFill>
                            <a:srgbClr val="0E3A5C"/>
                          </a:solidFill>
                          <a:latin typeface="맑은 고딕" pitchFamily="34" charset="0"/>
                          <a:ea typeface="맑은 고딕" pitchFamily="34" charset="-122"/>
                          <a:cs typeface="맑은 고딕" pitchFamily="34" charset="-120"/>
                        </a:rPr>
                        <a:t>1.9710</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tc>
                  <a:txBody>
                    <a:bodyPr/>
                    <a:lstStyle/>
                    <a:p>
                      <a:pPr marL="0" indent="0" algn="r">
                        <a:buNone/>
                      </a:pPr>
                      <a:r>
                        <a:rPr lang="en-US" sz="1250" b="1" dirty="0">
                          <a:solidFill>
                            <a:srgbClr val="0E3A5C"/>
                          </a:solidFill>
                          <a:latin typeface="맑은 고딕" pitchFamily="34" charset="0"/>
                          <a:ea typeface="맑은 고딕" pitchFamily="34" charset="-122"/>
                          <a:cs typeface="맑은 고딕" pitchFamily="34" charset="-120"/>
                        </a:rPr>
                        <a:t>1.0000</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tc>
                  <a:txBody>
                    <a:bodyPr/>
                    <a:lstStyle/>
                    <a:p>
                      <a:pPr marL="0" indent="0" algn="r">
                        <a:buNone/>
                      </a:pPr>
                      <a:r>
                        <a:rPr lang="en-US" sz="1250" b="1" dirty="0">
                          <a:solidFill>
                            <a:srgbClr val="0E3A5C"/>
                          </a:solidFill>
                          <a:latin typeface="맑은 고딕" pitchFamily="34" charset="0"/>
                          <a:ea typeface="맑은 고딕" pitchFamily="34" charset="-122"/>
                          <a:cs typeface="맑은 고딕" pitchFamily="34" charset="-120"/>
                        </a:rPr>
                        <a:t>0.7125</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extLst>
                  <a:ext uri="{0D108BD9-81ED-4DB2-BD59-A6C34878D82A}">
                    <a16:rowId xmlns:a16="http://schemas.microsoft.com/office/drawing/2014/main" val="10001"/>
                  </a:ext>
                </a:extLst>
              </a:tr>
            </a:tbl>
          </a:graphicData>
        </a:graphic>
      </p:graphicFrame>
      <p:sp>
        <p:nvSpPr>
          <p:cNvPr id="9" name="Shape 6"/>
          <p:cNvSpPr/>
          <p:nvPr/>
        </p:nvSpPr>
        <p:spPr>
          <a:xfrm>
            <a:off x="566928" y="2487168"/>
            <a:ext cx="5394960" cy="1371600"/>
          </a:xfrm>
          <a:prstGeom prst="roundRect">
            <a:avLst>
              <a:gd name="adj" fmla="val 3333"/>
            </a:avLst>
          </a:prstGeom>
          <a:solidFill>
            <a:srgbClr val="FFFFFF"/>
          </a:solidFill>
          <a:ln w="12700">
            <a:solidFill>
              <a:srgbClr val="C0392B"/>
            </a:solidFill>
            <a:prstDash val="solid"/>
          </a:ln>
        </p:spPr>
        <p:txBody>
          <a:bodyPr/>
          <a:lstStyle/>
          <a:p>
            <a:endParaRPr lang="ko-KR" altLang="en-US"/>
          </a:p>
        </p:txBody>
      </p:sp>
      <p:sp>
        <p:nvSpPr>
          <p:cNvPr id="10" name="Text 7"/>
          <p:cNvSpPr txBox="1"/>
          <p:nvPr/>
        </p:nvSpPr>
        <p:spPr>
          <a:xfrm>
            <a:off x="804672" y="2651760"/>
            <a:ext cx="4937760" cy="310896"/>
          </a:xfrm>
          <a:prstGeom prst="rect">
            <a:avLst/>
          </a:prstGeom>
          <a:noFill/>
          <a:ln/>
        </p:spPr>
        <p:txBody>
          <a:bodyPr wrap="square" lIns="0" tIns="0" rIns="0" bIns="0" rtlCol="0" anchor="ctr"/>
          <a:lstStyle/>
          <a:p>
            <a:pPr marL="0" indent="0">
              <a:buNone/>
            </a:pPr>
            <a:r>
              <a:rPr lang="en-US" sz="1600" b="1" dirty="0">
                <a:solidFill>
                  <a:srgbClr val="C0392B"/>
                </a:solidFill>
                <a:latin typeface="맑은 고딕" pitchFamily="34" charset="0"/>
                <a:ea typeface="맑은 고딕" pitchFamily="34" charset="-122"/>
                <a:cs typeface="맑은 고딕" pitchFamily="34" charset="-120"/>
              </a:rPr>
              <a:t>학습 오차가 정확히 0</a:t>
            </a:r>
            <a:endParaRPr lang="en-US" sz="1600" dirty="0"/>
          </a:p>
        </p:txBody>
      </p:sp>
      <p:sp>
        <p:nvSpPr>
          <p:cNvPr id="11" name="Text 8"/>
          <p:cNvSpPr txBox="1"/>
          <p:nvPr/>
        </p:nvSpPr>
        <p:spPr>
          <a:xfrm>
            <a:off x="804672" y="2980944"/>
            <a:ext cx="4937760" cy="731520"/>
          </a:xfrm>
          <a:prstGeom prst="rect">
            <a:avLst/>
          </a:prstGeom>
          <a:noFill/>
          <a:ln/>
        </p:spPr>
        <p:txBody>
          <a:bodyPr wrap="square" lIns="0" tIns="0" rIns="0" bIns="0" rtlCol="0" anchor="ctr"/>
          <a:lstStyle/>
          <a:p>
            <a:pPr marL="0" indent="0">
              <a:lnSpc>
                <a:spcPts val="1800"/>
              </a:lnSpc>
              <a:buNone/>
            </a:pPr>
            <a:r>
              <a:rPr lang="en-US" sz="1250" dirty="0">
                <a:solidFill>
                  <a:srgbClr val="1A1A1A"/>
                </a:solidFill>
                <a:latin typeface="맑은 고딕" pitchFamily="34" charset="0"/>
                <a:ea typeface="맑은 고딕" pitchFamily="34" charset="-122"/>
                <a:cs typeface="맑은 고딕" pitchFamily="34" charset="-120"/>
              </a:rPr>
              <a:t>학습 MAE와 RMSE가 0.0000, 학습 R²가 1.0000이다. 학습 데이터의 정답을 그대로 외웠다는 뜻이다.</a:t>
            </a:r>
            <a:endParaRPr lang="en-US" sz="1250" dirty="0"/>
          </a:p>
        </p:txBody>
      </p:sp>
      <p:sp>
        <p:nvSpPr>
          <p:cNvPr id="12" name="Shape 9"/>
          <p:cNvSpPr/>
          <p:nvPr/>
        </p:nvSpPr>
        <p:spPr>
          <a:xfrm>
            <a:off x="6236208" y="2487168"/>
            <a:ext cx="5394960" cy="1371600"/>
          </a:xfrm>
          <a:prstGeom prst="roundRect">
            <a:avLst>
              <a:gd name="adj" fmla="val 3333"/>
            </a:avLst>
          </a:prstGeom>
          <a:solidFill>
            <a:srgbClr val="D8E8F0"/>
          </a:solidFill>
          <a:ln w="12700">
            <a:solidFill>
              <a:srgbClr val="1C7293"/>
            </a:solidFill>
            <a:prstDash val="solid"/>
          </a:ln>
        </p:spPr>
        <p:txBody>
          <a:bodyPr/>
          <a:lstStyle/>
          <a:p>
            <a:endParaRPr lang="ko-KR" altLang="en-US"/>
          </a:p>
        </p:txBody>
      </p:sp>
      <p:sp>
        <p:nvSpPr>
          <p:cNvPr id="13" name="Text 10"/>
          <p:cNvSpPr txBox="1"/>
          <p:nvPr/>
        </p:nvSpPr>
        <p:spPr>
          <a:xfrm>
            <a:off x="6473952" y="2651760"/>
            <a:ext cx="4937760" cy="310896"/>
          </a:xfrm>
          <a:prstGeom prst="rect">
            <a:avLst/>
          </a:prstGeom>
          <a:noFill/>
          <a:ln/>
        </p:spPr>
        <p:txBody>
          <a:bodyPr wrap="square" lIns="0" tIns="0" rIns="0" bIns="0" rtlCol="0" anchor="ctr"/>
          <a:lstStyle/>
          <a:p>
            <a:pPr marL="0" indent="0">
              <a:buNone/>
            </a:pPr>
            <a:r>
              <a:rPr lang="en-US" sz="1600" b="1" dirty="0">
                <a:solidFill>
                  <a:srgbClr val="0E3A5C"/>
                </a:solidFill>
                <a:latin typeface="맑은 고딕" pitchFamily="34" charset="0"/>
                <a:ea typeface="맑은 고딕" pitchFamily="34" charset="-122"/>
                <a:cs typeface="맑은 고딕" pitchFamily="34" charset="-120"/>
              </a:rPr>
              <a:t>그런데 테스트에서는 0.7125</a:t>
            </a:r>
            <a:endParaRPr lang="en-US" sz="1600" dirty="0"/>
          </a:p>
        </p:txBody>
      </p:sp>
      <p:sp>
        <p:nvSpPr>
          <p:cNvPr id="14" name="Text 11"/>
          <p:cNvSpPr txBox="1"/>
          <p:nvPr/>
        </p:nvSpPr>
        <p:spPr>
          <a:xfrm>
            <a:off x="6473952" y="2980944"/>
            <a:ext cx="4937760" cy="731520"/>
          </a:xfrm>
          <a:prstGeom prst="rect">
            <a:avLst/>
          </a:prstGeom>
          <a:noFill/>
          <a:ln/>
        </p:spPr>
        <p:txBody>
          <a:bodyPr wrap="square" lIns="0" tIns="0" rIns="0" bIns="0" rtlCol="0" anchor="ctr"/>
          <a:lstStyle/>
          <a:p>
            <a:pPr marL="0" indent="0">
              <a:lnSpc>
                <a:spcPts val="1800"/>
              </a:lnSpc>
              <a:buNone/>
            </a:pPr>
            <a:r>
              <a:rPr lang="en-US" sz="1250" dirty="0">
                <a:solidFill>
                  <a:srgbClr val="1A1A1A"/>
                </a:solidFill>
                <a:latin typeface="맑은 고딕" pitchFamily="34" charset="0"/>
                <a:ea typeface="맑은 고딕" pitchFamily="34" charset="-122"/>
                <a:cs typeface="맑은 고딕" pitchFamily="34" charset="-120"/>
              </a:rPr>
              <a:t>학습 R² 1.0000 → 테스트 R² 0.7125. 외운 것은 새 데이터에 통하지 않는다. 전형적인 과적합이다.</a:t>
            </a:r>
            <a:endParaRPr lang="en-US" sz="1250" dirty="0"/>
          </a:p>
        </p:txBody>
      </p:sp>
      <p:sp>
        <p:nvSpPr>
          <p:cNvPr id="15" name="Text 12"/>
          <p:cNvSpPr txBox="1"/>
          <p:nvPr/>
        </p:nvSpPr>
        <p:spPr>
          <a:xfrm>
            <a:off x="566928" y="4041648"/>
            <a:ext cx="5486400" cy="292608"/>
          </a:xfrm>
          <a:prstGeom prst="rect">
            <a:avLst/>
          </a:prstGeom>
          <a:noFill/>
          <a:ln/>
        </p:spPr>
        <p:txBody>
          <a:bodyPr wrap="square" lIns="0" tIns="0" rIns="0" bIns="0" rtlCol="0" anchor="ctr"/>
          <a:lstStyle/>
          <a:p>
            <a:pPr marL="0" indent="0">
              <a:buNone/>
            </a:pPr>
            <a:r>
              <a:rPr lang="en-US" sz="1500" b="1" dirty="0">
                <a:solidFill>
                  <a:srgbClr val="0E3A5C"/>
                </a:solidFill>
                <a:latin typeface="맑은 고딕" pitchFamily="34" charset="0"/>
                <a:ea typeface="맑은 고딕" pitchFamily="34" charset="-122"/>
                <a:cs typeface="맑은 고딕" pitchFamily="34" charset="-120"/>
              </a:rPr>
              <a:t>왜 이렇게 되나</a:t>
            </a:r>
            <a:endParaRPr lang="en-US" sz="1500" dirty="0"/>
          </a:p>
        </p:txBody>
      </p:sp>
      <p:sp>
        <p:nvSpPr>
          <p:cNvPr id="16" name="Text 13"/>
          <p:cNvSpPr txBox="1"/>
          <p:nvPr/>
        </p:nvSpPr>
        <p:spPr>
          <a:xfrm>
            <a:off x="566928" y="4407408"/>
            <a:ext cx="11064240" cy="1097280"/>
          </a:xfrm>
          <a:prstGeom prst="rect">
            <a:avLst/>
          </a:prstGeom>
          <a:noFill/>
          <a:ln/>
        </p:spPr>
        <p:txBody>
          <a:bodyPr wrap="square" lIns="0" tIns="0" rIns="0" bIns="0" rtlCol="0" anchor="ctr"/>
          <a:lstStyle/>
          <a:p>
            <a:pPr marL="342900" indent="-342900">
              <a:lnSpc>
                <a:spcPts val="2100"/>
              </a:lnSpc>
              <a:spcAft>
                <a:spcPts val="600"/>
              </a:spcAft>
              <a:buSzPct val="100000"/>
              <a:buChar char="–"/>
            </a:pPr>
            <a:r>
              <a:rPr lang="en-US" sz="1350" dirty="0">
                <a:solidFill>
                  <a:srgbClr val="1A1A1A"/>
                </a:solidFill>
                <a:latin typeface="맑은 고딕" pitchFamily="34" charset="0"/>
                <a:ea typeface="맑은 고딕" pitchFamily="34" charset="-122"/>
                <a:cs typeface="맑은 고딕" pitchFamily="34" charset="-120"/>
              </a:rPr>
              <a:t>깊이를 제한하지 않으면 트리는 잎마다 데이터를 1개까지 쪼갤 수 있다</a:t>
            </a:r>
            <a:endParaRPr lang="en-US" sz="1350" dirty="0"/>
          </a:p>
          <a:p>
            <a:pPr marL="342900" indent="-342900">
              <a:lnSpc>
                <a:spcPts val="2100"/>
              </a:lnSpc>
              <a:spcAft>
                <a:spcPts val="600"/>
              </a:spcAft>
              <a:buSzPct val="100000"/>
              <a:buChar char="–"/>
            </a:pPr>
            <a:r>
              <a:rPr lang="en-US" sz="1350" dirty="0">
                <a:solidFill>
                  <a:srgbClr val="1A1A1A"/>
                </a:solidFill>
                <a:latin typeface="맑은 고딕" pitchFamily="34" charset="0"/>
                <a:ea typeface="맑은 고딕" pitchFamily="34" charset="-122"/>
                <a:cs typeface="맑은 고딕" pitchFamily="34" charset="-120"/>
              </a:rPr>
              <a:t>그러면 학습 데이터의 정답을 모두 기억하게 되고, 학습 오차는 0이 된다</a:t>
            </a:r>
            <a:endParaRPr lang="en-US" sz="1350" dirty="0"/>
          </a:p>
          <a:p>
            <a:pPr marL="342900" indent="-342900">
              <a:lnSpc>
                <a:spcPts val="2100"/>
              </a:lnSpc>
              <a:spcAft>
                <a:spcPts val="600"/>
              </a:spcAft>
              <a:buSzPct val="100000"/>
              <a:buChar char="–"/>
            </a:pPr>
            <a:r>
              <a:rPr lang="en-US" sz="1350" dirty="0">
                <a:solidFill>
                  <a:srgbClr val="1A1A1A"/>
                </a:solidFill>
                <a:latin typeface="맑은 고딕" pitchFamily="34" charset="0"/>
                <a:ea typeface="맑은 고딕" pitchFamily="34" charset="-122"/>
                <a:cs typeface="맑은 고딕" pitchFamily="34" charset="-120"/>
              </a:rPr>
              <a:t>하지만 그 규칙은 학습 데이터의 잡음까지 학습한 것이라 새 데이터에는 통하지 않는다</a:t>
            </a:r>
            <a:endParaRPr lang="en-US" sz="1350" dirty="0"/>
          </a:p>
        </p:txBody>
      </p:sp>
      <p:sp>
        <p:nvSpPr>
          <p:cNvPr id="17" name="Shape 14"/>
          <p:cNvSpPr/>
          <p:nvPr/>
        </p:nvSpPr>
        <p:spPr>
          <a:xfrm>
            <a:off x="566928" y="5577840"/>
            <a:ext cx="11064240" cy="777240"/>
          </a:xfrm>
          <a:prstGeom prst="roundRect">
            <a:avLst>
              <a:gd name="adj" fmla="val 5882"/>
            </a:avLst>
          </a:prstGeom>
          <a:solidFill>
            <a:srgbClr val="D8E8F0"/>
          </a:solidFill>
          <a:ln w="12700">
            <a:solidFill>
              <a:srgbClr val="1C7293"/>
            </a:solidFill>
            <a:prstDash val="solid"/>
          </a:ln>
        </p:spPr>
        <p:txBody>
          <a:bodyPr/>
          <a:lstStyle/>
          <a:p>
            <a:endParaRPr lang="ko-KR" altLang="en-US"/>
          </a:p>
        </p:txBody>
      </p:sp>
      <p:sp>
        <p:nvSpPr>
          <p:cNvPr id="18" name="Text 15"/>
          <p:cNvSpPr txBox="1"/>
          <p:nvPr/>
        </p:nvSpPr>
        <p:spPr>
          <a:xfrm>
            <a:off x="804672" y="5577840"/>
            <a:ext cx="10588752" cy="777240"/>
          </a:xfrm>
          <a:prstGeom prst="rect">
            <a:avLst/>
          </a:prstGeom>
          <a:noFill/>
          <a:ln/>
        </p:spPr>
        <p:txBody>
          <a:bodyPr wrap="square" lIns="0" tIns="0" rIns="0" bIns="0" rtlCol="0" anchor="ctr"/>
          <a:lstStyle/>
          <a:p>
            <a:pPr marL="0" indent="0">
              <a:lnSpc>
                <a:spcPts val="1900"/>
              </a:lnSpc>
              <a:buNone/>
            </a:pPr>
            <a:r>
              <a:rPr lang="en-US" sz="1350" b="1" dirty="0">
                <a:solidFill>
                  <a:srgbClr val="0E3A5C"/>
                </a:solidFill>
                <a:latin typeface="맑은 고딕" pitchFamily="34" charset="0"/>
                <a:ea typeface="맑은 고딕" pitchFamily="34" charset="-122"/>
                <a:cs typeface="맑은 고딕" pitchFamily="34" charset="-120"/>
              </a:rPr>
              <a:t>다음 조치   </a:t>
            </a:r>
            <a:r>
              <a:rPr lang="en-US" sz="1350" dirty="0">
                <a:solidFill>
                  <a:srgbClr val="1A1A1A"/>
                </a:solidFill>
                <a:latin typeface="맑은 고딕" pitchFamily="34" charset="0"/>
                <a:ea typeface="맑은 고딕" pitchFamily="34" charset="-122"/>
                <a:cs typeface="맑은 고딕" pitchFamily="34" charset="-120"/>
              </a:rPr>
              <a:t>GridSearchCV로 트리의 복잡도를 제어해, 일반화 성능이 회복되는지 확인한다.</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66928" y="365760"/>
            <a:ext cx="457200" cy="457200"/>
          </a:xfrm>
          <a:prstGeom prst="ellipse">
            <a:avLst/>
          </a:prstGeom>
          <a:solidFill>
            <a:srgbClr val="1C7293"/>
          </a:solidFill>
          <a:ln w="12700">
            <a:solidFill>
              <a:srgbClr val="1C7293"/>
            </a:solidFill>
            <a:prstDash val="solid"/>
          </a:ln>
        </p:spPr>
        <p:txBody>
          <a:bodyPr/>
          <a:lstStyle/>
          <a:p>
            <a:endParaRPr lang="ko-KR" altLang="en-US"/>
          </a:p>
        </p:txBody>
      </p:sp>
      <p:sp>
        <p:nvSpPr>
          <p:cNvPr id="3" name="Text 1"/>
          <p:cNvSpPr txBox="1"/>
          <p:nvPr/>
        </p:nvSpPr>
        <p:spPr>
          <a:xfrm>
            <a:off x="566928" y="3657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15</a:t>
            </a:r>
            <a:endParaRPr lang="en-US" sz="1600" dirty="0"/>
          </a:p>
        </p:txBody>
      </p:sp>
      <p:sp>
        <p:nvSpPr>
          <p:cNvPr id="4" name="Text 2"/>
          <p:cNvSpPr txBox="1"/>
          <p:nvPr/>
        </p:nvSpPr>
        <p:spPr>
          <a:xfrm>
            <a:off x="1152144" y="310896"/>
            <a:ext cx="10424160" cy="246888"/>
          </a:xfrm>
          <a:prstGeom prst="rect">
            <a:avLst/>
          </a:prstGeom>
          <a:noFill/>
          <a:ln/>
        </p:spPr>
        <p:txBody>
          <a:bodyPr wrap="square" lIns="0" tIns="0" rIns="0" bIns="0" rtlCol="0" anchor="ctr"/>
          <a:lstStyle/>
          <a:p>
            <a:pPr marL="0" indent="0">
              <a:buNone/>
            </a:pPr>
            <a:r>
              <a:rPr lang="en-US" sz="1150" b="1" kern="0" spc="100" dirty="0">
                <a:solidFill>
                  <a:srgbClr val="1C7293"/>
                </a:solidFill>
                <a:latin typeface="맑은 고딕" pitchFamily="34" charset="0"/>
                <a:ea typeface="맑은 고딕" pitchFamily="34" charset="-122"/>
                <a:cs typeface="맑은 고딕" pitchFamily="34" charset="-120"/>
              </a:rPr>
              <a:t>모델링 · Improve</a:t>
            </a:r>
            <a:endParaRPr lang="en-US" sz="1150" dirty="0"/>
          </a:p>
        </p:txBody>
      </p:sp>
      <p:sp>
        <p:nvSpPr>
          <p:cNvPr id="5" name="Text 3"/>
          <p:cNvSpPr txBox="1"/>
          <p:nvPr/>
        </p:nvSpPr>
        <p:spPr>
          <a:xfrm>
            <a:off x="1152144" y="566928"/>
            <a:ext cx="10469880" cy="530352"/>
          </a:xfrm>
          <a:prstGeom prst="rect">
            <a:avLst/>
          </a:prstGeom>
          <a:noFill/>
          <a:ln/>
        </p:spPr>
        <p:txBody>
          <a:bodyPr wrap="square" lIns="0" tIns="0" rIns="0" bIns="0" rtlCol="0" anchor="ctr"/>
          <a:lstStyle/>
          <a:p>
            <a:pPr marL="0" indent="0">
              <a:buNone/>
            </a:pPr>
            <a:r>
              <a:rPr lang="en-US" sz="2500" b="1" dirty="0">
                <a:solidFill>
                  <a:srgbClr val="0E3A5C"/>
                </a:solidFill>
                <a:latin typeface="맑은 고딕" pitchFamily="34" charset="0"/>
                <a:ea typeface="맑은 고딕" pitchFamily="34" charset="-122"/>
                <a:cs typeface="맑은 고딕" pitchFamily="34" charset="-120"/>
              </a:rPr>
              <a:t>비교 모델 ③ GridSearchCV로 복잡도를 제어한다</a:t>
            </a:r>
            <a:endParaRPr lang="en-US" sz="2500" dirty="0"/>
          </a:p>
        </p:txBody>
      </p:sp>
      <p:sp>
        <p:nvSpPr>
          <p:cNvPr id="6" name="Text 4"/>
          <p:cNvSpPr txBox="1"/>
          <p:nvPr/>
        </p:nvSpPr>
        <p:spPr>
          <a:xfrm>
            <a:off x="8686800" y="6519672"/>
            <a:ext cx="2926080" cy="274320"/>
          </a:xfrm>
          <a:prstGeom prst="rect">
            <a:avLst/>
          </a:prstGeom>
          <a:noFill/>
          <a:ln/>
        </p:spPr>
        <p:txBody>
          <a:bodyPr wrap="square" lIns="0" tIns="0" rIns="0" bIns="0" rtlCol="0" anchor="ctr"/>
          <a:lstStyle/>
          <a:p>
            <a:pPr marL="0" indent="0" algn="r">
              <a:buNone/>
            </a:pPr>
            <a:r>
              <a:rPr lang="en-US" sz="1000" dirty="0">
                <a:solidFill>
                  <a:srgbClr val="A8B4BE"/>
                </a:solidFill>
                <a:latin typeface="맑은 고딕" pitchFamily="34" charset="0"/>
                <a:ea typeface="맑은 고딕" pitchFamily="34" charset="-122"/>
                <a:cs typeface="맑은 고딕" pitchFamily="34" charset="-120"/>
              </a:rPr>
              <a:t>4. 모델링</a:t>
            </a:r>
            <a:endParaRPr lang="en-US" sz="1000" dirty="0"/>
          </a:p>
        </p:txBody>
      </p:sp>
      <p:sp>
        <p:nvSpPr>
          <p:cNvPr id="7" name="Text 5"/>
          <p:cNvSpPr txBox="1"/>
          <p:nvPr/>
        </p:nvSpPr>
        <p:spPr>
          <a:xfrm>
            <a:off x="566928" y="1298448"/>
            <a:ext cx="5486400" cy="292608"/>
          </a:xfrm>
          <a:prstGeom prst="rect">
            <a:avLst/>
          </a:prstGeom>
          <a:noFill/>
          <a:ln/>
        </p:spPr>
        <p:txBody>
          <a:bodyPr wrap="square" lIns="0" tIns="0" rIns="0" bIns="0" rtlCol="0" anchor="ctr"/>
          <a:lstStyle/>
          <a:p>
            <a:pPr marL="0" indent="0">
              <a:buNone/>
            </a:pPr>
            <a:r>
              <a:rPr lang="en-US" sz="1500" b="1" dirty="0">
                <a:solidFill>
                  <a:srgbClr val="0E3A5C"/>
                </a:solidFill>
                <a:latin typeface="맑은 고딕" pitchFamily="34" charset="0"/>
                <a:ea typeface="맑은 고딕" pitchFamily="34" charset="-122"/>
                <a:cs typeface="맑은 고딕" pitchFamily="34" charset="-120"/>
              </a:rPr>
              <a:t>탐색 설정</a:t>
            </a:r>
            <a:endParaRPr lang="en-US" sz="15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5212080" cy="1760220"/>
        </p:xfrm>
        <a:graphic>
          <a:graphicData uri="http://schemas.openxmlformats.org/drawingml/2006/table">
            <a:tbl>
              <a:tblPr/>
              <a:tblGrid>
                <a:gridCol w="228600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246888">
                <a:tc>
                  <a:txBody>
                    <a:bodyPr/>
                    <a:lstStyle/>
                    <a:p>
                      <a:pPr marL="0" indent="0" algn="ctr">
                        <a:buNone/>
                      </a:pPr>
                      <a:r>
                        <a:rPr lang="en-US" sz="1150" b="1" dirty="0">
                          <a:solidFill>
                            <a:srgbClr val="0E3A5C"/>
                          </a:solidFill>
                          <a:latin typeface="맑은 고딕" pitchFamily="34" charset="0"/>
                          <a:ea typeface="맑은 고딕" pitchFamily="34" charset="-122"/>
                          <a:cs typeface="맑은 고딕" pitchFamily="34" charset="-120"/>
                        </a:rPr>
                        <a:t>항목</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150" b="1" dirty="0">
                          <a:solidFill>
                            <a:srgbClr val="0E3A5C"/>
                          </a:solidFill>
                          <a:latin typeface="맑은 고딕" pitchFamily="34" charset="0"/>
                          <a:ea typeface="맑은 고딕" pitchFamily="34" charset="-122"/>
                          <a:cs typeface="맑은 고딕" pitchFamily="34" charset="-120"/>
                        </a:rPr>
                        <a:t>설정값</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extLst>
                  <a:ext uri="{0D108BD9-81ED-4DB2-BD59-A6C34878D82A}">
                    <a16:rowId xmlns:a16="http://schemas.microsoft.com/office/drawing/2014/main" val="10000"/>
                  </a:ext>
                </a:extLst>
              </a:tr>
              <a:tr h="246888">
                <a:tc>
                  <a:txBody>
                    <a:bodyPr/>
                    <a:lstStyle/>
                    <a:p>
                      <a:pPr marL="0" indent="0" algn="l">
                        <a:buNone/>
                      </a:pPr>
                      <a:r>
                        <a:rPr lang="en-US" sz="1150" dirty="0">
                          <a:solidFill>
                            <a:srgbClr val="1A1A1A"/>
                          </a:solidFill>
                          <a:latin typeface="맑은 고딕" pitchFamily="34" charset="0"/>
                          <a:ea typeface="맑은 고딕" pitchFamily="34" charset="-122"/>
                          <a:cs typeface="맑은 고딕" pitchFamily="34" charset="-120"/>
                        </a:rPr>
                        <a:t>max_depth</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1A"/>
                          </a:solidFill>
                          <a:latin typeface="맑은 고딕" pitchFamily="34" charset="0"/>
                          <a:ea typeface="맑은 고딕" pitchFamily="34" charset="-122"/>
                          <a:cs typeface="맑은 고딕" pitchFamily="34" charset="-120"/>
                        </a:rPr>
                        <a:t>[3, 5, 7, 10, None]</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6888">
                <a:tc>
                  <a:txBody>
                    <a:bodyPr/>
                    <a:lstStyle/>
                    <a:p>
                      <a:pPr marL="0" indent="0" algn="l">
                        <a:buNone/>
                      </a:pPr>
                      <a:r>
                        <a:rPr lang="en-US" sz="1150" dirty="0">
                          <a:solidFill>
                            <a:srgbClr val="1A1A1A"/>
                          </a:solidFill>
                          <a:latin typeface="맑은 고딕" pitchFamily="34" charset="0"/>
                          <a:ea typeface="맑은 고딕" pitchFamily="34" charset="-122"/>
                          <a:cs typeface="맑은 고딕" pitchFamily="34" charset="-120"/>
                        </a:rPr>
                        <a:t>min_samples_split</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1A"/>
                          </a:solidFill>
                          <a:latin typeface="맑은 고딕" pitchFamily="34" charset="0"/>
                          <a:ea typeface="맑은 고딕" pitchFamily="34" charset="-122"/>
                          <a:cs typeface="맑은 고딕" pitchFamily="34" charset="-120"/>
                        </a:rPr>
                        <a:t>[2, 5, 10, 20]</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46888">
                <a:tc>
                  <a:txBody>
                    <a:bodyPr/>
                    <a:lstStyle/>
                    <a:p>
                      <a:pPr marL="0" indent="0" algn="l">
                        <a:buNone/>
                      </a:pPr>
                      <a:r>
                        <a:rPr lang="en-US" sz="1150" dirty="0">
                          <a:solidFill>
                            <a:srgbClr val="1A1A1A"/>
                          </a:solidFill>
                          <a:latin typeface="맑은 고딕" pitchFamily="34" charset="0"/>
                          <a:ea typeface="맑은 고딕" pitchFamily="34" charset="-122"/>
                          <a:cs typeface="맑은 고딕" pitchFamily="34" charset="-120"/>
                        </a:rPr>
                        <a:t>min_samples_leaf</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1A"/>
                          </a:solidFill>
                          <a:latin typeface="맑은 고딕" pitchFamily="34" charset="0"/>
                          <a:ea typeface="맑은 고딕" pitchFamily="34" charset="-122"/>
                          <a:cs typeface="맑은 고딕" pitchFamily="34" charset="-120"/>
                        </a:rPr>
                        <a:t>[1, 2, 5, 10]</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46888">
                <a:tc>
                  <a:txBody>
                    <a:bodyPr/>
                    <a:lstStyle/>
                    <a:p>
                      <a:pPr marL="0" indent="0" algn="l">
                        <a:buNone/>
                      </a:pPr>
                      <a:r>
                        <a:rPr lang="en-US" sz="1150" dirty="0">
                          <a:solidFill>
                            <a:srgbClr val="1A1A1A"/>
                          </a:solidFill>
                          <a:latin typeface="맑은 고딕" pitchFamily="34" charset="0"/>
                          <a:ea typeface="맑은 고딕" pitchFamily="34" charset="-122"/>
                          <a:cs typeface="맑은 고딕" pitchFamily="34" charset="-120"/>
                        </a:rPr>
                        <a:t>조합 수</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1A"/>
                          </a:solidFill>
                          <a:latin typeface="맑은 고딕" pitchFamily="34" charset="0"/>
                          <a:ea typeface="맑은 고딕" pitchFamily="34" charset="-122"/>
                          <a:cs typeface="맑은 고딕" pitchFamily="34" charset="-120"/>
                        </a:rPr>
                        <a:t>5 × 4 × 4 = 80개</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46888">
                <a:tc>
                  <a:txBody>
                    <a:bodyPr/>
                    <a:lstStyle/>
                    <a:p>
                      <a:pPr marL="0" indent="0" algn="l">
                        <a:buNone/>
                      </a:pPr>
                      <a:r>
                        <a:rPr lang="en-US" sz="1150" dirty="0">
                          <a:solidFill>
                            <a:srgbClr val="1A1A1A"/>
                          </a:solidFill>
                          <a:latin typeface="맑은 고딕" pitchFamily="34" charset="0"/>
                          <a:ea typeface="맑은 고딕" pitchFamily="34" charset="-122"/>
                          <a:cs typeface="맑은 고딕" pitchFamily="34" charset="-120"/>
                        </a:rPr>
                        <a:t>평가 기준</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1A"/>
                          </a:solidFill>
                          <a:latin typeface="맑은 고딕" pitchFamily="34" charset="0"/>
                          <a:ea typeface="맑은 고딕" pitchFamily="34" charset="-122"/>
                          <a:cs typeface="맑은 고딕" pitchFamily="34" charset="-120"/>
                        </a:rPr>
                        <a:t>neg_mean_squared_error</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46888">
                <a:tc>
                  <a:txBody>
                    <a:bodyPr/>
                    <a:lstStyle/>
                    <a:p>
                      <a:pPr marL="0" indent="0" algn="l">
                        <a:buNone/>
                      </a:pPr>
                      <a:r>
                        <a:rPr lang="en-US" sz="1150" dirty="0">
                          <a:solidFill>
                            <a:srgbClr val="1A1A1A"/>
                          </a:solidFill>
                          <a:latin typeface="맑은 고딕" pitchFamily="34" charset="0"/>
                          <a:ea typeface="맑은 고딕" pitchFamily="34" charset="-122"/>
                          <a:cs typeface="맑은 고딕" pitchFamily="34" charset="-120"/>
                        </a:rPr>
                        <a:t>교차검증</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1A"/>
                          </a:solidFill>
                          <a:latin typeface="맑은 고딕" pitchFamily="34" charset="0"/>
                          <a:ea typeface="맑은 고딕" pitchFamily="34" charset="-122"/>
                          <a:cs typeface="맑은 고딕" pitchFamily="34" charset="-120"/>
                        </a:rPr>
                        <a:t>5-fold (학습 데이터 내부)</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9" name="Shape 6"/>
          <p:cNvSpPr/>
          <p:nvPr/>
        </p:nvSpPr>
        <p:spPr>
          <a:xfrm>
            <a:off x="566928" y="3886200"/>
            <a:ext cx="5394960" cy="1234440"/>
          </a:xfrm>
          <a:prstGeom prst="roundRect">
            <a:avLst>
              <a:gd name="adj" fmla="val 3704"/>
            </a:avLst>
          </a:prstGeom>
          <a:solidFill>
            <a:srgbClr val="D8E8F0"/>
          </a:solidFill>
          <a:ln w="12700">
            <a:solidFill>
              <a:srgbClr val="1C7293"/>
            </a:solidFill>
            <a:prstDash val="solid"/>
          </a:ln>
        </p:spPr>
        <p:txBody>
          <a:bodyPr/>
          <a:lstStyle/>
          <a:p>
            <a:endParaRPr lang="ko-KR" altLang="en-US"/>
          </a:p>
        </p:txBody>
      </p:sp>
      <p:sp>
        <p:nvSpPr>
          <p:cNvPr id="10" name="Text 7"/>
          <p:cNvSpPr txBox="1"/>
          <p:nvPr/>
        </p:nvSpPr>
        <p:spPr>
          <a:xfrm>
            <a:off x="804672" y="4023360"/>
            <a:ext cx="4937760" cy="274320"/>
          </a:xfrm>
          <a:prstGeom prst="rect">
            <a:avLst/>
          </a:prstGeom>
          <a:noFill/>
          <a:ln/>
        </p:spPr>
        <p:txBody>
          <a:bodyPr wrap="square" lIns="0" tIns="0" rIns="0" bIns="0" rtlCol="0" anchor="ctr"/>
          <a:lstStyle/>
          <a:p>
            <a:pPr marL="0" indent="0">
              <a:buNone/>
            </a:pPr>
            <a:r>
              <a:rPr lang="en-US" sz="1350" b="1" dirty="0">
                <a:solidFill>
                  <a:srgbClr val="0E3A5C"/>
                </a:solidFill>
                <a:latin typeface="맑은 고딕" pitchFamily="34" charset="0"/>
                <a:ea typeface="맑은 고딕" pitchFamily="34" charset="-122"/>
                <a:cs typeface="맑은 고딕" pitchFamily="34" charset="-120"/>
              </a:rPr>
              <a:t>선택된 최적 조합</a:t>
            </a:r>
            <a:endParaRPr lang="en-US" sz="1350" dirty="0"/>
          </a:p>
        </p:txBody>
      </p:sp>
      <p:sp>
        <p:nvSpPr>
          <p:cNvPr id="11" name="Text 8"/>
          <p:cNvSpPr txBox="1"/>
          <p:nvPr/>
        </p:nvSpPr>
        <p:spPr>
          <a:xfrm>
            <a:off x="804672" y="4315968"/>
            <a:ext cx="4937760" cy="713232"/>
          </a:xfrm>
          <a:prstGeom prst="rect">
            <a:avLst/>
          </a:prstGeom>
          <a:noFill/>
          <a:ln/>
        </p:spPr>
        <p:txBody>
          <a:bodyPr wrap="square" lIns="0" tIns="0" rIns="0" bIns="0" rtlCol="0" anchor="ctr"/>
          <a:lstStyle/>
          <a:p>
            <a:pPr marL="0" indent="0">
              <a:lnSpc>
                <a:spcPts val="1800"/>
              </a:lnSpc>
              <a:buNone/>
            </a:pPr>
            <a:r>
              <a:rPr lang="en-US" sz="1250" dirty="0">
                <a:solidFill>
                  <a:srgbClr val="1A1A1A"/>
                </a:solidFill>
                <a:latin typeface="맑은 고딕" pitchFamily="34" charset="0"/>
                <a:ea typeface="맑은 고딕" pitchFamily="34" charset="-122"/>
                <a:cs typeface="맑은 고딕" pitchFamily="34" charset="-120"/>
              </a:rPr>
              <a:t>max_depth = None</a:t>
            </a:r>
            <a:endParaRPr lang="en-US" sz="1250" dirty="0"/>
          </a:p>
          <a:p>
            <a:pPr marL="0" indent="0">
              <a:lnSpc>
                <a:spcPts val="1800"/>
              </a:lnSpc>
              <a:buNone/>
            </a:pPr>
            <a:r>
              <a:rPr lang="en-US" sz="1250" dirty="0">
                <a:solidFill>
                  <a:srgbClr val="1A1A1A"/>
                </a:solidFill>
                <a:latin typeface="맑은 고딕" pitchFamily="34" charset="0"/>
                <a:ea typeface="맑은 고딕" pitchFamily="34" charset="-122"/>
                <a:cs typeface="맑은 고딕" pitchFamily="34" charset="-120"/>
              </a:rPr>
              <a:t>min_samples_leaf = 10</a:t>
            </a:r>
            <a:endParaRPr lang="en-US" sz="1250" dirty="0"/>
          </a:p>
          <a:p>
            <a:pPr marL="0" indent="0">
              <a:lnSpc>
                <a:spcPts val="1800"/>
              </a:lnSpc>
              <a:buNone/>
            </a:pPr>
            <a:r>
              <a:rPr lang="en-US" sz="1250" dirty="0">
                <a:solidFill>
                  <a:srgbClr val="1A1A1A"/>
                </a:solidFill>
                <a:latin typeface="맑은 고딕" pitchFamily="34" charset="0"/>
                <a:ea typeface="맑은 고딕" pitchFamily="34" charset="-122"/>
                <a:cs typeface="맑은 고딕" pitchFamily="34" charset="-120"/>
              </a:rPr>
              <a:t>min_samples_split = 2</a:t>
            </a:r>
            <a:endParaRPr lang="en-US" sz="1250" dirty="0"/>
          </a:p>
        </p:txBody>
      </p:sp>
      <p:sp>
        <p:nvSpPr>
          <p:cNvPr id="12" name="Text 9"/>
          <p:cNvSpPr txBox="1"/>
          <p:nvPr/>
        </p:nvSpPr>
        <p:spPr>
          <a:xfrm>
            <a:off x="566928" y="5257800"/>
            <a:ext cx="5394960" cy="292608"/>
          </a:xfrm>
          <a:prstGeom prst="rect">
            <a:avLst/>
          </a:prstGeom>
          <a:noFill/>
          <a:ln/>
        </p:spPr>
        <p:txBody>
          <a:bodyPr wrap="square" lIns="0" tIns="0" rIns="0" bIns="0" rtlCol="0" anchor="ctr"/>
          <a:lstStyle/>
          <a:p>
            <a:pPr marL="0" indent="0">
              <a:buNone/>
            </a:pPr>
            <a:r>
              <a:rPr lang="en-US" sz="1350" b="1" dirty="0">
                <a:solidFill>
                  <a:srgbClr val="1C7293"/>
                </a:solidFill>
                <a:latin typeface="맑은 고딕" pitchFamily="34" charset="0"/>
                <a:ea typeface="맑은 고딕" pitchFamily="34" charset="-122"/>
                <a:cs typeface="맑은 고딕" pitchFamily="34" charset="-120"/>
              </a:rPr>
              <a:t>교차검증 RMSE 1.8888</a:t>
            </a:r>
            <a:endParaRPr lang="en-US" sz="1350" dirty="0"/>
          </a:p>
        </p:txBody>
      </p:sp>
      <p:graphicFrame>
        <p:nvGraphicFramePr>
          <p:cNvPr id="43" name="Table 1"/>
          <p:cNvGraphicFramePr>
            <a:graphicFrameLocks noGrp="1"/>
          </p:cNvGraphicFramePr>
          <p:nvPr>
            <p:extLst>
              <p:ext uri="{D42A27DB-BD31-4B8C-83A1-F6EECF244321}">
                <p14:modId xmlns:p14="http://schemas.microsoft.com/office/powerpoint/2010/main" val="1579011935"/>
              </p:ext>
            </p:extLst>
          </p:nvPr>
        </p:nvGraphicFramePr>
        <p:xfrm>
          <a:off x="6309360" y="1645920"/>
          <a:ext cx="5349240" cy="932688"/>
        </p:xfrm>
        <a:graphic>
          <a:graphicData uri="http://schemas.openxmlformats.org/drawingml/2006/table">
            <a:tbl>
              <a:tblPr/>
              <a:tblGrid>
                <a:gridCol w="20116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310896">
                <a:tc>
                  <a:txBody>
                    <a:bodyPr/>
                    <a:lstStyle/>
                    <a:p>
                      <a:pPr marL="0" indent="0" algn="ctr">
                        <a:buNone/>
                      </a:pPr>
                      <a:r>
                        <a:rPr lang="en-US" sz="1200" b="1" dirty="0">
                          <a:solidFill>
                            <a:srgbClr val="0E3A5C"/>
                          </a:solidFill>
                          <a:latin typeface="맑은 고딕" pitchFamily="34" charset="0"/>
                          <a:ea typeface="맑은 고딕" pitchFamily="34" charset="-122"/>
                          <a:cs typeface="맑은 고딕" pitchFamily="34" charset="-120"/>
                        </a:rPr>
                        <a:t>모델</a:t>
                      </a:r>
                      <a:endParaRPr lang="en-US" sz="120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200" b="1" dirty="0">
                          <a:solidFill>
                            <a:srgbClr val="0E3A5C"/>
                          </a:solidFill>
                          <a:latin typeface="맑은 고딕" pitchFamily="34" charset="0"/>
                          <a:ea typeface="맑은 고딕" pitchFamily="34" charset="-122"/>
                          <a:cs typeface="맑은 고딕" pitchFamily="34" charset="-120"/>
                        </a:rPr>
                        <a:t>Train R²</a:t>
                      </a:r>
                      <a:endParaRPr lang="en-US" sz="120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200" b="1" dirty="0">
                          <a:solidFill>
                            <a:srgbClr val="0E3A5C"/>
                          </a:solidFill>
                          <a:latin typeface="맑은 고딕" pitchFamily="34" charset="0"/>
                          <a:ea typeface="맑은 고딕" pitchFamily="34" charset="-122"/>
                          <a:cs typeface="맑은 고딕" pitchFamily="34" charset="-120"/>
                        </a:rPr>
                        <a:t>Test R²</a:t>
                      </a:r>
                      <a:endParaRPr lang="en-US" sz="120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200" b="1" dirty="0">
                          <a:solidFill>
                            <a:srgbClr val="0E3A5C"/>
                          </a:solidFill>
                          <a:latin typeface="맑은 고딕" pitchFamily="34" charset="0"/>
                          <a:ea typeface="맑은 고딕" pitchFamily="34" charset="-122"/>
                          <a:cs typeface="맑은 고딕" pitchFamily="34" charset="-120"/>
                        </a:rPr>
                        <a:t>Test RMSE</a:t>
                      </a:r>
                      <a:endParaRPr lang="en-US" sz="120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extLst>
                  <a:ext uri="{0D108BD9-81ED-4DB2-BD59-A6C34878D82A}">
                    <a16:rowId xmlns:a16="http://schemas.microsoft.com/office/drawing/2014/main" val="10000"/>
                  </a:ext>
                </a:extLst>
              </a:tr>
              <a:tr h="310896">
                <a:tc>
                  <a:txBody>
                    <a:bodyPr/>
                    <a:lstStyle/>
                    <a:p>
                      <a:pPr marL="0" indent="0" algn="l">
                        <a:buNone/>
                      </a:pPr>
                      <a:r>
                        <a:rPr lang="en-US" sz="1200" dirty="0">
                          <a:solidFill>
                            <a:srgbClr val="1A1A1A"/>
                          </a:solidFill>
                          <a:latin typeface="맑은 고딕" pitchFamily="34" charset="0"/>
                          <a:ea typeface="맑은 고딕" pitchFamily="34" charset="-122"/>
                          <a:cs typeface="맑은 고딕" pitchFamily="34" charset="-120"/>
                        </a:rPr>
                        <a:t>기본 트리</a:t>
                      </a:r>
                      <a:endParaRPr lang="en-US" sz="120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00" dirty="0">
                          <a:solidFill>
                            <a:srgbClr val="1A1A1A"/>
                          </a:solidFill>
                          <a:latin typeface="맑은 고딕" pitchFamily="34" charset="0"/>
                          <a:ea typeface="맑은 고딕" pitchFamily="34" charset="-122"/>
                          <a:cs typeface="맑은 고딕" pitchFamily="34" charset="-120"/>
                        </a:rPr>
                        <a:t>1.0000</a:t>
                      </a:r>
                      <a:endParaRPr lang="en-US" sz="120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00" dirty="0">
                          <a:solidFill>
                            <a:srgbClr val="1A1A1A"/>
                          </a:solidFill>
                          <a:latin typeface="맑은 고딕" pitchFamily="34" charset="0"/>
                          <a:ea typeface="맑은 고딕" pitchFamily="34" charset="-122"/>
                          <a:cs typeface="맑은 고딕" pitchFamily="34" charset="-120"/>
                        </a:rPr>
                        <a:t>0.7125</a:t>
                      </a:r>
                      <a:endParaRPr lang="en-US" sz="120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00" dirty="0">
                          <a:solidFill>
                            <a:srgbClr val="1A1A1A"/>
                          </a:solidFill>
                          <a:latin typeface="맑은 고딕" pitchFamily="34" charset="0"/>
                          <a:ea typeface="맑은 고딕" pitchFamily="34" charset="-122"/>
                          <a:cs typeface="맑은 고딕" pitchFamily="34" charset="-120"/>
                        </a:rPr>
                        <a:t>1.9710</a:t>
                      </a:r>
                      <a:endParaRPr lang="en-US" sz="120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lgn="l">
                        <a:buNone/>
                      </a:pPr>
                      <a:r>
                        <a:rPr lang="en-US" sz="1200" b="1" dirty="0">
                          <a:solidFill>
                            <a:srgbClr val="0E3A5C"/>
                          </a:solidFill>
                          <a:latin typeface="맑은 고딕" pitchFamily="34" charset="0"/>
                          <a:ea typeface="맑은 고딕" pitchFamily="34" charset="-122"/>
                          <a:cs typeface="맑은 고딕" pitchFamily="34" charset="-120"/>
                        </a:rPr>
                        <a:t>튜닝 트리</a:t>
                      </a:r>
                      <a:endParaRPr lang="en-US" sz="120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tc>
                  <a:txBody>
                    <a:bodyPr/>
                    <a:lstStyle/>
                    <a:p>
                      <a:pPr marL="0" indent="0" algn="r">
                        <a:buNone/>
                      </a:pPr>
                      <a:r>
                        <a:rPr lang="en-US" sz="1200" b="1" dirty="0">
                          <a:solidFill>
                            <a:srgbClr val="0E3A5C"/>
                          </a:solidFill>
                          <a:latin typeface="맑은 고딕" pitchFamily="34" charset="0"/>
                          <a:ea typeface="맑은 고딕" pitchFamily="34" charset="-122"/>
                          <a:cs typeface="맑은 고딕" pitchFamily="34" charset="-120"/>
                        </a:rPr>
                        <a:t>0.8956</a:t>
                      </a:r>
                      <a:endParaRPr lang="en-US" sz="120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tc>
                  <a:txBody>
                    <a:bodyPr/>
                    <a:lstStyle/>
                    <a:p>
                      <a:pPr marL="0" indent="0" algn="r">
                        <a:buNone/>
                      </a:pPr>
                      <a:r>
                        <a:rPr lang="en-US" sz="1200" b="1" dirty="0">
                          <a:solidFill>
                            <a:srgbClr val="0E3A5C"/>
                          </a:solidFill>
                          <a:latin typeface="맑은 고딕" pitchFamily="34" charset="0"/>
                          <a:ea typeface="맑은 고딕" pitchFamily="34" charset="-122"/>
                          <a:cs typeface="맑은 고딕" pitchFamily="34" charset="-120"/>
                        </a:rPr>
                        <a:t>0.7585</a:t>
                      </a:r>
                      <a:endParaRPr lang="en-US" sz="120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tc>
                  <a:txBody>
                    <a:bodyPr/>
                    <a:lstStyle/>
                    <a:p>
                      <a:pPr marL="0" indent="0" algn="r">
                        <a:buNone/>
                      </a:pPr>
                      <a:r>
                        <a:rPr lang="en-US" sz="1200" b="1" dirty="0">
                          <a:solidFill>
                            <a:srgbClr val="0E3A5C"/>
                          </a:solidFill>
                          <a:latin typeface="맑은 고딕" pitchFamily="34" charset="0"/>
                          <a:ea typeface="맑은 고딕" pitchFamily="34" charset="-122"/>
                          <a:cs typeface="맑은 고딕" pitchFamily="34" charset="-120"/>
                        </a:rPr>
                        <a:t>1.8064</a:t>
                      </a:r>
                      <a:endParaRPr lang="en-US" sz="120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extLst>
                  <a:ext uri="{0D108BD9-81ED-4DB2-BD59-A6C34878D82A}">
                    <a16:rowId xmlns:a16="http://schemas.microsoft.com/office/drawing/2014/main" val="10002"/>
                  </a:ext>
                </a:extLst>
              </a:tr>
            </a:tbl>
          </a:graphicData>
        </a:graphic>
      </p:graphicFrame>
      <p:sp>
        <p:nvSpPr>
          <p:cNvPr id="14" name="Shape 10"/>
          <p:cNvSpPr/>
          <p:nvPr/>
        </p:nvSpPr>
        <p:spPr>
          <a:xfrm>
            <a:off x="6309360" y="2834640"/>
            <a:ext cx="5321808" cy="1463040"/>
          </a:xfrm>
          <a:prstGeom prst="roundRect">
            <a:avLst>
              <a:gd name="adj" fmla="val 3125"/>
            </a:avLst>
          </a:prstGeom>
          <a:solidFill>
            <a:srgbClr val="D8E8F0"/>
          </a:solidFill>
          <a:ln w="12700">
            <a:solidFill>
              <a:srgbClr val="1C7293"/>
            </a:solidFill>
            <a:prstDash val="solid"/>
          </a:ln>
        </p:spPr>
        <p:txBody>
          <a:bodyPr/>
          <a:lstStyle/>
          <a:p>
            <a:endParaRPr lang="ko-KR" altLang="en-US"/>
          </a:p>
        </p:txBody>
      </p:sp>
      <p:sp>
        <p:nvSpPr>
          <p:cNvPr id="15" name="Text 11"/>
          <p:cNvSpPr txBox="1"/>
          <p:nvPr/>
        </p:nvSpPr>
        <p:spPr>
          <a:xfrm>
            <a:off x="6547104" y="2834640"/>
            <a:ext cx="4846320" cy="1463040"/>
          </a:xfrm>
          <a:prstGeom prst="rect">
            <a:avLst/>
          </a:prstGeom>
          <a:noFill/>
          <a:ln/>
        </p:spPr>
        <p:txBody>
          <a:bodyPr wrap="square" lIns="0" tIns="0" rIns="0" bIns="0" rtlCol="0" anchor="ctr"/>
          <a:lstStyle/>
          <a:p>
            <a:pPr marL="0" indent="0">
              <a:lnSpc>
                <a:spcPts val="1900"/>
              </a:lnSpc>
              <a:buNone/>
            </a:pPr>
            <a:r>
              <a:rPr lang="en-US" sz="1250" b="1" dirty="0">
                <a:solidFill>
                  <a:srgbClr val="0E3A5C"/>
                </a:solidFill>
                <a:latin typeface="맑은 고딕" pitchFamily="34" charset="0"/>
                <a:ea typeface="맑은 고딕" pitchFamily="34" charset="-122"/>
                <a:cs typeface="맑은 고딕" pitchFamily="34" charset="-120"/>
              </a:rPr>
              <a:t>복잡도 제어의 효과   </a:t>
            </a:r>
            <a:r>
              <a:rPr lang="en-US" sz="1250" dirty="0">
                <a:solidFill>
                  <a:srgbClr val="1A1A1A"/>
                </a:solidFill>
                <a:latin typeface="맑은 고딕" pitchFamily="34" charset="0"/>
                <a:ea typeface="맑은 고딕" pitchFamily="34" charset="-122"/>
                <a:cs typeface="맑은 고딕" pitchFamily="34" charset="-120"/>
              </a:rPr>
              <a:t>min_samples_leaf=10을 적용하자 학습 R²가 1.0000에서 0.8956으로 내려오면서, 테스트 R²는 0.7125에서 0.7585로 올라갔다.</a:t>
            </a:r>
            <a:endParaRPr lang="en-US" sz="1250" dirty="0"/>
          </a:p>
        </p:txBody>
      </p:sp>
      <p:sp>
        <p:nvSpPr>
          <p:cNvPr id="16" name="Shape 12"/>
          <p:cNvSpPr/>
          <p:nvPr/>
        </p:nvSpPr>
        <p:spPr>
          <a:xfrm>
            <a:off x="6309360" y="4443984"/>
            <a:ext cx="5321808" cy="1371600"/>
          </a:xfrm>
          <a:prstGeom prst="roundRect">
            <a:avLst>
              <a:gd name="adj" fmla="val 3333"/>
            </a:avLst>
          </a:prstGeom>
          <a:solidFill>
            <a:srgbClr val="FFFFFF"/>
          </a:solidFill>
          <a:ln w="12700">
            <a:solidFill>
              <a:srgbClr val="D8E8F0"/>
            </a:solidFill>
            <a:prstDash val="solid"/>
          </a:ln>
        </p:spPr>
        <p:txBody>
          <a:bodyPr/>
          <a:lstStyle/>
          <a:p>
            <a:endParaRPr lang="ko-KR" altLang="en-US"/>
          </a:p>
        </p:txBody>
      </p:sp>
      <p:sp>
        <p:nvSpPr>
          <p:cNvPr id="17" name="Text 13"/>
          <p:cNvSpPr txBox="1"/>
          <p:nvPr/>
        </p:nvSpPr>
        <p:spPr>
          <a:xfrm>
            <a:off x="6547104" y="4443984"/>
            <a:ext cx="4846320" cy="1371600"/>
          </a:xfrm>
          <a:prstGeom prst="rect">
            <a:avLst/>
          </a:prstGeom>
          <a:noFill/>
          <a:ln/>
        </p:spPr>
        <p:txBody>
          <a:bodyPr wrap="square" lIns="0" tIns="0" rIns="0" bIns="0" rtlCol="0" anchor="ctr"/>
          <a:lstStyle/>
          <a:p>
            <a:pPr marL="0" indent="0">
              <a:lnSpc>
                <a:spcPts val="1900"/>
              </a:lnSpc>
              <a:buNone/>
            </a:pPr>
            <a:r>
              <a:rPr lang="en-US" sz="1250" b="1" dirty="0">
                <a:solidFill>
                  <a:srgbClr val="0E3A5C"/>
                </a:solidFill>
                <a:latin typeface="맑은 고딕" pitchFamily="34" charset="0"/>
                <a:ea typeface="맑은 고딕" pitchFamily="34" charset="-122"/>
                <a:cs typeface="맑은 고딕" pitchFamily="34" charset="-120"/>
              </a:rPr>
              <a:t>그래도 부족하다   </a:t>
            </a:r>
            <a:r>
              <a:rPr lang="en-US" sz="1250" dirty="0">
                <a:solidFill>
                  <a:srgbClr val="1A1A1A"/>
                </a:solidFill>
                <a:latin typeface="맑은 고딕" pitchFamily="34" charset="0"/>
                <a:ea typeface="맑은 고딕" pitchFamily="34" charset="-122"/>
                <a:cs typeface="맑은 고딕" pitchFamily="34" charset="-120"/>
              </a:rPr>
              <a:t>테스트 RMSE 1.8064는 기준 선형회귀의 1.0093보다 여전히 크게 나쁘다.</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566928" y="365760"/>
            <a:ext cx="457200" cy="457200"/>
          </a:xfrm>
          <a:prstGeom prst="ellipse">
            <a:avLst/>
          </a:prstGeom>
          <a:solidFill>
            <a:srgbClr val="1C7293"/>
          </a:solidFill>
          <a:ln w="12700">
            <a:solidFill>
              <a:srgbClr val="1C7293"/>
            </a:solidFill>
            <a:prstDash val="solid"/>
          </a:ln>
        </p:spPr>
        <p:txBody>
          <a:bodyPr/>
          <a:lstStyle/>
          <a:p>
            <a:endParaRPr lang="ko-KR" altLang="en-US"/>
          </a:p>
        </p:txBody>
      </p:sp>
      <p:sp>
        <p:nvSpPr>
          <p:cNvPr id="3" name="Text 1"/>
          <p:cNvSpPr txBox="1"/>
          <p:nvPr/>
        </p:nvSpPr>
        <p:spPr>
          <a:xfrm>
            <a:off x="566928" y="3657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16</a:t>
            </a:r>
            <a:endParaRPr lang="en-US" sz="1600" dirty="0"/>
          </a:p>
        </p:txBody>
      </p:sp>
      <p:sp>
        <p:nvSpPr>
          <p:cNvPr id="4" name="Text 2"/>
          <p:cNvSpPr txBox="1"/>
          <p:nvPr/>
        </p:nvSpPr>
        <p:spPr>
          <a:xfrm>
            <a:off x="1152144" y="310896"/>
            <a:ext cx="10424160" cy="246888"/>
          </a:xfrm>
          <a:prstGeom prst="rect">
            <a:avLst/>
          </a:prstGeom>
          <a:noFill/>
          <a:ln/>
        </p:spPr>
        <p:txBody>
          <a:bodyPr wrap="square" lIns="0" tIns="0" rIns="0" bIns="0" rtlCol="0" anchor="ctr"/>
          <a:lstStyle/>
          <a:p>
            <a:pPr marL="0" indent="0">
              <a:buNone/>
            </a:pPr>
            <a:r>
              <a:rPr lang="en-US" sz="1150" b="1" kern="0" spc="100" dirty="0">
                <a:solidFill>
                  <a:srgbClr val="1C7293"/>
                </a:solidFill>
                <a:latin typeface="맑은 고딕" pitchFamily="34" charset="0"/>
                <a:ea typeface="맑은 고딕" pitchFamily="34" charset="-122"/>
                <a:cs typeface="맑은 고딕" pitchFamily="34" charset="-120"/>
              </a:rPr>
              <a:t>모델링 · 결과 정리</a:t>
            </a:r>
            <a:endParaRPr lang="en-US" sz="1150" dirty="0"/>
          </a:p>
        </p:txBody>
      </p:sp>
      <p:sp>
        <p:nvSpPr>
          <p:cNvPr id="5" name="Text 3"/>
          <p:cNvSpPr txBox="1"/>
          <p:nvPr/>
        </p:nvSpPr>
        <p:spPr>
          <a:xfrm>
            <a:off x="1152144" y="566928"/>
            <a:ext cx="10469880" cy="530352"/>
          </a:xfrm>
          <a:prstGeom prst="rect">
            <a:avLst/>
          </a:prstGeom>
          <a:noFill/>
          <a:ln/>
        </p:spPr>
        <p:txBody>
          <a:bodyPr wrap="square" lIns="0" tIns="0" rIns="0" bIns="0" rtlCol="0" anchor="ctr"/>
          <a:lstStyle/>
          <a:p>
            <a:pPr marL="0" indent="0">
              <a:buNone/>
            </a:pPr>
            <a:r>
              <a:rPr lang="en-US" sz="2500" b="1" dirty="0">
                <a:solidFill>
                  <a:srgbClr val="0E3A5C"/>
                </a:solidFill>
                <a:latin typeface="맑은 고딕" pitchFamily="34" charset="0"/>
                <a:ea typeface="맑은 고딕" pitchFamily="34" charset="-122"/>
                <a:cs typeface="맑은 고딕" pitchFamily="34" charset="-120"/>
              </a:rPr>
              <a:t>1차 모델 성능 비교</a:t>
            </a:r>
            <a:endParaRPr lang="en-US" sz="2500" dirty="0"/>
          </a:p>
        </p:txBody>
      </p:sp>
      <p:sp>
        <p:nvSpPr>
          <p:cNvPr id="6" name="Text 4"/>
          <p:cNvSpPr txBox="1"/>
          <p:nvPr/>
        </p:nvSpPr>
        <p:spPr>
          <a:xfrm>
            <a:off x="8686800" y="6519672"/>
            <a:ext cx="2926080" cy="274320"/>
          </a:xfrm>
          <a:prstGeom prst="rect">
            <a:avLst/>
          </a:prstGeom>
          <a:noFill/>
          <a:ln/>
        </p:spPr>
        <p:txBody>
          <a:bodyPr wrap="square" lIns="0" tIns="0" rIns="0" bIns="0" rtlCol="0" anchor="ctr"/>
          <a:lstStyle/>
          <a:p>
            <a:pPr marL="0" indent="0" algn="r">
              <a:buNone/>
            </a:pPr>
            <a:r>
              <a:rPr lang="en-US" sz="1000" dirty="0">
                <a:solidFill>
                  <a:srgbClr val="A8B4BE"/>
                </a:solidFill>
                <a:latin typeface="맑은 고딕" pitchFamily="34" charset="0"/>
                <a:ea typeface="맑은 고딕" pitchFamily="34" charset="-122"/>
                <a:cs typeface="맑은 고딕" pitchFamily="34" charset="-120"/>
              </a:rPr>
              <a:t>4. 모델링</a:t>
            </a:r>
            <a:endParaRPr lang="en-US" sz="1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66928" y="1325880"/>
          <a:ext cx="11064240" cy="1270000"/>
        </p:xfrm>
        <a:graphic>
          <a:graphicData uri="http://schemas.openxmlformats.org/drawingml/2006/table">
            <a:tbl>
              <a:tblPr/>
              <a:tblGrid>
                <a:gridCol w="28346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gridCol w="1371600">
                  <a:extLst>
                    <a:ext uri="{9D8B030D-6E8A-4147-A177-3AD203B41FA5}">
                      <a16:colId xmlns:a16="http://schemas.microsoft.com/office/drawing/2014/main" val="20006"/>
                    </a:ext>
                  </a:extLst>
                </a:gridCol>
              </a:tblGrid>
              <a:tr h="310896">
                <a:tc>
                  <a:txBody>
                    <a:bodyPr/>
                    <a:lstStyle/>
                    <a:p>
                      <a:pPr marL="0" indent="0" algn="ctr">
                        <a:buNone/>
                      </a:pPr>
                      <a:r>
                        <a:rPr lang="en-US" sz="1250" b="1" dirty="0">
                          <a:solidFill>
                            <a:srgbClr val="0E3A5C"/>
                          </a:solidFill>
                          <a:latin typeface="맑은 고딕" pitchFamily="34" charset="0"/>
                          <a:ea typeface="맑은 고딕" pitchFamily="34" charset="-122"/>
                          <a:cs typeface="맑은 고딕" pitchFamily="34" charset="-120"/>
                        </a:rPr>
                        <a:t>모델</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250" b="1" dirty="0">
                          <a:solidFill>
                            <a:srgbClr val="0E3A5C"/>
                          </a:solidFill>
                          <a:latin typeface="맑은 고딕" pitchFamily="34" charset="0"/>
                          <a:ea typeface="맑은 고딕" pitchFamily="34" charset="-122"/>
                          <a:cs typeface="맑은 고딕" pitchFamily="34" charset="-120"/>
                        </a:rPr>
                        <a:t>Train MAE</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250" b="1" dirty="0">
                          <a:solidFill>
                            <a:srgbClr val="0E3A5C"/>
                          </a:solidFill>
                          <a:latin typeface="맑은 고딕" pitchFamily="34" charset="0"/>
                          <a:ea typeface="맑은 고딕" pitchFamily="34" charset="-122"/>
                          <a:cs typeface="맑은 고딕" pitchFamily="34" charset="-120"/>
                        </a:rPr>
                        <a:t>Test MAE</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250" b="1" dirty="0">
                          <a:solidFill>
                            <a:srgbClr val="0E3A5C"/>
                          </a:solidFill>
                          <a:latin typeface="맑은 고딕" pitchFamily="34" charset="0"/>
                          <a:ea typeface="맑은 고딕" pitchFamily="34" charset="-122"/>
                          <a:cs typeface="맑은 고딕" pitchFamily="34" charset="-120"/>
                        </a:rPr>
                        <a:t>Train RMSE</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250" b="1" dirty="0">
                          <a:solidFill>
                            <a:srgbClr val="0E3A5C"/>
                          </a:solidFill>
                          <a:latin typeface="맑은 고딕" pitchFamily="34" charset="0"/>
                          <a:ea typeface="맑은 고딕" pitchFamily="34" charset="-122"/>
                          <a:cs typeface="맑은 고딕" pitchFamily="34" charset="-120"/>
                        </a:rPr>
                        <a:t>Test RMSE</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250" b="1" dirty="0">
                          <a:solidFill>
                            <a:srgbClr val="0E3A5C"/>
                          </a:solidFill>
                          <a:latin typeface="맑은 고딕" pitchFamily="34" charset="0"/>
                          <a:ea typeface="맑은 고딕" pitchFamily="34" charset="-122"/>
                          <a:cs typeface="맑은 고딕" pitchFamily="34" charset="-120"/>
                        </a:rPr>
                        <a:t>Train R²</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250" b="1" dirty="0">
                          <a:solidFill>
                            <a:srgbClr val="0E3A5C"/>
                          </a:solidFill>
                          <a:latin typeface="맑은 고딕" pitchFamily="34" charset="0"/>
                          <a:ea typeface="맑은 고딕" pitchFamily="34" charset="-122"/>
                          <a:cs typeface="맑은 고딕" pitchFamily="34" charset="-120"/>
                        </a:rPr>
                        <a:t>Test R²</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extLst>
                  <a:ext uri="{0D108BD9-81ED-4DB2-BD59-A6C34878D82A}">
                    <a16:rowId xmlns:a16="http://schemas.microsoft.com/office/drawing/2014/main" val="10000"/>
                  </a:ext>
                </a:extLst>
              </a:tr>
              <a:tr h="310896">
                <a:tc>
                  <a:txBody>
                    <a:bodyPr/>
                    <a:lstStyle/>
                    <a:p>
                      <a:pPr marL="0" indent="0" algn="l">
                        <a:buNone/>
                      </a:pPr>
                      <a:r>
                        <a:rPr lang="en-US" sz="1250" b="1" dirty="0">
                          <a:solidFill>
                            <a:srgbClr val="0E3A5C"/>
                          </a:solidFill>
                          <a:latin typeface="맑은 고딕" pitchFamily="34" charset="0"/>
                          <a:ea typeface="맑은 고딕" pitchFamily="34" charset="-122"/>
                          <a:cs typeface="맑은 고딕" pitchFamily="34" charset="-120"/>
                        </a:rPr>
                        <a:t>Linear Regression</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tc>
                  <a:txBody>
                    <a:bodyPr/>
                    <a:lstStyle/>
                    <a:p>
                      <a:pPr marL="0" indent="0" algn="r">
                        <a:buNone/>
                      </a:pPr>
                      <a:r>
                        <a:rPr lang="en-US" sz="1250" b="1" dirty="0">
                          <a:solidFill>
                            <a:srgbClr val="0E3A5C"/>
                          </a:solidFill>
                          <a:latin typeface="맑은 고딕" pitchFamily="34" charset="0"/>
                          <a:ea typeface="맑은 고딕" pitchFamily="34" charset="-122"/>
                          <a:cs typeface="맑은 고딕" pitchFamily="34" charset="-120"/>
                        </a:rPr>
                        <a:t>0.8052</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tc>
                  <a:txBody>
                    <a:bodyPr/>
                    <a:lstStyle/>
                    <a:p>
                      <a:pPr marL="0" indent="0" algn="r">
                        <a:buNone/>
                      </a:pPr>
                      <a:r>
                        <a:rPr lang="en-US" sz="1250" b="1" dirty="0">
                          <a:solidFill>
                            <a:srgbClr val="0E3A5C"/>
                          </a:solidFill>
                          <a:latin typeface="맑은 고딕" pitchFamily="34" charset="0"/>
                          <a:ea typeface="맑은 고딕" pitchFamily="34" charset="-122"/>
                          <a:cs typeface="맑은 고딕" pitchFamily="34" charset="-120"/>
                        </a:rPr>
                        <a:t>0.8107</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tc>
                  <a:txBody>
                    <a:bodyPr/>
                    <a:lstStyle/>
                    <a:p>
                      <a:pPr marL="0" indent="0" algn="r">
                        <a:buNone/>
                      </a:pPr>
                      <a:r>
                        <a:rPr lang="en-US" sz="1250" b="1" dirty="0">
                          <a:solidFill>
                            <a:srgbClr val="0E3A5C"/>
                          </a:solidFill>
                          <a:latin typeface="맑은 고딕" pitchFamily="34" charset="0"/>
                          <a:ea typeface="맑은 고딕" pitchFamily="34" charset="-122"/>
                          <a:cs typeface="맑은 고딕" pitchFamily="34" charset="-120"/>
                        </a:rPr>
                        <a:t>1.0031</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tc>
                  <a:txBody>
                    <a:bodyPr/>
                    <a:lstStyle/>
                    <a:p>
                      <a:pPr marL="0" indent="0" algn="r">
                        <a:buNone/>
                      </a:pPr>
                      <a:r>
                        <a:rPr lang="en-US" sz="1250" b="1" dirty="0">
                          <a:solidFill>
                            <a:srgbClr val="0E3A5C"/>
                          </a:solidFill>
                          <a:latin typeface="맑은 고딕" pitchFamily="34" charset="0"/>
                          <a:ea typeface="맑은 고딕" pitchFamily="34" charset="-122"/>
                          <a:cs typeface="맑은 고딕" pitchFamily="34" charset="-120"/>
                        </a:rPr>
                        <a:t>1.0093</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tc>
                  <a:txBody>
                    <a:bodyPr/>
                    <a:lstStyle/>
                    <a:p>
                      <a:pPr marL="0" indent="0" algn="r">
                        <a:buNone/>
                      </a:pPr>
                      <a:r>
                        <a:rPr lang="en-US" sz="1250" b="1" dirty="0">
                          <a:solidFill>
                            <a:srgbClr val="0E3A5C"/>
                          </a:solidFill>
                          <a:latin typeface="맑은 고딕" pitchFamily="34" charset="0"/>
                          <a:ea typeface="맑은 고딕" pitchFamily="34" charset="-122"/>
                          <a:cs typeface="맑은 고딕" pitchFamily="34" charset="-120"/>
                        </a:rPr>
                        <a:t>0.9285</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tc>
                  <a:txBody>
                    <a:bodyPr/>
                    <a:lstStyle/>
                    <a:p>
                      <a:pPr marL="0" indent="0" algn="r">
                        <a:buNone/>
                      </a:pPr>
                      <a:r>
                        <a:rPr lang="en-US" sz="1250" b="1" dirty="0">
                          <a:solidFill>
                            <a:srgbClr val="0E3A5C"/>
                          </a:solidFill>
                          <a:latin typeface="맑은 고딕" pitchFamily="34" charset="0"/>
                          <a:ea typeface="맑은 고딕" pitchFamily="34" charset="-122"/>
                          <a:cs typeface="맑은 고딕" pitchFamily="34" charset="-120"/>
                        </a:rPr>
                        <a:t>0.9246</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extLst>
                  <a:ext uri="{0D108BD9-81ED-4DB2-BD59-A6C34878D82A}">
                    <a16:rowId xmlns:a16="http://schemas.microsoft.com/office/drawing/2014/main" val="10001"/>
                  </a:ext>
                </a:extLst>
              </a:tr>
              <a:tr h="310896">
                <a:tc>
                  <a:txBody>
                    <a:bodyPr/>
                    <a:lstStyle/>
                    <a:p>
                      <a:pPr marL="0" indent="0" algn="l">
                        <a:buNone/>
                      </a:pPr>
                      <a:r>
                        <a:rPr lang="en-US" sz="1250" dirty="0">
                          <a:solidFill>
                            <a:srgbClr val="1A1A1A"/>
                          </a:solidFill>
                          <a:latin typeface="맑은 고딕" pitchFamily="34" charset="0"/>
                          <a:ea typeface="맑은 고딕" pitchFamily="34" charset="-122"/>
                          <a:cs typeface="맑은 고딕" pitchFamily="34" charset="-120"/>
                        </a:rPr>
                        <a:t>Tuned Decision Tree</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50" dirty="0">
                          <a:solidFill>
                            <a:srgbClr val="1A1A1A"/>
                          </a:solidFill>
                          <a:latin typeface="맑은 고딕" pitchFamily="34" charset="0"/>
                          <a:ea typeface="맑은 고딕" pitchFamily="34" charset="-122"/>
                          <a:cs typeface="맑은 고딕" pitchFamily="34" charset="-120"/>
                        </a:rPr>
                        <a:t>0.9504</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50" dirty="0">
                          <a:solidFill>
                            <a:srgbClr val="1A1A1A"/>
                          </a:solidFill>
                          <a:latin typeface="맑은 고딕" pitchFamily="34" charset="0"/>
                          <a:ea typeface="맑은 고딕" pitchFamily="34" charset="-122"/>
                          <a:cs typeface="맑은 고딕" pitchFamily="34" charset="-120"/>
                        </a:rPr>
                        <a:t>1.4330</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50" dirty="0">
                          <a:solidFill>
                            <a:srgbClr val="1A1A1A"/>
                          </a:solidFill>
                          <a:latin typeface="맑은 고딕" pitchFamily="34" charset="0"/>
                          <a:ea typeface="맑은 고딕" pitchFamily="34" charset="-122"/>
                          <a:cs typeface="맑은 고딕" pitchFamily="34" charset="-120"/>
                        </a:rPr>
                        <a:t>1.2128</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50" dirty="0">
                          <a:solidFill>
                            <a:srgbClr val="1A1A1A"/>
                          </a:solidFill>
                          <a:latin typeface="맑은 고딕" pitchFamily="34" charset="0"/>
                          <a:ea typeface="맑은 고딕" pitchFamily="34" charset="-122"/>
                          <a:cs typeface="맑은 고딕" pitchFamily="34" charset="-120"/>
                        </a:rPr>
                        <a:t>1.8064</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50" dirty="0">
                          <a:solidFill>
                            <a:srgbClr val="1A1A1A"/>
                          </a:solidFill>
                          <a:latin typeface="맑은 고딕" pitchFamily="34" charset="0"/>
                          <a:ea typeface="맑은 고딕" pitchFamily="34" charset="-122"/>
                          <a:cs typeface="맑은 고딕" pitchFamily="34" charset="-120"/>
                        </a:rPr>
                        <a:t>0.8956</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50" dirty="0">
                          <a:solidFill>
                            <a:srgbClr val="1A1A1A"/>
                          </a:solidFill>
                          <a:latin typeface="맑은 고딕" pitchFamily="34" charset="0"/>
                          <a:ea typeface="맑은 고딕" pitchFamily="34" charset="-122"/>
                          <a:cs typeface="맑은 고딕" pitchFamily="34" charset="-120"/>
                        </a:rPr>
                        <a:t>0.7585</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lgn="l">
                        <a:buNone/>
                      </a:pPr>
                      <a:r>
                        <a:rPr lang="en-US" sz="1250" dirty="0">
                          <a:solidFill>
                            <a:srgbClr val="1A1A1A"/>
                          </a:solidFill>
                          <a:latin typeface="맑은 고딕" pitchFamily="34" charset="0"/>
                          <a:ea typeface="맑은 고딕" pitchFamily="34" charset="-122"/>
                          <a:cs typeface="맑은 고딕" pitchFamily="34" charset="-120"/>
                        </a:rPr>
                        <a:t>Decision Tree</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50" dirty="0">
                          <a:solidFill>
                            <a:srgbClr val="1A1A1A"/>
                          </a:solidFill>
                          <a:latin typeface="맑은 고딕" pitchFamily="34" charset="0"/>
                          <a:ea typeface="맑은 고딕" pitchFamily="34" charset="-122"/>
                          <a:cs typeface="맑은 고딕" pitchFamily="34" charset="-120"/>
                        </a:rPr>
                        <a:t>0.0000</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50" dirty="0">
                          <a:solidFill>
                            <a:srgbClr val="1A1A1A"/>
                          </a:solidFill>
                          <a:latin typeface="맑은 고딕" pitchFamily="34" charset="0"/>
                          <a:ea typeface="맑은 고딕" pitchFamily="34" charset="-122"/>
                          <a:cs typeface="맑은 고딕" pitchFamily="34" charset="-120"/>
                        </a:rPr>
                        <a:t>1.5588</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50" dirty="0">
                          <a:solidFill>
                            <a:srgbClr val="1A1A1A"/>
                          </a:solidFill>
                          <a:latin typeface="맑은 고딕" pitchFamily="34" charset="0"/>
                          <a:ea typeface="맑은 고딕" pitchFamily="34" charset="-122"/>
                          <a:cs typeface="맑은 고딕" pitchFamily="34" charset="-120"/>
                        </a:rPr>
                        <a:t>0.0000</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50" dirty="0">
                          <a:solidFill>
                            <a:srgbClr val="1A1A1A"/>
                          </a:solidFill>
                          <a:latin typeface="맑은 고딕" pitchFamily="34" charset="0"/>
                          <a:ea typeface="맑은 고딕" pitchFamily="34" charset="-122"/>
                          <a:cs typeface="맑은 고딕" pitchFamily="34" charset="-120"/>
                        </a:rPr>
                        <a:t>1.9710</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50" dirty="0">
                          <a:solidFill>
                            <a:srgbClr val="1A1A1A"/>
                          </a:solidFill>
                          <a:latin typeface="맑은 고딕" pitchFamily="34" charset="0"/>
                          <a:ea typeface="맑은 고딕" pitchFamily="34" charset="-122"/>
                          <a:cs typeface="맑은 고딕" pitchFamily="34" charset="-120"/>
                        </a:rPr>
                        <a:t>1.0000</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50" dirty="0">
                          <a:solidFill>
                            <a:srgbClr val="1A1A1A"/>
                          </a:solidFill>
                          <a:latin typeface="맑은 고딕" pitchFamily="34" charset="0"/>
                          <a:ea typeface="맑은 고딕" pitchFamily="34" charset="-122"/>
                          <a:cs typeface="맑은 고딕" pitchFamily="34" charset="-120"/>
                        </a:rPr>
                        <a:t>0.7125</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graphicFrame>
        <p:nvGraphicFramePr>
          <p:cNvPr id="8" name="Chart 0"/>
          <p:cNvGraphicFramePr/>
          <p:nvPr/>
        </p:nvGraphicFramePr>
        <p:xfrm>
          <a:off x="475488" y="2743200"/>
          <a:ext cx="5669280" cy="25146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1"/>
          <p:cNvGraphicFramePr/>
          <p:nvPr/>
        </p:nvGraphicFramePr>
        <p:xfrm>
          <a:off x="5943600" y="2743200"/>
          <a:ext cx="5669280" cy="2514600"/>
        </p:xfrm>
        <a:graphic>
          <a:graphicData uri="http://schemas.openxmlformats.org/drawingml/2006/chart">
            <c:chart xmlns:c="http://schemas.openxmlformats.org/drawingml/2006/chart" xmlns:r="http://schemas.openxmlformats.org/officeDocument/2006/relationships" r:id="rId4"/>
          </a:graphicData>
        </a:graphic>
      </p:graphicFrame>
      <p:sp>
        <p:nvSpPr>
          <p:cNvPr id="10" name="Shape 5"/>
          <p:cNvSpPr/>
          <p:nvPr/>
        </p:nvSpPr>
        <p:spPr>
          <a:xfrm>
            <a:off x="566928" y="5440680"/>
            <a:ext cx="11064240" cy="777240"/>
          </a:xfrm>
          <a:prstGeom prst="roundRect">
            <a:avLst>
              <a:gd name="adj" fmla="val 5882"/>
            </a:avLst>
          </a:prstGeom>
          <a:solidFill>
            <a:srgbClr val="D8E8F0"/>
          </a:solidFill>
          <a:ln w="12700">
            <a:solidFill>
              <a:srgbClr val="1C7293"/>
            </a:solidFill>
            <a:prstDash val="solid"/>
          </a:ln>
        </p:spPr>
        <p:txBody>
          <a:bodyPr/>
          <a:lstStyle/>
          <a:p>
            <a:endParaRPr lang="ko-KR" altLang="en-US"/>
          </a:p>
        </p:txBody>
      </p:sp>
      <p:sp>
        <p:nvSpPr>
          <p:cNvPr id="11" name="Text 6"/>
          <p:cNvSpPr txBox="1"/>
          <p:nvPr/>
        </p:nvSpPr>
        <p:spPr>
          <a:xfrm>
            <a:off x="804672" y="5440680"/>
            <a:ext cx="10588752" cy="777240"/>
          </a:xfrm>
          <a:prstGeom prst="rect">
            <a:avLst/>
          </a:prstGeom>
          <a:noFill/>
          <a:ln/>
        </p:spPr>
        <p:txBody>
          <a:bodyPr wrap="square" lIns="0" tIns="0" rIns="0" bIns="0" rtlCol="0" anchor="ctr"/>
          <a:lstStyle/>
          <a:p>
            <a:pPr marL="0" indent="0">
              <a:lnSpc>
                <a:spcPts val="1900"/>
              </a:lnSpc>
              <a:buNone/>
            </a:pPr>
            <a:r>
              <a:rPr lang="en-US" sz="1350" b="1" dirty="0">
                <a:solidFill>
                  <a:srgbClr val="0E3A5C"/>
                </a:solidFill>
                <a:latin typeface="맑은 고딕" pitchFamily="34" charset="0"/>
                <a:ea typeface="맑은 고딕" pitchFamily="34" charset="-122"/>
                <a:cs typeface="맑은 고딕" pitchFamily="34" charset="-120"/>
              </a:rPr>
              <a:t>읽는 법   </a:t>
            </a:r>
            <a:r>
              <a:rPr lang="en-US" sz="1350" dirty="0">
                <a:solidFill>
                  <a:srgbClr val="1A1A1A"/>
                </a:solidFill>
                <a:latin typeface="맑은 고딕" pitchFamily="34" charset="0"/>
                <a:ea typeface="맑은 고딕" pitchFamily="34" charset="-122"/>
                <a:cs typeface="맑은 고딕" pitchFamily="34" charset="-120"/>
              </a:rPr>
              <a:t>왼쪽은 예측 정확도, 오른쪽은 과적합 정도다. 기본 트리는 학습 R²가 가장 높지만 테스트에서 가장 낮다 — 성능이 좋은 것이 아니라 외운 것이다.</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566928" y="365760"/>
            <a:ext cx="457200" cy="457200"/>
          </a:xfrm>
          <a:prstGeom prst="ellipse">
            <a:avLst/>
          </a:prstGeom>
          <a:solidFill>
            <a:srgbClr val="1C7293"/>
          </a:solidFill>
          <a:ln w="12700">
            <a:solidFill>
              <a:srgbClr val="1C7293"/>
            </a:solidFill>
            <a:prstDash val="solid"/>
          </a:ln>
        </p:spPr>
        <p:txBody>
          <a:bodyPr/>
          <a:lstStyle/>
          <a:p>
            <a:endParaRPr lang="ko-KR" altLang="en-US"/>
          </a:p>
        </p:txBody>
      </p:sp>
      <p:sp>
        <p:nvSpPr>
          <p:cNvPr id="3" name="Text 1"/>
          <p:cNvSpPr txBox="1"/>
          <p:nvPr/>
        </p:nvSpPr>
        <p:spPr>
          <a:xfrm>
            <a:off x="566928" y="3657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17</a:t>
            </a:r>
            <a:endParaRPr lang="en-US" sz="1600" dirty="0"/>
          </a:p>
        </p:txBody>
      </p:sp>
      <p:sp>
        <p:nvSpPr>
          <p:cNvPr id="4" name="Text 2"/>
          <p:cNvSpPr txBox="1"/>
          <p:nvPr/>
        </p:nvSpPr>
        <p:spPr>
          <a:xfrm>
            <a:off x="1152144" y="310896"/>
            <a:ext cx="10424160" cy="246888"/>
          </a:xfrm>
          <a:prstGeom prst="rect">
            <a:avLst/>
          </a:prstGeom>
          <a:noFill/>
          <a:ln/>
        </p:spPr>
        <p:txBody>
          <a:bodyPr wrap="square" lIns="0" tIns="0" rIns="0" bIns="0" rtlCol="0" anchor="ctr"/>
          <a:lstStyle/>
          <a:p>
            <a:pPr marL="0" indent="0">
              <a:buNone/>
            </a:pPr>
            <a:r>
              <a:rPr lang="en-US" sz="1150" b="1" kern="0" spc="100" dirty="0">
                <a:solidFill>
                  <a:srgbClr val="1C7293"/>
                </a:solidFill>
                <a:latin typeface="맑은 고딕" pitchFamily="34" charset="0"/>
                <a:ea typeface="맑은 고딕" pitchFamily="34" charset="-122"/>
                <a:cs typeface="맑은 고딕" pitchFamily="34" charset="-120"/>
              </a:rPr>
              <a:t>모델링 · 시각적 진단</a:t>
            </a:r>
            <a:endParaRPr lang="en-US" sz="1150" dirty="0"/>
          </a:p>
        </p:txBody>
      </p:sp>
      <p:sp>
        <p:nvSpPr>
          <p:cNvPr id="5" name="Text 3"/>
          <p:cNvSpPr txBox="1"/>
          <p:nvPr/>
        </p:nvSpPr>
        <p:spPr>
          <a:xfrm>
            <a:off x="1152144" y="566928"/>
            <a:ext cx="10469880" cy="530352"/>
          </a:xfrm>
          <a:prstGeom prst="rect">
            <a:avLst/>
          </a:prstGeom>
          <a:noFill/>
          <a:ln/>
        </p:spPr>
        <p:txBody>
          <a:bodyPr wrap="square" lIns="0" tIns="0" rIns="0" bIns="0" rtlCol="0" anchor="ctr"/>
          <a:lstStyle/>
          <a:p>
            <a:pPr marL="0" indent="0">
              <a:buNone/>
            </a:pPr>
            <a:r>
              <a:rPr lang="en-US" sz="2500" b="1" dirty="0">
                <a:solidFill>
                  <a:srgbClr val="0E3A5C"/>
                </a:solidFill>
                <a:latin typeface="맑은 고딕" pitchFamily="34" charset="0"/>
                <a:ea typeface="맑은 고딕" pitchFamily="34" charset="-122"/>
                <a:cs typeface="맑은 고딕" pitchFamily="34" charset="-120"/>
              </a:rPr>
              <a:t>실제값·예측값과 잔차로 확인한다</a:t>
            </a:r>
            <a:endParaRPr lang="en-US" sz="2500" dirty="0"/>
          </a:p>
        </p:txBody>
      </p:sp>
      <p:sp>
        <p:nvSpPr>
          <p:cNvPr id="6" name="Text 4"/>
          <p:cNvSpPr txBox="1"/>
          <p:nvPr/>
        </p:nvSpPr>
        <p:spPr>
          <a:xfrm>
            <a:off x="8686800" y="6519672"/>
            <a:ext cx="2926080" cy="274320"/>
          </a:xfrm>
          <a:prstGeom prst="rect">
            <a:avLst/>
          </a:prstGeom>
          <a:noFill/>
          <a:ln/>
        </p:spPr>
        <p:txBody>
          <a:bodyPr wrap="square" lIns="0" tIns="0" rIns="0" bIns="0" rtlCol="0" anchor="ctr"/>
          <a:lstStyle/>
          <a:p>
            <a:pPr marL="0" indent="0" algn="r">
              <a:buNone/>
            </a:pPr>
            <a:r>
              <a:rPr lang="en-US" sz="1000" dirty="0">
                <a:solidFill>
                  <a:srgbClr val="A8B4BE"/>
                </a:solidFill>
                <a:latin typeface="맑은 고딕" pitchFamily="34" charset="0"/>
                <a:ea typeface="맑은 고딕" pitchFamily="34" charset="-122"/>
                <a:cs typeface="맑은 고딕" pitchFamily="34" charset="-120"/>
              </a:rPr>
              <a:t>4. 모델링</a:t>
            </a:r>
            <a:endParaRPr lang="en-US" sz="1000" dirty="0"/>
          </a:p>
        </p:txBody>
      </p:sp>
      <p:pic>
        <p:nvPicPr>
          <p:cNvPr id="7" name="Image 0" descr="nb/pred.png"/>
          <p:cNvPicPr>
            <a:picLocks noChangeAspect="1"/>
          </p:cNvPicPr>
          <p:nvPr/>
        </p:nvPicPr>
        <p:blipFill>
          <a:blip r:embed="rId3"/>
          <a:stretch>
            <a:fillRect/>
          </a:stretch>
        </p:blipFill>
        <p:spPr>
          <a:xfrm>
            <a:off x="685800" y="1325880"/>
            <a:ext cx="10789920" cy="3328416"/>
          </a:xfrm>
          <a:prstGeom prst="rect">
            <a:avLst/>
          </a:prstGeom>
        </p:spPr>
      </p:pic>
      <p:sp>
        <p:nvSpPr>
          <p:cNvPr id="8" name="Text 5"/>
          <p:cNvSpPr txBox="1"/>
          <p:nvPr/>
        </p:nvSpPr>
        <p:spPr>
          <a:xfrm>
            <a:off x="685800" y="4690872"/>
            <a:ext cx="10789920" cy="237744"/>
          </a:xfrm>
          <a:prstGeom prst="rect">
            <a:avLst/>
          </a:prstGeom>
          <a:noFill/>
          <a:ln/>
        </p:spPr>
        <p:txBody>
          <a:bodyPr wrap="square" lIns="0" tIns="0" rIns="0" bIns="0" rtlCol="0" anchor="ctr"/>
          <a:lstStyle/>
          <a:p>
            <a:pPr marL="0" indent="0" algn="ctr">
              <a:buNone/>
            </a:pPr>
            <a:r>
              <a:rPr lang="en-US" sz="1050" dirty="0">
                <a:solidFill>
                  <a:srgbClr val="5F6B78"/>
                </a:solidFill>
                <a:latin typeface="맑은 고딕" pitchFamily="34" charset="0"/>
                <a:ea typeface="맑은 고딕" pitchFamily="34" charset="-122"/>
                <a:cs typeface="맑은 고딕" pitchFamily="34" charset="-120"/>
              </a:rPr>
              <a:t>테스트 데이터의 실제값 대비 예측값 — 대각선에 가까울수록 정확</a:t>
            </a:r>
            <a:endParaRPr lang="en-US" sz="1050" dirty="0"/>
          </a:p>
        </p:txBody>
      </p:sp>
      <p:sp>
        <p:nvSpPr>
          <p:cNvPr id="9" name="Shape 6"/>
          <p:cNvSpPr/>
          <p:nvPr/>
        </p:nvSpPr>
        <p:spPr>
          <a:xfrm>
            <a:off x="566928" y="5029200"/>
            <a:ext cx="5394960" cy="1234440"/>
          </a:xfrm>
          <a:prstGeom prst="roundRect">
            <a:avLst>
              <a:gd name="adj" fmla="val 3704"/>
            </a:avLst>
          </a:prstGeom>
          <a:solidFill>
            <a:srgbClr val="D8E8F0"/>
          </a:solidFill>
          <a:ln w="12700">
            <a:solidFill>
              <a:srgbClr val="1C7293"/>
            </a:solidFill>
            <a:prstDash val="solid"/>
          </a:ln>
        </p:spPr>
        <p:txBody>
          <a:bodyPr/>
          <a:lstStyle/>
          <a:p>
            <a:endParaRPr lang="ko-KR" altLang="en-US"/>
          </a:p>
        </p:txBody>
      </p:sp>
      <p:sp>
        <p:nvSpPr>
          <p:cNvPr id="10" name="Text 7"/>
          <p:cNvSpPr txBox="1"/>
          <p:nvPr/>
        </p:nvSpPr>
        <p:spPr>
          <a:xfrm>
            <a:off x="804672" y="5029200"/>
            <a:ext cx="4919472" cy="1234440"/>
          </a:xfrm>
          <a:prstGeom prst="rect">
            <a:avLst/>
          </a:prstGeom>
          <a:noFill/>
          <a:ln/>
        </p:spPr>
        <p:txBody>
          <a:bodyPr wrap="square" lIns="0" tIns="0" rIns="0" bIns="0" rtlCol="0" anchor="ctr"/>
          <a:lstStyle/>
          <a:p>
            <a:pPr marL="0" indent="0">
              <a:lnSpc>
                <a:spcPts val="1900"/>
              </a:lnSpc>
              <a:buNone/>
            </a:pPr>
            <a:r>
              <a:rPr lang="en-US" sz="1250" b="1" dirty="0">
                <a:solidFill>
                  <a:srgbClr val="0E3A5C"/>
                </a:solidFill>
                <a:latin typeface="맑은 고딕" pitchFamily="34" charset="0"/>
                <a:ea typeface="맑은 고딕" pitchFamily="34" charset="-122"/>
                <a:cs typeface="맑은 고딕" pitchFamily="34" charset="-120"/>
              </a:rPr>
              <a:t>선형회귀 (왼쪽)   </a:t>
            </a:r>
            <a:r>
              <a:rPr lang="en-US" sz="1250" dirty="0">
                <a:solidFill>
                  <a:srgbClr val="1A1A1A"/>
                </a:solidFill>
                <a:latin typeface="맑은 고딕" pitchFamily="34" charset="0"/>
                <a:ea typeface="맑은 고딕" pitchFamily="34" charset="-122"/>
                <a:cs typeface="맑은 고딕" pitchFamily="34" charset="-120"/>
              </a:rPr>
              <a:t>점이 대각선을 따라 좁게 모여 있다. 전 구간에서 고르게 예측한다.</a:t>
            </a:r>
            <a:endParaRPr lang="en-US" sz="1250" dirty="0"/>
          </a:p>
        </p:txBody>
      </p:sp>
      <p:sp>
        <p:nvSpPr>
          <p:cNvPr id="11" name="Shape 8"/>
          <p:cNvSpPr/>
          <p:nvPr/>
        </p:nvSpPr>
        <p:spPr>
          <a:xfrm>
            <a:off x="6236208" y="5029200"/>
            <a:ext cx="5394960" cy="1234440"/>
          </a:xfrm>
          <a:prstGeom prst="roundRect">
            <a:avLst>
              <a:gd name="adj" fmla="val 3704"/>
            </a:avLst>
          </a:prstGeom>
          <a:solidFill>
            <a:srgbClr val="FFFFFF"/>
          </a:solidFill>
          <a:ln w="12700">
            <a:solidFill>
              <a:srgbClr val="D8E8F0"/>
            </a:solidFill>
            <a:prstDash val="solid"/>
          </a:ln>
        </p:spPr>
        <p:txBody>
          <a:bodyPr/>
          <a:lstStyle/>
          <a:p>
            <a:endParaRPr lang="ko-KR" altLang="en-US"/>
          </a:p>
        </p:txBody>
      </p:sp>
      <p:sp>
        <p:nvSpPr>
          <p:cNvPr id="12" name="Text 9"/>
          <p:cNvSpPr txBox="1"/>
          <p:nvPr/>
        </p:nvSpPr>
        <p:spPr>
          <a:xfrm>
            <a:off x="6473952" y="5029200"/>
            <a:ext cx="4919472" cy="1234440"/>
          </a:xfrm>
          <a:prstGeom prst="rect">
            <a:avLst/>
          </a:prstGeom>
          <a:noFill/>
          <a:ln/>
        </p:spPr>
        <p:txBody>
          <a:bodyPr wrap="square" lIns="0" tIns="0" rIns="0" bIns="0" rtlCol="0" anchor="ctr"/>
          <a:lstStyle/>
          <a:p>
            <a:pPr marL="0" indent="0">
              <a:lnSpc>
                <a:spcPts val="1900"/>
              </a:lnSpc>
              <a:buNone/>
            </a:pPr>
            <a:r>
              <a:rPr lang="en-US" sz="1250" b="1" dirty="0">
                <a:solidFill>
                  <a:srgbClr val="0E3A5C"/>
                </a:solidFill>
                <a:latin typeface="맑은 고딕" pitchFamily="34" charset="0"/>
                <a:ea typeface="맑은 고딕" pitchFamily="34" charset="-122"/>
                <a:cs typeface="맑은 고딕" pitchFamily="34" charset="-120"/>
              </a:rPr>
              <a:t>트리 (가운데 · 오른쪽)   </a:t>
            </a:r>
            <a:r>
              <a:rPr lang="en-US" sz="1250" dirty="0">
                <a:solidFill>
                  <a:srgbClr val="1A1A1A"/>
                </a:solidFill>
                <a:latin typeface="맑은 고딕" pitchFamily="34" charset="0"/>
                <a:ea typeface="맑은 고딕" pitchFamily="34" charset="-122"/>
                <a:cs typeface="맑은 고딕" pitchFamily="34" charset="-120"/>
              </a:rPr>
              <a:t>점이 대각선에서 넓게 흩어지고, 예측값이 몇 개 층으로 뭉쳐 계단처럼 보인다.</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566928" y="365760"/>
            <a:ext cx="457200" cy="457200"/>
          </a:xfrm>
          <a:prstGeom prst="ellipse">
            <a:avLst/>
          </a:prstGeom>
          <a:solidFill>
            <a:srgbClr val="1C7293"/>
          </a:solidFill>
          <a:ln w="12700">
            <a:solidFill>
              <a:srgbClr val="1C7293"/>
            </a:solidFill>
            <a:prstDash val="solid"/>
          </a:ln>
        </p:spPr>
        <p:txBody>
          <a:bodyPr/>
          <a:lstStyle/>
          <a:p>
            <a:endParaRPr lang="ko-KR" altLang="en-US"/>
          </a:p>
        </p:txBody>
      </p:sp>
      <p:sp>
        <p:nvSpPr>
          <p:cNvPr id="3" name="Text 1"/>
          <p:cNvSpPr txBox="1"/>
          <p:nvPr/>
        </p:nvSpPr>
        <p:spPr>
          <a:xfrm>
            <a:off x="566928" y="3657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19</a:t>
            </a:r>
            <a:endParaRPr lang="en-US" sz="1600" dirty="0"/>
          </a:p>
        </p:txBody>
      </p:sp>
      <p:sp>
        <p:nvSpPr>
          <p:cNvPr id="4" name="Text 2"/>
          <p:cNvSpPr txBox="1"/>
          <p:nvPr/>
        </p:nvSpPr>
        <p:spPr>
          <a:xfrm>
            <a:off x="1152144" y="310896"/>
            <a:ext cx="10424160" cy="246888"/>
          </a:xfrm>
          <a:prstGeom prst="rect">
            <a:avLst/>
          </a:prstGeom>
          <a:noFill/>
          <a:ln/>
        </p:spPr>
        <p:txBody>
          <a:bodyPr wrap="square" lIns="0" tIns="0" rIns="0" bIns="0" rtlCol="0" anchor="ctr"/>
          <a:lstStyle/>
          <a:p>
            <a:pPr marL="0" indent="0">
              <a:buNone/>
            </a:pPr>
            <a:r>
              <a:rPr lang="en-US" sz="1150" b="1" kern="0" spc="100" dirty="0">
                <a:solidFill>
                  <a:srgbClr val="1C7293"/>
                </a:solidFill>
                <a:latin typeface="맑은 고딕" pitchFamily="34" charset="0"/>
                <a:ea typeface="맑은 고딕" pitchFamily="34" charset="-122"/>
                <a:cs typeface="맑은 고딕" pitchFamily="34" charset="-120"/>
              </a:rPr>
              <a:t>모델링 · 1차 결론</a:t>
            </a:r>
            <a:endParaRPr lang="en-US" sz="1150" dirty="0"/>
          </a:p>
        </p:txBody>
      </p:sp>
      <p:sp>
        <p:nvSpPr>
          <p:cNvPr id="5" name="Text 3"/>
          <p:cNvSpPr txBox="1"/>
          <p:nvPr/>
        </p:nvSpPr>
        <p:spPr>
          <a:xfrm>
            <a:off x="1152144" y="566928"/>
            <a:ext cx="10469880" cy="530352"/>
          </a:xfrm>
          <a:prstGeom prst="rect">
            <a:avLst/>
          </a:prstGeom>
          <a:noFill/>
          <a:ln/>
        </p:spPr>
        <p:txBody>
          <a:bodyPr wrap="square" lIns="0" tIns="0" rIns="0" bIns="0" rtlCol="0" anchor="ctr"/>
          <a:lstStyle/>
          <a:p>
            <a:pPr marL="0" indent="0">
              <a:buNone/>
            </a:pPr>
            <a:r>
              <a:rPr lang="en-US" sz="2500" b="1" dirty="0">
                <a:solidFill>
                  <a:srgbClr val="0E3A5C"/>
                </a:solidFill>
                <a:latin typeface="맑은 고딕" pitchFamily="34" charset="0"/>
                <a:ea typeface="맑은 고딕" pitchFamily="34" charset="-122"/>
                <a:cs typeface="맑은 고딕" pitchFamily="34" charset="-120"/>
              </a:rPr>
              <a:t>왜 단순한 선형회귀가 트리를 이겼나</a:t>
            </a:r>
            <a:endParaRPr lang="en-US" sz="2500" dirty="0"/>
          </a:p>
        </p:txBody>
      </p:sp>
      <p:sp>
        <p:nvSpPr>
          <p:cNvPr id="6" name="Text 4"/>
          <p:cNvSpPr txBox="1"/>
          <p:nvPr/>
        </p:nvSpPr>
        <p:spPr>
          <a:xfrm>
            <a:off x="8686800" y="6519672"/>
            <a:ext cx="2926080" cy="274320"/>
          </a:xfrm>
          <a:prstGeom prst="rect">
            <a:avLst/>
          </a:prstGeom>
          <a:noFill/>
          <a:ln/>
        </p:spPr>
        <p:txBody>
          <a:bodyPr wrap="square" lIns="0" tIns="0" rIns="0" bIns="0" rtlCol="0" anchor="ctr"/>
          <a:lstStyle/>
          <a:p>
            <a:pPr marL="0" indent="0" algn="r">
              <a:buNone/>
            </a:pPr>
            <a:r>
              <a:rPr lang="en-US" sz="1000" dirty="0">
                <a:solidFill>
                  <a:srgbClr val="A8B4BE"/>
                </a:solidFill>
                <a:latin typeface="맑은 고딕" pitchFamily="34" charset="0"/>
                <a:ea typeface="맑은 고딕" pitchFamily="34" charset="-122"/>
                <a:cs typeface="맑은 고딕" pitchFamily="34" charset="-120"/>
              </a:rPr>
              <a:t>4. 모델링</a:t>
            </a:r>
            <a:endParaRPr lang="en-US" sz="1000" dirty="0"/>
          </a:p>
        </p:txBody>
      </p:sp>
      <p:sp>
        <p:nvSpPr>
          <p:cNvPr id="7" name="Shape 5"/>
          <p:cNvSpPr/>
          <p:nvPr/>
        </p:nvSpPr>
        <p:spPr>
          <a:xfrm>
            <a:off x="566928" y="1325880"/>
            <a:ext cx="5394960" cy="2331720"/>
          </a:xfrm>
          <a:prstGeom prst="roundRect">
            <a:avLst>
              <a:gd name="adj" fmla="val 1961"/>
            </a:avLst>
          </a:prstGeom>
          <a:solidFill>
            <a:srgbClr val="EFF6FA"/>
          </a:solidFill>
          <a:ln w="12700">
            <a:solidFill>
              <a:srgbClr val="D8E8F0"/>
            </a:solidFill>
            <a:prstDash val="solid"/>
          </a:ln>
        </p:spPr>
        <p:txBody>
          <a:bodyPr/>
          <a:lstStyle/>
          <a:p>
            <a:endParaRPr lang="ko-KR" altLang="en-US"/>
          </a:p>
        </p:txBody>
      </p:sp>
      <p:sp>
        <p:nvSpPr>
          <p:cNvPr id="8" name="Text 6"/>
          <p:cNvSpPr txBox="1"/>
          <p:nvPr/>
        </p:nvSpPr>
        <p:spPr>
          <a:xfrm>
            <a:off x="804672" y="1481328"/>
            <a:ext cx="4937760" cy="292608"/>
          </a:xfrm>
          <a:prstGeom prst="rect">
            <a:avLst/>
          </a:prstGeom>
          <a:noFill/>
          <a:ln/>
        </p:spPr>
        <p:txBody>
          <a:bodyPr wrap="square" lIns="0" tIns="0" rIns="0" bIns="0" rtlCol="0" anchor="ctr"/>
          <a:lstStyle/>
          <a:p>
            <a:pPr marL="0" indent="0">
              <a:buNone/>
            </a:pPr>
            <a:r>
              <a:rPr lang="en-US" sz="1500" b="1" dirty="0">
                <a:solidFill>
                  <a:srgbClr val="1C7293"/>
                </a:solidFill>
                <a:latin typeface="맑은 고딕" pitchFamily="34" charset="0"/>
                <a:ea typeface="맑은 고딕" pitchFamily="34" charset="-122"/>
                <a:cs typeface="맑은 고딕" pitchFamily="34" charset="-120"/>
              </a:rPr>
              <a:t>기대했던 것</a:t>
            </a:r>
            <a:endParaRPr lang="en-US" sz="1500" dirty="0"/>
          </a:p>
        </p:txBody>
      </p:sp>
      <p:sp>
        <p:nvSpPr>
          <p:cNvPr id="9" name="Text 7"/>
          <p:cNvSpPr txBox="1"/>
          <p:nvPr/>
        </p:nvSpPr>
        <p:spPr>
          <a:xfrm>
            <a:off x="804672" y="1847088"/>
            <a:ext cx="4937760" cy="1645920"/>
          </a:xfrm>
          <a:prstGeom prst="rect">
            <a:avLst/>
          </a:prstGeom>
          <a:noFill/>
          <a:ln/>
        </p:spPr>
        <p:txBody>
          <a:bodyPr wrap="square" lIns="0" tIns="0" rIns="0" bIns="0" rtlCol="0" anchor="ctr"/>
          <a:lstStyle/>
          <a:p>
            <a:pPr marL="342900" indent="-342900">
              <a:lnSpc>
                <a:spcPts val="2100"/>
              </a:lnSpc>
              <a:spcAft>
                <a:spcPts val="600"/>
              </a:spcAft>
              <a:buSzPct val="100000"/>
              <a:buChar char="–"/>
            </a:pPr>
            <a:r>
              <a:rPr lang="en-US" sz="1300" dirty="0">
                <a:solidFill>
                  <a:srgbClr val="1A1A1A"/>
                </a:solidFill>
                <a:latin typeface="맑은 고딕" pitchFamily="34" charset="0"/>
                <a:ea typeface="맑은 고딕" pitchFamily="34" charset="-122"/>
                <a:cs typeface="맑은 고딕" pitchFamily="34" charset="-120"/>
              </a:rPr>
              <a:t>트리는 곡선 관계를 표현할 수 있다</a:t>
            </a:r>
            <a:endParaRPr lang="en-US" sz="1300" dirty="0"/>
          </a:p>
          <a:p>
            <a:pPr marL="342900" indent="-342900">
              <a:lnSpc>
                <a:spcPts val="2100"/>
              </a:lnSpc>
              <a:spcAft>
                <a:spcPts val="600"/>
              </a:spcAft>
              <a:buSzPct val="100000"/>
              <a:buChar char="–"/>
            </a:pPr>
            <a:r>
              <a:rPr lang="en-US" sz="1300" dirty="0">
                <a:solidFill>
                  <a:srgbClr val="1A1A1A"/>
                </a:solidFill>
                <a:latin typeface="맑은 고딕" pitchFamily="34" charset="0"/>
                <a:ea typeface="맑은 고딕" pitchFamily="34" charset="-122"/>
                <a:cs typeface="맑은 고딕" pitchFamily="34" charset="-120"/>
              </a:rPr>
              <a:t>변수 간 상호작용도 학습할 수 있다</a:t>
            </a:r>
            <a:endParaRPr lang="en-US" sz="1300" dirty="0"/>
          </a:p>
          <a:p>
            <a:pPr marL="342900" indent="-342900">
              <a:lnSpc>
                <a:spcPts val="2100"/>
              </a:lnSpc>
              <a:spcAft>
                <a:spcPts val="600"/>
              </a:spcAft>
              <a:buSzPct val="100000"/>
              <a:buChar char="–"/>
            </a:pPr>
            <a:r>
              <a:rPr lang="en-US" sz="1300" dirty="0">
                <a:solidFill>
                  <a:srgbClr val="1A1A1A"/>
                </a:solidFill>
                <a:latin typeface="맑은 고딕" pitchFamily="34" charset="0"/>
                <a:ea typeface="맑은 고딕" pitchFamily="34" charset="-122"/>
                <a:cs typeface="맑은 고딕" pitchFamily="34" charset="-120"/>
              </a:rPr>
              <a:t>따라서 선형회귀보다 나을 것이다</a:t>
            </a:r>
            <a:endParaRPr lang="en-US" sz="1300" dirty="0"/>
          </a:p>
        </p:txBody>
      </p:sp>
      <p:sp>
        <p:nvSpPr>
          <p:cNvPr id="10" name="Shape 8"/>
          <p:cNvSpPr/>
          <p:nvPr/>
        </p:nvSpPr>
        <p:spPr>
          <a:xfrm>
            <a:off x="6236208" y="1325880"/>
            <a:ext cx="5394960" cy="2331720"/>
          </a:xfrm>
          <a:prstGeom prst="roundRect">
            <a:avLst>
              <a:gd name="adj" fmla="val 1961"/>
            </a:avLst>
          </a:prstGeom>
          <a:solidFill>
            <a:srgbClr val="D8E8F0"/>
          </a:solidFill>
          <a:ln w="12700">
            <a:solidFill>
              <a:srgbClr val="1C7293"/>
            </a:solidFill>
            <a:prstDash val="solid"/>
          </a:ln>
        </p:spPr>
        <p:txBody>
          <a:bodyPr/>
          <a:lstStyle/>
          <a:p>
            <a:endParaRPr lang="ko-KR" altLang="en-US"/>
          </a:p>
        </p:txBody>
      </p:sp>
      <p:sp>
        <p:nvSpPr>
          <p:cNvPr id="11" name="Text 9"/>
          <p:cNvSpPr txBox="1"/>
          <p:nvPr/>
        </p:nvSpPr>
        <p:spPr>
          <a:xfrm>
            <a:off x="6473952" y="1481328"/>
            <a:ext cx="4937760" cy="292608"/>
          </a:xfrm>
          <a:prstGeom prst="rect">
            <a:avLst/>
          </a:prstGeom>
          <a:noFill/>
          <a:ln/>
        </p:spPr>
        <p:txBody>
          <a:bodyPr wrap="square" lIns="0" tIns="0" rIns="0" bIns="0" rtlCol="0" anchor="ctr"/>
          <a:lstStyle/>
          <a:p>
            <a:pPr marL="0" indent="0">
              <a:buNone/>
            </a:pPr>
            <a:r>
              <a:rPr lang="en-US" sz="1500" b="1" dirty="0">
                <a:solidFill>
                  <a:srgbClr val="0E3A5C"/>
                </a:solidFill>
                <a:latin typeface="맑은 고딕" pitchFamily="34" charset="0"/>
                <a:ea typeface="맑은 고딕" pitchFamily="34" charset="-122"/>
                <a:cs typeface="맑은 고딕" pitchFamily="34" charset="-120"/>
              </a:rPr>
              <a:t>실제로 일어난 일</a:t>
            </a:r>
            <a:endParaRPr lang="en-US" sz="1500" dirty="0"/>
          </a:p>
        </p:txBody>
      </p:sp>
      <p:sp>
        <p:nvSpPr>
          <p:cNvPr id="12" name="Text 10"/>
          <p:cNvSpPr txBox="1"/>
          <p:nvPr/>
        </p:nvSpPr>
        <p:spPr>
          <a:xfrm>
            <a:off x="6473952" y="1847088"/>
            <a:ext cx="4937760" cy="1645920"/>
          </a:xfrm>
          <a:prstGeom prst="rect">
            <a:avLst/>
          </a:prstGeom>
          <a:noFill/>
          <a:ln/>
        </p:spPr>
        <p:txBody>
          <a:bodyPr wrap="square" lIns="0" tIns="0" rIns="0" bIns="0" rtlCol="0" anchor="ctr"/>
          <a:lstStyle/>
          <a:p>
            <a:pPr marL="342900" indent="-342900">
              <a:lnSpc>
                <a:spcPts val="2100"/>
              </a:lnSpc>
              <a:spcAft>
                <a:spcPts val="600"/>
              </a:spcAft>
              <a:buSzPct val="100000"/>
              <a:buChar char="–"/>
            </a:pPr>
            <a:r>
              <a:rPr lang="en-US" sz="1300" dirty="0">
                <a:solidFill>
                  <a:srgbClr val="1A1A1A"/>
                </a:solidFill>
                <a:latin typeface="맑은 고딕" pitchFamily="34" charset="0"/>
                <a:ea typeface="맑은 고딕" pitchFamily="34" charset="-122"/>
                <a:cs typeface="맑은 고딕" pitchFamily="34" charset="-120"/>
              </a:rPr>
              <a:t>주요 변수가 목표변수와 거의 직선 관계였다</a:t>
            </a:r>
            <a:endParaRPr lang="en-US" sz="1300" dirty="0"/>
          </a:p>
          <a:p>
            <a:pPr marL="342900" indent="-342900">
              <a:lnSpc>
                <a:spcPts val="2100"/>
              </a:lnSpc>
              <a:spcAft>
                <a:spcPts val="600"/>
              </a:spcAft>
              <a:buSzPct val="100000"/>
              <a:buChar char="–"/>
            </a:pPr>
            <a:r>
              <a:rPr lang="en-US" sz="1300" dirty="0">
                <a:solidFill>
                  <a:srgbClr val="1A1A1A"/>
                </a:solidFill>
                <a:latin typeface="맑은 고딕" pitchFamily="34" charset="0"/>
                <a:ea typeface="맑은 고딕" pitchFamily="34" charset="-122"/>
                <a:cs typeface="맑은 고딕" pitchFamily="34" charset="-120"/>
              </a:rPr>
              <a:t>트리는 예측값이 구간마다 계단식으로 끊긴다</a:t>
            </a:r>
            <a:endParaRPr lang="en-US" sz="1300" dirty="0"/>
          </a:p>
          <a:p>
            <a:pPr marL="342900" indent="-342900">
              <a:lnSpc>
                <a:spcPts val="2100"/>
              </a:lnSpc>
              <a:spcAft>
                <a:spcPts val="600"/>
              </a:spcAft>
              <a:buSzPct val="100000"/>
              <a:buChar char="–"/>
            </a:pPr>
            <a:r>
              <a:rPr lang="en-US" sz="1300" dirty="0">
                <a:solidFill>
                  <a:srgbClr val="1A1A1A"/>
                </a:solidFill>
                <a:latin typeface="맑은 고딕" pitchFamily="34" charset="0"/>
                <a:ea typeface="맑은 고딕" pitchFamily="34" charset="-122"/>
                <a:cs typeface="맑은 고딕" pitchFamily="34" charset="-120"/>
              </a:rPr>
              <a:t>매끄럽게 증가하는 관계에는 오히려 불리했다</a:t>
            </a:r>
            <a:endParaRPr lang="en-US" sz="1300" dirty="0"/>
          </a:p>
        </p:txBody>
      </p:sp>
      <p:sp>
        <p:nvSpPr>
          <p:cNvPr id="13" name="Shape 11"/>
          <p:cNvSpPr/>
          <p:nvPr/>
        </p:nvSpPr>
        <p:spPr>
          <a:xfrm>
            <a:off x="566928" y="3840480"/>
            <a:ext cx="11064240" cy="868680"/>
          </a:xfrm>
          <a:prstGeom prst="roundRect">
            <a:avLst>
              <a:gd name="adj" fmla="val 5263"/>
            </a:avLst>
          </a:prstGeom>
          <a:solidFill>
            <a:srgbClr val="D8E8F0"/>
          </a:solidFill>
          <a:ln w="12700">
            <a:solidFill>
              <a:srgbClr val="1C7293"/>
            </a:solidFill>
            <a:prstDash val="solid"/>
          </a:ln>
        </p:spPr>
        <p:txBody>
          <a:bodyPr/>
          <a:lstStyle/>
          <a:p>
            <a:endParaRPr lang="ko-KR" altLang="en-US"/>
          </a:p>
        </p:txBody>
      </p:sp>
      <p:sp>
        <p:nvSpPr>
          <p:cNvPr id="14" name="Text 12"/>
          <p:cNvSpPr txBox="1"/>
          <p:nvPr/>
        </p:nvSpPr>
        <p:spPr>
          <a:xfrm>
            <a:off x="804672" y="3840480"/>
            <a:ext cx="10588752" cy="868680"/>
          </a:xfrm>
          <a:prstGeom prst="rect">
            <a:avLst/>
          </a:prstGeom>
          <a:noFill/>
          <a:ln/>
        </p:spPr>
        <p:txBody>
          <a:bodyPr wrap="square" lIns="0" tIns="0" rIns="0" bIns="0" rtlCol="0" anchor="ctr"/>
          <a:lstStyle/>
          <a:p>
            <a:pPr marL="0" indent="0">
              <a:lnSpc>
                <a:spcPts val="1900"/>
              </a:lnSpc>
              <a:buNone/>
            </a:pPr>
            <a:r>
              <a:rPr lang="en-US" sz="1350" b="1" dirty="0">
                <a:solidFill>
                  <a:srgbClr val="0E3A5C"/>
                </a:solidFill>
                <a:latin typeface="맑은 고딕" pitchFamily="34" charset="0"/>
                <a:ea typeface="맑은 고딕" pitchFamily="34" charset="-122"/>
                <a:cs typeface="맑은 고딕" pitchFamily="34" charset="-120"/>
              </a:rPr>
              <a:t>판단   </a:t>
            </a:r>
            <a:r>
              <a:rPr lang="en-US" sz="1350" dirty="0">
                <a:solidFill>
                  <a:srgbClr val="1A1A1A"/>
                </a:solidFill>
                <a:latin typeface="맑은 고딕" pitchFamily="34" charset="0"/>
                <a:ea typeface="맑은 고딕" pitchFamily="34" charset="-122"/>
                <a:cs typeface="맑은 고딕" pitchFamily="34" charset="-120"/>
              </a:rPr>
              <a:t>교차검증 RMSE 1.8888도 기준 선형회귀의 테스트 RMSE 1.0093보다 크게 나쁘다. 분할 시드를 바꾼다고 뒤집힐 차이가 아니므로, 1차 결론은 선형회귀 채택이다.</a:t>
            </a:r>
            <a:endParaRPr lang="en-US" sz="1350" dirty="0"/>
          </a:p>
        </p:txBody>
      </p:sp>
      <p:sp>
        <p:nvSpPr>
          <p:cNvPr id="15" name="Shape 13"/>
          <p:cNvSpPr/>
          <p:nvPr/>
        </p:nvSpPr>
        <p:spPr>
          <a:xfrm>
            <a:off x="566928" y="4892040"/>
            <a:ext cx="11064240" cy="1325880"/>
          </a:xfrm>
          <a:prstGeom prst="roundRect">
            <a:avLst>
              <a:gd name="adj" fmla="val 3448"/>
            </a:avLst>
          </a:prstGeom>
          <a:solidFill>
            <a:srgbClr val="FFFFFF"/>
          </a:solidFill>
          <a:ln w="12700">
            <a:solidFill>
              <a:srgbClr val="C0392B"/>
            </a:solidFill>
            <a:prstDash val="solid"/>
          </a:ln>
        </p:spPr>
        <p:txBody>
          <a:bodyPr/>
          <a:lstStyle/>
          <a:p>
            <a:endParaRPr lang="ko-KR" altLang="en-US"/>
          </a:p>
        </p:txBody>
      </p:sp>
      <p:sp>
        <p:nvSpPr>
          <p:cNvPr id="16" name="Text 14"/>
          <p:cNvSpPr txBox="1"/>
          <p:nvPr/>
        </p:nvSpPr>
        <p:spPr>
          <a:xfrm>
            <a:off x="822960" y="5074920"/>
            <a:ext cx="10515600" cy="310896"/>
          </a:xfrm>
          <a:prstGeom prst="rect">
            <a:avLst/>
          </a:prstGeom>
          <a:noFill/>
          <a:ln/>
        </p:spPr>
        <p:txBody>
          <a:bodyPr wrap="square" lIns="0" tIns="0" rIns="0" bIns="0" rtlCol="0" anchor="ctr"/>
          <a:lstStyle/>
          <a:p>
            <a:pPr marL="0" indent="0">
              <a:buNone/>
            </a:pPr>
            <a:r>
              <a:rPr lang="en-US" sz="1600" b="1" dirty="0">
                <a:solidFill>
                  <a:srgbClr val="C0392B"/>
                </a:solidFill>
                <a:latin typeface="맑은 고딕" pitchFamily="34" charset="0"/>
                <a:ea typeface="맑은 고딕" pitchFamily="34" charset="-122"/>
                <a:cs typeface="맑은 고딕" pitchFamily="34" charset="-120"/>
              </a:rPr>
              <a:t>그런데 여기서 끝내지 않았다</a:t>
            </a:r>
            <a:endParaRPr lang="en-US" sz="1600" dirty="0"/>
          </a:p>
        </p:txBody>
      </p:sp>
      <p:sp>
        <p:nvSpPr>
          <p:cNvPr id="17" name="Text 15"/>
          <p:cNvSpPr txBox="1"/>
          <p:nvPr/>
        </p:nvSpPr>
        <p:spPr>
          <a:xfrm>
            <a:off x="822960" y="5431536"/>
            <a:ext cx="10515600" cy="640080"/>
          </a:xfrm>
          <a:prstGeom prst="rect">
            <a:avLst/>
          </a:prstGeom>
          <a:noFill/>
          <a:ln/>
        </p:spPr>
        <p:txBody>
          <a:bodyPr wrap="square" lIns="0" tIns="0" rIns="0" bIns="0" rtlCol="0" anchor="ctr"/>
          <a:lstStyle/>
          <a:p>
            <a:pPr marL="0" indent="0">
              <a:lnSpc>
                <a:spcPts val="1900"/>
              </a:lnSpc>
              <a:buNone/>
            </a:pPr>
            <a:r>
              <a:rPr lang="en-US" sz="1350" dirty="0">
                <a:solidFill>
                  <a:srgbClr val="1A1A1A"/>
                </a:solidFill>
                <a:latin typeface="맑은 고딕" pitchFamily="34" charset="0"/>
                <a:ea typeface="맑은 고딕" pitchFamily="34" charset="-122"/>
                <a:cs typeface="맑은 고딕" pitchFamily="34" charset="-120"/>
              </a:rPr>
              <a:t>성능 지표가 가장 좋다고 해서 모델이 옳다는 뜻은 아니다. 잔차를 변수별로 다시 확인한 결과, 외기온에서 구조적인 편향이 남아 있었다.</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6">
    <p:bg>
      <p:bgPr>
        <a:solidFill>
          <a:srgbClr val="0E3A5C"/>
        </a:solidFill>
        <a:effectLst/>
      </p:bgPr>
    </p:bg>
    <p:spTree>
      <p:nvGrpSpPr>
        <p:cNvPr id="1" name=""/>
        <p:cNvGrpSpPr/>
        <p:nvPr/>
      </p:nvGrpSpPr>
      <p:grpSpPr>
        <a:xfrm>
          <a:off x="0" y="0"/>
          <a:ext cx="0" cy="0"/>
          <a:chOff x="0" y="0"/>
          <a:chExt cx="0" cy="0"/>
        </a:xfrm>
      </p:grpSpPr>
      <p:sp>
        <p:nvSpPr>
          <p:cNvPr id="2" name="Shape 0"/>
          <p:cNvSpPr/>
          <p:nvPr/>
        </p:nvSpPr>
        <p:spPr>
          <a:xfrm>
            <a:off x="9966960" y="4023360"/>
            <a:ext cx="3108960" cy="3108960"/>
          </a:xfrm>
          <a:prstGeom prst="ellipse">
            <a:avLst/>
          </a:prstGeom>
          <a:solidFill>
            <a:srgbClr val="1C7293">
              <a:alpha val="20000"/>
            </a:srgbClr>
          </a:solidFill>
          <a:ln w="12700">
            <a:solidFill>
              <a:srgbClr val="1C7293">
                <a:alpha val="0"/>
              </a:srgbClr>
            </a:solidFill>
            <a:prstDash val="solid"/>
          </a:ln>
        </p:spPr>
        <p:txBody>
          <a:bodyPr/>
          <a:lstStyle/>
          <a:p>
            <a:endParaRPr lang="ko-KR" altLang="en-US"/>
          </a:p>
        </p:txBody>
      </p:sp>
      <p:sp>
        <p:nvSpPr>
          <p:cNvPr id="3" name="Text 1"/>
          <p:cNvSpPr txBox="1"/>
          <p:nvPr/>
        </p:nvSpPr>
        <p:spPr>
          <a:xfrm>
            <a:off x="658368" y="2286000"/>
            <a:ext cx="7315200" cy="292608"/>
          </a:xfrm>
          <a:prstGeom prst="rect">
            <a:avLst/>
          </a:prstGeom>
          <a:noFill/>
          <a:ln/>
        </p:spPr>
        <p:txBody>
          <a:bodyPr wrap="square" lIns="0" tIns="0" rIns="0" bIns="0" rtlCol="0" anchor="ctr"/>
          <a:lstStyle/>
          <a:p>
            <a:pPr marL="0" indent="0">
              <a:buNone/>
            </a:pPr>
            <a:r>
              <a:rPr lang="en-US" sz="1300" b="1" kern="0" spc="200" dirty="0">
                <a:solidFill>
                  <a:srgbClr val="9FC2D6"/>
                </a:solidFill>
                <a:latin typeface="맑은 고딕" pitchFamily="34" charset="0"/>
                <a:ea typeface="맑은 고딕" pitchFamily="34" charset="-122"/>
                <a:cs typeface="맑은 고딕" pitchFamily="34" charset="-120"/>
              </a:rPr>
              <a:t>PART 5</a:t>
            </a:r>
            <a:endParaRPr lang="en-US" sz="1300" dirty="0"/>
          </a:p>
        </p:txBody>
      </p:sp>
      <p:sp>
        <p:nvSpPr>
          <p:cNvPr id="4" name="Text 2"/>
          <p:cNvSpPr txBox="1"/>
          <p:nvPr/>
        </p:nvSpPr>
        <p:spPr>
          <a:xfrm>
            <a:off x="658368" y="2670048"/>
            <a:ext cx="8778240" cy="685800"/>
          </a:xfrm>
          <a:prstGeom prst="rect">
            <a:avLst/>
          </a:prstGeom>
          <a:noFill/>
          <a:ln/>
        </p:spPr>
        <p:txBody>
          <a:bodyPr wrap="square" lIns="0" tIns="0" rIns="0" bIns="0" rtlCol="0" anchor="ctr"/>
          <a:lstStyle/>
          <a:p>
            <a:pPr marL="0" indent="0">
              <a:buNone/>
            </a:pPr>
            <a:r>
              <a:rPr lang="en-US" sz="3400" b="1" dirty="0">
                <a:solidFill>
                  <a:srgbClr val="FFFFFF"/>
                </a:solidFill>
                <a:latin typeface="맑은 고딕" pitchFamily="34" charset="0"/>
                <a:ea typeface="맑은 고딕" pitchFamily="34" charset="-122"/>
                <a:cs typeface="맑은 고딕" pitchFamily="34" charset="-120"/>
              </a:rPr>
              <a:t>모델 개선</a:t>
            </a:r>
            <a:endParaRPr lang="en-US" sz="3400" dirty="0"/>
          </a:p>
        </p:txBody>
      </p:sp>
      <p:sp>
        <p:nvSpPr>
          <p:cNvPr id="5" name="Text 3"/>
          <p:cNvSpPr txBox="1"/>
          <p:nvPr/>
        </p:nvSpPr>
        <p:spPr>
          <a:xfrm>
            <a:off x="658368" y="3520440"/>
            <a:ext cx="8778240" cy="365760"/>
          </a:xfrm>
          <a:prstGeom prst="rect">
            <a:avLst/>
          </a:prstGeom>
          <a:noFill/>
          <a:ln/>
        </p:spPr>
        <p:txBody>
          <a:bodyPr wrap="square" lIns="0" tIns="0" rIns="0" bIns="0" rtlCol="0" anchor="ctr"/>
          <a:lstStyle/>
          <a:p>
            <a:pPr marL="0" indent="0">
              <a:buNone/>
            </a:pPr>
            <a:r>
              <a:rPr lang="en-US" sz="1400" dirty="0">
                <a:solidFill>
                  <a:srgbClr val="D8E8F0"/>
                </a:solidFill>
                <a:latin typeface="맑은 고딕" pitchFamily="34" charset="0"/>
                <a:ea typeface="맑은 고딕" pitchFamily="34" charset="-122"/>
                <a:cs typeface="맑은 고딕" pitchFamily="34" charset="-120"/>
              </a:rPr>
              <a:t>잔차 진단 → 파생변수 설계 → 최종 모델 선정</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566928" y="365760"/>
            <a:ext cx="457200" cy="457200"/>
          </a:xfrm>
          <a:prstGeom prst="ellipse">
            <a:avLst/>
          </a:prstGeom>
          <a:solidFill>
            <a:srgbClr val="1C7293"/>
          </a:solidFill>
          <a:ln w="12700">
            <a:solidFill>
              <a:srgbClr val="1C7293"/>
            </a:solidFill>
            <a:prstDash val="solid"/>
          </a:ln>
        </p:spPr>
        <p:txBody>
          <a:bodyPr/>
          <a:lstStyle/>
          <a:p>
            <a:endParaRPr lang="ko-KR" altLang="en-US"/>
          </a:p>
        </p:txBody>
      </p:sp>
      <p:sp>
        <p:nvSpPr>
          <p:cNvPr id="3" name="Text 1"/>
          <p:cNvSpPr txBox="1"/>
          <p:nvPr/>
        </p:nvSpPr>
        <p:spPr>
          <a:xfrm>
            <a:off x="566928" y="3657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20</a:t>
            </a:r>
            <a:endParaRPr lang="en-US" sz="1600" dirty="0"/>
          </a:p>
        </p:txBody>
      </p:sp>
      <p:sp>
        <p:nvSpPr>
          <p:cNvPr id="4" name="Text 2"/>
          <p:cNvSpPr txBox="1"/>
          <p:nvPr/>
        </p:nvSpPr>
        <p:spPr>
          <a:xfrm>
            <a:off x="1152144" y="310896"/>
            <a:ext cx="10424160" cy="246888"/>
          </a:xfrm>
          <a:prstGeom prst="rect">
            <a:avLst/>
          </a:prstGeom>
          <a:noFill/>
          <a:ln/>
        </p:spPr>
        <p:txBody>
          <a:bodyPr wrap="square" lIns="0" tIns="0" rIns="0" bIns="0" rtlCol="0" anchor="ctr"/>
          <a:lstStyle/>
          <a:p>
            <a:pPr marL="0" indent="0">
              <a:buNone/>
            </a:pPr>
            <a:r>
              <a:rPr lang="en-US" sz="1150" b="1" kern="0" spc="100" dirty="0">
                <a:solidFill>
                  <a:srgbClr val="1C7293"/>
                </a:solidFill>
                <a:latin typeface="맑은 고딕" pitchFamily="34" charset="0"/>
                <a:ea typeface="맑은 고딕" pitchFamily="34" charset="-122"/>
                <a:cs typeface="맑은 고딕" pitchFamily="34" charset="-120"/>
              </a:rPr>
              <a:t>모델 개선 · 잔차 진단</a:t>
            </a:r>
            <a:endParaRPr lang="en-US" sz="1150" dirty="0"/>
          </a:p>
        </p:txBody>
      </p:sp>
      <p:sp>
        <p:nvSpPr>
          <p:cNvPr id="5" name="Text 3"/>
          <p:cNvSpPr txBox="1"/>
          <p:nvPr/>
        </p:nvSpPr>
        <p:spPr>
          <a:xfrm>
            <a:off x="1152144" y="566928"/>
            <a:ext cx="10469880" cy="530352"/>
          </a:xfrm>
          <a:prstGeom prst="rect">
            <a:avLst/>
          </a:prstGeom>
          <a:noFill/>
          <a:ln/>
        </p:spPr>
        <p:txBody>
          <a:bodyPr wrap="square" lIns="0" tIns="0" rIns="0" bIns="0" rtlCol="0" anchor="ctr"/>
          <a:lstStyle/>
          <a:p>
            <a:pPr marL="0" indent="0">
              <a:buNone/>
            </a:pPr>
            <a:r>
              <a:rPr lang="en-US" sz="2500" b="1" dirty="0">
                <a:solidFill>
                  <a:srgbClr val="0E3A5C"/>
                </a:solidFill>
                <a:latin typeface="맑은 고딕" pitchFamily="34" charset="0"/>
                <a:ea typeface="맑은 고딕" pitchFamily="34" charset="-122"/>
                <a:cs typeface="맑은 고딕" pitchFamily="34" charset="-120"/>
              </a:rPr>
              <a:t>지표는 좋았지만 온도에서 편향이 남아 있었다</a:t>
            </a:r>
            <a:endParaRPr lang="en-US" sz="2500" dirty="0"/>
          </a:p>
        </p:txBody>
      </p:sp>
      <p:sp>
        <p:nvSpPr>
          <p:cNvPr id="6" name="Text 4"/>
          <p:cNvSpPr txBox="1"/>
          <p:nvPr/>
        </p:nvSpPr>
        <p:spPr>
          <a:xfrm>
            <a:off x="8686800" y="6519672"/>
            <a:ext cx="2926080" cy="274320"/>
          </a:xfrm>
          <a:prstGeom prst="rect">
            <a:avLst/>
          </a:prstGeom>
          <a:noFill/>
          <a:ln/>
        </p:spPr>
        <p:txBody>
          <a:bodyPr wrap="square" lIns="0" tIns="0" rIns="0" bIns="0" rtlCol="0" anchor="ctr"/>
          <a:lstStyle/>
          <a:p>
            <a:pPr marL="0" indent="0" algn="r">
              <a:buNone/>
            </a:pPr>
            <a:r>
              <a:rPr lang="en-US" sz="1000" dirty="0">
                <a:solidFill>
                  <a:srgbClr val="A8B4BE"/>
                </a:solidFill>
                <a:latin typeface="맑은 고딕" pitchFamily="34" charset="0"/>
                <a:ea typeface="맑은 고딕" pitchFamily="34" charset="-122"/>
                <a:cs typeface="맑은 고딕" pitchFamily="34" charset="-120"/>
              </a:rPr>
              <a:t>5. 모델 개선</a:t>
            </a:r>
            <a:endParaRPr lang="en-US" sz="1000" dirty="0"/>
          </a:p>
        </p:txBody>
      </p:sp>
      <p:sp>
        <p:nvSpPr>
          <p:cNvPr id="7" name="Text 5"/>
          <p:cNvSpPr txBox="1"/>
          <p:nvPr/>
        </p:nvSpPr>
        <p:spPr>
          <a:xfrm>
            <a:off x="566928" y="1298448"/>
            <a:ext cx="11064240" cy="274320"/>
          </a:xfrm>
          <a:prstGeom prst="rect">
            <a:avLst/>
          </a:prstGeom>
          <a:noFill/>
          <a:ln/>
        </p:spPr>
        <p:txBody>
          <a:bodyPr wrap="square" lIns="0" tIns="0" rIns="0" bIns="0" rtlCol="0" anchor="ctr"/>
          <a:lstStyle/>
          <a:p>
            <a:pPr marL="0" indent="0">
              <a:buNone/>
            </a:pPr>
            <a:r>
              <a:rPr lang="en-US" sz="1300" dirty="0">
                <a:solidFill>
                  <a:srgbClr val="5F6B78"/>
                </a:solidFill>
                <a:latin typeface="맑은 고딕" pitchFamily="34" charset="0"/>
                <a:ea typeface="맑은 고딕" pitchFamily="34" charset="-122"/>
                <a:cs typeface="맑은 고딕" pitchFamily="34" charset="-120"/>
              </a:rPr>
              <a:t>잔차 = 실제값 − 예측값. 0을 중심으로 특별한 모양 없이 퍼져 있어야 안정적인 예측이다.</a:t>
            </a:r>
            <a:endParaRPr lang="en-US" sz="13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64240" cy="2011680"/>
        </p:xfrm>
        <a:graphic>
          <a:graphicData uri="http://schemas.openxmlformats.org/drawingml/2006/table">
            <a:tbl>
              <a:tblPr/>
              <a:tblGrid>
                <a:gridCol w="237744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5577840">
                  <a:extLst>
                    <a:ext uri="{9D8B030D-6E8A-4147-A177-3AD203B41FA5}">
                      <a16:colId xmlns:a16="http://schemas.microsoft.com/office/drawing/2014/main" val="20002"/>
                    </a:ext>
                  </a:extLst>
                </a:gridCol>
              </a:tblGrid>
              <a:tr h="274320">
                <a:tc>
                  <a:txBody>
                    <a:bodyPr/>
                    <a:lstStyle/>
                    <a:p>
                      <a:pPr marL="0" indent="0" algn="ctr">
                        <a:buNone/>
                      </a:pPr>
                      <a:r>
                        <a:rPr lang="en-US" sz="1200" b="1" dirty="0">
                          <a:solidFill>
                            <a:srgbClr val="0E3A5C"/>
                          </a:solidFill>
                          <a:latin typeface="맑은 고딕" pitchFamily="34" charset="0"/>
                          <a:ea typeface="맑은 고딕" pitchFamily="34" charset="-122"/>
                          <a:cs typeface="맑은 고딕" pitchFamily="34" charset="-120"/>
                        </a:rPr>
                        <a:t>외기온 구간</a:t>
                      </a:r>
                      <a:endParaRPr lang="en-US" sz="1200" dirty="0">
                        <a:latin typeface="맑은 고딕" charset="0"/>
                        <a:ea typeface="맑은 고딕" charset="0"/>
                        <a:cs typeface="맑은 고딕" charset="0"/>
                      </a:endParaRPr>
                    </a:p>
                  </a:txBody>
                  <a:tcPr marL="76200" marR="76200" marT="76200" marB="762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200" b="1" dirty="0">
                          <a:solidFill>
                            <a:srgbClr val="0E3A5C"/>
                          </a:solidFill>
                          <a:latin typeface="맑은 고딕" pitchFamily="34" charset="0"/>
                          <a:ea typeface="맑은 고딕" pitchFamily="34" charset="-122"/>
                          <a:cs typeface="맑은 고딕" pitchFamily="34" charset="-120"/>
                        </a:rPr>
                        <a:t>기준 선형회귀 평균 잔차</a:t>
                      </a:r>
                      <a:endParaRPr lang="en-US" sz="1200" dirty="0">
                        <a:latin typeface="맑은 고딕" charset="0"/>
                        <a:ea typeface="맑은 고딕" charset="0"/>
                        <a:cs typeface="맑은 고딕" charset="0"/>
                      </a:endParaRPr>
                    </a:p>
                  </a:txBody>
                  <a:tcPr marL="76200" marR="76200" marT="76200" marB="762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200" b="1" dirty="0">
                          <a:solidFill>
                            <a:srgbClr val="0E3A5C"/>
                          </a:solidFill>
                          <a:latin typeface="맑은 고딕" pitchFamily="34" charset="0"/>
                          <a:ea typeface="맑은 고딕" pitchFamily="34" charset="-122"/>
                          <a:cs typeface="맑은 고딕" pitchFamily="34" charset="-120"/>
                        </a:rPr>
                        <a:t>해석</a:t>
                      </a:r>
                      <a:endParaRPr lang="en-US" sz="1200" dirty="0">
                        <a:latin typeface="맑은 고딕" charset="0"/>
                        <a:ea typeface="맑은 고딕" charset="0"/>
                        <a:cs typeface="맑은 고딕" charset="0"/>
                      </a:endParaRPr>
                    </a:p>
                  </a:txBody>
                  <a:tcPr marL="76200" marR="76200" marT="76200" marB="762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extLst>
                  <a:ext uri="{0D108BD9-81ED-4DB2-BD59-A6C34878D82A}">
                    <a16:rowId xmlns:a16="http://schemas.microsoft.com/office/drawing/2014/main" val="10000"/>
                  </a:ext>
                </a:extLst>
              </a:tr>
              <a:tr h="274320">
                <a:tc>
                  <a:txBody>
                    <a:bodyPr/>
                    <a:lstStyle/>
                    <a:p>
                      <a:pPr marL="0" indent="0" algn="l">
                        <a:buNone/>
                      </a:pPr>
                      <a:r>
                        <a:rPr lang="en-US" sz="1200" dirty="0">
                          <a:solidFill>
                            <a:srgbClr val="1A1A1A"/>
                          </a:solidFill>
                          <a:latin typeface="맑은 고딕" pitchFamily="34" charset="0"/>
                          <a:ea typeface="맑은 고딕" pitchFamily="34" charset="-122"/>
                          <a:cs typeface="맑은 고딕" pitchFamily="34" charset="-120"/>
                        </a:rPr>
                        <a:t>0°C 미만</a:t>
                      </a:r>
                      <a:endParaRPr lang="en-US" sz="1200" dirty="0">
                        <a:latin typeface="맑은 고딕" charset="0"/>
                        <a:ea typeface="맑은 고딕" charset="0"/>
                        <a:cs typeface="맑은 고딕" charset="0"/>
                      </a:endParaRPr>
                    </a:p>
                  </a:txBody>
                  <a:tcPr marL="76200" marR="76200" marT="76200" marB="762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00" dirty="0">
                          <a:solidFill>
                            <a:srgbClr val="1A1A1A"/>
                          </a:solidFill>
                          <a:latin typeface="맑은 고딕" pitchFamily="34" charset="0"/>
                          <a:ea typeface="맑은 고딕" pitchFamily="34" charset="-122"/>
                          <a:cs typeface="맑은 고딕" pitchFamily="34" charset="-120"/>
                        </a:rPr>
                        <a:t>+0.655</a:t>
                      </a:r>
                      <a:endParaRPr lang="en-US" sz="1200" dirty="0">
                        <a:latin typeface="맑은 고딕" charset="0"/>
                        <a:ea typeface="맑은 고딕" charset="0"/>
                        <a:cs typeface="맑은 고딕" charset="0"/>
                      </a:endParaRPr>
                    </a:p>
                  </a:txBody>
                  <a:tcPr marL="76200" marR="76200" marT="76200" marB="762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맑은 고딕" pitchFamily="34" charset="0"/>
                          <a:ea typeface="맑은 고딕" pitchFamily="34" charset="-122"/>
                          <a:cs typeface="맑은 고딕" pitchFamily="34" charset="-120"/>
                        </a:rPr>
                        <a:t>실제보다 낮게 예측 (과소예측)</a:t>
                      </a:r>
                      <a:endParaRPr lang="en-US" sz="1200" dirty="0">
                        <a:latin typeface="맑은 고딕" charset="0"/>
                        <a:ea typeface="맑은 고딕" charset="0"/>
                        <a:cs typeface="맑은 고딕" charset="0"/>
                      </a:endParaRPr>
                    </a:p>
                  </a:txBody>
                  <a:tcPr marL="76200" marR="76200" marT="76200" marB="762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l">
                        <a:buNone/>
                      </a:pPr>
                      <a:r>
                        <a:rPr lang="en-US" sz="1200" dirty="0">
                          <a:solidFill>
                            <a:srgbClr val="1A1A1A"/>
                          </a:solidFill>
                          <a:latin typeface="맑은 고딕" pitchFamily="34" charset="0"/>
                          <a:ea typeface="맑은 고딕" pitchFamily="34" charset="-122"/>
                          <a:cs typeface="맑은 고딕" pitchFamily="34" charset="-120"/>
                        </a:rPr>
                        <a:t>0 ~ 10°C</a:t>
                      </a:r>
                      <a:endParaRPr lang="en-US" sz="1200" dirty="0">
                        <a:latin typeface="맑은 고딕" charset="0"/>
                        <a:ea typeface="맑은 고딕" charset="0"/>
                        <a:cs typeface="맑은 고딕" charset="0"/>
                      </a:endParaRPr>
                    </a:p>
                  </a:txBody>
                  <a:tcPr marL="76200" marR="76200" marT="76200" marB="762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00" dirty="0">
                          <a:solidFill>
                            <a:srgbClr val="1A1A1A"/>
                          </a:solidFill>
                          <a:latin typeface="맑은 고딕" pitchFamily="34" charset="0"/>
                          <a:ea typeface="맑은 고딕" pitchFamily="34" charset="-122"/>
                          <a:cs typeface="맑은 고딕" pitchFamily="34" charset="-120"/>
                        </a:rPr>
                        <a:t>-0.390</a:t>
                      </a:r>
                      <a:endParaRPr lang="en-US" sz="1200" dirty="0">
                        <a:latin typeface="맑은 고딕" charset="0"/>
                        <a:ea typeface="맑은 고딕" charset="0"/>
                        <a:cs typeface="맑은 고딕" charset="0"/>
                      </a:endParaRPr>
                    </a:p>
                  </a:txBody>
                  <a:tcPr marL="76200" marR="76200" marT="76200" marB="762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맑은 고딕" pitchFamily="34" charset="0"/>
                          <a:ea typeface="맑은 고딕" pitchFamily="34" charset="-122"/>
                          <a:cs typeface="맑은 고딕" pitchFamily="34" charset="-120"/>
                        </a:rPr>
                        <a:t>실제보다 높게 예측</a:t>
                      </a:r>
                      <a:endParaRPr lang="en-US" sz="1200" dirty="0">
                        <a:latin typeface="맑은 고딕" charset="0"/>
                        <a:ea typeface="맑은 고딕" charset="0"/>
                        <a:cs typeface="맑은 고딕" charset="0"/>
                      </a:endParaRPr>
                    </a:p>
                  </a:txBody>
                  <a:tcPr marL="76200" marR="76200" marT="76200" marB="762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200" dirty="0">
                          <a:solidFill>
                            <a:srgbClr val="1A1A1A"/>
                          </a:solidFill>
                          <a:latin typeface="맑은 고딕" pitchFamily="34" charset="0"/>
                          <a:ea typeface="맑은 고딕" pitchFamily="34" charset="-122"/>
                          <a:cs typeface="맑은 고딕" pitchFamily="34" charset="-120"/>
                        </a:rPr>
                        <a:t>10 ~ 20°C</a:t>
                      </a:r>
                      <a:endParaRPr lang="en-US" sz="1200" dirty="0">
                        <a:latin typeface="맑은 고딕" charset="0"/>
                        <a:ea typeface="맑은 고딕" charset="0"/>
                        <a:cs typeface="맑은 고딕" charset="0"/>
                      </a:endParaRPr>
                    </a:p>
                  </a:txBody>
                  <a:tcPr marL="76200" marR="76200" marT="76200" marB="762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00" dirty="0">
                          <a:solidFill>
                            <a:srgbClr val="1A1A1A"/>
                          </a:solidFill>
                          <a:latin typeface="맑은 고딕" pitchFamily="34" charset="0"/>
                          <a:ea typeface="맑은 고딕" pitchFamily="34" charset="-122"/>
                          <a:cs typeface="맑은 고딕" pitchFamily="34" charset="-120"/>
                        </a:rPr>
                        <a:t>-0.700</a:t>
                      </a:r>
                      <a:endParaRPr lang="en-US" sz="1200" dirty="0">
                        <a:latin typeface="맑은 고딕" charset="0"/>
                        <a:ea typeface="맑은 고딕" charset="0"/>
                        <a:cs typeface="맑은 고딕" charset="0"/>
                      </a:endParaRPr>
                    </a:p>
                  </a:txBody>
                  <a:tcPr marL="76200" marR="76200" marT="76200" marB="762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맑은 고딕" pitchFamily="34" charset="0"/>
                          <a:ea typeface="맑은 고딕" pitchFamily="34" charset="-122"/>
                          <a:cs typeface="맑은 고딕" pitchFamily="34" charset="-120"/>
                        </a:rPr>
                        <a:t>실제보다 높게 예측 — 편향 최대</a:t>
                      </a:r>
                      <a:endParaRPr lang="en-US" sz="1200" dirty="0">
                        <a:latin typeface="맑은 고딕" charset="0"/>
                        <a:ea typeface="맑은 고딕" charset="0"/>
                        <a:cs typeface="맑은 고딕" charset="0"/>
                      </a:endParaRPr>
                    </a:p>
                  </a:txBody>
                  <a:tcPr marL="76200" marR="76200" marT="76200" marB="762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lgn="l">
                        <a:buNone/>
                      </a:pPr>
                      <a:r>
                        <a:rPr lang="en-US" sz="1200" dirty="0">
                          <a:solidFill>
                            <a:srgbClr val="1A1A1A"/>
                          </a:solidFill>
                          <a:latin typeface="맑은 고딕" pitchFamily="34" charset="0"/>
                          <a:ea typeface="맑은 고딕" pitchFamily="34" charset="-122"/>
                          <a:cs typeface="맑은 고딕" pitchFamily="34" charset="-120"/>
                        </a:rPr>
                        <a:t>20 ~ 30°C</a:t>
                      </a:r>
                      <a:endParaRPr lang="en-US" sz="1200" dirty="0">
                        <a:latin typeface="맑은 고딕" charset="0"/>
                        <a:ea typeface="맑은 고딕" charset="0"/>
                        <a:cs typeface="맑은 고딕" charset="0"/>
                      </a:endParaRPr>
                    </a:p>
                  </a:txBody>
                  <a:tcPr marL="76200" marR="76200" marT="76200" marB="762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00" dirty="0">
                          <a:solidFill>
                            <a:srgbClr val="1A1A1A"/>
                          </a:solidFill>
                          <a:latin typeface="맑은 고딕" pitchFamily="34" charset="0"/>
                          <a:ea typeface="맑은 고딕" pitchFamily="34" charset="-122"/>
                          <a:cs typeface="맑은 고딕" pitchFamily="34" charset="-120"/>
                        </a:rPr>
                        <a:t>-0.186</a:t>
                      </a:r>
                      <a:endParaRPr lang="en-US" sz="1200" dirty="0">
                        <a:latin typeface="맑은 고딕" charset="0"/>
                        <a:ea typeface="맑은 고딕" charset="0"/>
                        <a:cs typeface="맑은 고딕" charset="0"/>
                      </a:endParaRPr>
                    </a:p>
                  </a:txBody>
                  <a:tcPr marL="76200" marR="76200" marT="76200" marB="762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맑은 고딕" pitchFamily="34" charset="0"/>
                          <a:ea typeface="맑은 고딕" pitchFamily="34" charset="-122"/>
                          <a:cs typeface="맑은 고딕" pitchFamily="34" charset="-120"/>
                        </a:rPr>
                        <a:t>실제보다 높게 예측</a:t>
                      </a:r>
                      <a:endParaRPr lang="en-US" sz="1200" dirty="0">
                        <a:latin typeface="맑은 고딕" charset="0"/>
                        <a:ea typeface="맑은 고딕" charset="0"/>
                        <a:cs typeface="맑은 고딕" charset="0"/>
                      </a:endParaRPr>
                    </a:p>
                  </a:txBody>
                  <a:tcPr marL="76200" marR="76200" marT="76200" marB="762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74320">
                <a:tc>
                  <a:txBody>
                    <a:bodyPr/>
                    <a:lstStyle/>
                    <a:p>
                      <a:pPr marL="0" indent="0" algn="l">
                        <a:buNone/>
                      </a:pPr>
                      <a:r>
                        <a:rPr lang="en-US" sz="1200" dirty="0">
                          <a:solidFill>
                            <a:srgbClr val="1A1A1A"/>
                          </a:solidFill>
                          <a:latin typeface="맑은 고딕" pitchFamily="34" charset="0"/>
                          <a:ea typeface="맑은 고딕" pitchFamily="34" charset="-122"/>
                          <a:cs typeface="맑은 고딕" pitchFamily="34" charset="-120"/>
                        </a:rPr>
                        <a:t>30°C 초과</a:t>
                      </a:r>
                      <a:endParaRPr lang="en-US" sz="1200" dirty="0">
                        <a:latin typeface="맑은 고딕" charset="0"/>
                        <a:ea typeface="맑은 고딕" charset="0"/>
                        <a:cs typeface="맑은 고딕" charset="0"/>
                      </a:endParaRPr>
                    </a:p>
                  </a:txBody>
                  <a:tcPr marL="76200" marR="76200" marT="76200" marB="762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00" dirty="0">
                          <a:solidFill>
                            <a:srgbClr val="1A1A1A"/>
                          </a:solidFill>
                          <a:latin typeface="맑은 고딕" pitchFamily="34" charset="0"/>
                          <a:ea typeface="맑은 고딕" pitchFamily="34" charset="-122"/>
                          <a:cs typeface="맑은 고딕" pitchFamily="34" charset="-120"/>
                        </a:rPr>
                        <a:t>+0.575</a:t>
                      </a:r>
                      <a:endParaRPr lang="en-US" sz="1200" dirty="0">
                        <a:latin typeface="맑은 고딕" charset="0"/>
                        <a:ea typeface="맑은 고딕" charset="0"/>
                        <a:cs typeface="맑은 고딕" charset="0"/>
                      </a:endParaRPr>
                    </a:p>
                  </a:txBody>
                  <a:tcPr marL="76200" marR="76200" marT="76200" marB="762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맑은 고딕" pitchFamily="34" charset="0"/>
                          <a:ea typeface="맑은 고딕" pitchFamily="34" charset="-122"/>
                          <a:cs typeface="맑은 고딕" pitchFamily="34" charset="-120"/>
                        </a:rPr>
                        <a:t>실제보다 낮게 예측 (과소예측)</a:t>
                      </a:r>
                      <a:endParaRPr lang="en-US" sz="1200" dirty="0">
                        <a:latin typeface="맑은 고딕" charset="0"/>
                        <a:ea typeface="맑은 고딕" charset="0"/>
                        <a:cs typeface="맑은 고딕" charset="0"/>
                      </a:endParaRPr>
                    </a:p>
                  </a:txBody>
                  <a:tcPr marL="76200" marR="76200" marT="76200" marB="762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Shape 6"/>
          <p:cNvSpPr/>
          <p:nvPr/>
        </p:nvSpPr>
        <p:spPr>
          <a:xfrm>
            <a:off x="566928" y="3794760"/>
            <a:ext cx="11064240" cy="1097280"/>
          </a:xfrm>
          <a:prstGeom prst="roundRect">
            <a:avLst>
              <a:gd name="adj" fmla="val 4167"/>
            </a:avLst>
          </a:prstGeom>
          <a:solidFill>
            <a:srgbClr val="FFFFFF"/>
          </a:solidFill>
          <a:ln w="12700">
            <a:solidFill>
              <a:srgbClr val="C0392B"/>
            </a:solidFill>
            <a:prstDash val="solid"/>
          </a:ln>
        </p:spPr>
        <p:txBody>
          <a:bodyPr/>
          <a:lstStyle/>
          <a:p>
            <a:endParaRPr lang="ko-KR" altLang="en-US"/>
          </a:p>
        </p:txBody>
      </p:sp>
      <p:sp>
        <p:nvSpPr>
          <p:cNvPr id="10" name="Text 7"/>
          <p:cNvSpPr txBox="1"/>
          <p:nvPr/>
        </p:nvSpPr>
        <p:spPr>
          <a:xfrm>
            <a:off x="822960" y="3950208"/>
            <a:ext cx="10515600" cy="310896"/>
          </a:xfrm>
          <a:prstGeom prst="rect">
            <a:avLst/>
          </a:prstGeom>
          <a:noFill/>
          <a:ln/>
        </p:spPr>
        <p:txBody>
          <a:bodyPr wrap="square" lIns="0" tIns="0" rIns="0" bIns="0" rtlCol="0" anchor="ctr"/>
          <a:lstStyle/>
          <a:p>
            <a:pPr marL="0" indent="0">
              <a:buNone/>
            </a:pPr>
            <a:r>
              <a:rPr lang="en-US" sz="1600" b="1" dirty="0">
                <a:solidFill>
                  <a:srgbClr val="C0392B"/>
                </a:solidFill>
                <a:latin typeface="맑은 고딕" pitchFamily="34" charset="0"/>
                <a:ea typeface="맑은 고딕" pitchFamily="34" charset="-122"/>
                <a:cs typeface="맑은 고딕" pitchFamily="34" charset="-120"/>
              </a:rPr>
              <a:t>이것은 무작위 오차가 아니다</a:t>
            </a:r>
            <a:endParaRPr lang="en-US" sz="1600" dirty="0"/>
          </a:p>
        </p:txBody>
      </p:sp>
      <p:sp>
        <p:nvSpPr>
          <p:cNvPr id="11" name="Text 8"/>
          <p:cNvSpPr txBox="1"/>
          <p:nvPr/>
        </p:nvSpPr>
        <p:spPr>
          <a:xfrm>
            <a:off x="822960" y="4297680"/>
            <a:ext cx="10515600" cy="530352"/>
          </a:xfrm>
          <a:prstGeom prst="rect">
            <a:avLst/>
          </a:prstGeom>
          <a:noFill/>
          <a:ln/>
        </p:spPr>
        <p:txBody>
          <a:bodyPr wrap="square" lIns="0" tIns="0" rIns="0" bIns="0" rtlCol="0" anchor="ctr"/>
          <a:lstStyle/>
          <a:p>
            <a:pPr marL="0" indent="0">
              <a:lnSpc>
                <a:spcPts val="1800"/>
              </a:lnSpc>
              <a:buNone/>
            </a:pPr>
            <a:r>
              <a:rPr lang="en-US" sz="1300" dirty="0">
                <a:solidFill>
                  <a:srgbClr val="1A1A1A"/>
                </a:solidFill>
                <a:latin typeface="맑은 고딕" pitchFamily="34" charset="0"/>
                <a:ea typeface="맑은 고딕" pitchFamily="34" charset="-122"/>
                <a:cs typeface="맑은 고딕" pitchFamily="34" charset="-120"/>
              </a:rPr>
              <a:t>저온과 고온에서 양수, 중간 온도에서 음수인 U자형이다. 특정 조건에서 모델이 일관되게 같은 방향으로 틀리고 있다는 뜻이며, 이는 데이터의 잡음이 아니라 모델 구조의 문제다.</a:t>
            </a:r>
            <a:endParaRPr lang="en-US" sz="1300" dirty="0"/>
          </a:p>
        </p:txBody>
      </p:sp>
      <p:sp>
        <p:nvSpPr>
          <p:cNvPr id="12" name="Shape 9"/>
          <p:cNvSpPr/>
          <p:nvPr/>
        </p:nvSpPr>
        <p:spPr>
          <a:xfrm>
            <a:off x="566928" y="5074920"/>
            <a:ext cx="11064240" cy="1051560"/>
          </a:xfrm>
          <a:prstGeom prst="roundRect">
            <a:avLst>
              <a:gd name="adj" fmla="val 4348"/>
            </a:avLst>
          </a:prstGeom>
          <a:solidFill>
            <a:srgbClr val="D8E8F0"/>
          </a:solidFill>
          <a:ln w="12700">
            <a:solidFill>
              <a:srgbClr val="1C7293"/>
            </a:solidFill>
            <a:prstDash val="solid"/>
          </a:ln>
        </p:spPr>
        <p:txBody>
          <a:bodyPr/>
          <a:lstStyle/>
          <a:p>
            <a:endParaRPr lang="ko-KR" altLang="en-US"/>
          </a:p>
        </p:txBody>
      </p:sp>
      <p:sp>
        <p:nvSpPr>
          <p:cNvPr id="13" name="Text 10"/>
          <p:cNvSpPr txBox="1"/>
          <p:nvPr/>
        </p:nvSpPr>
        <p:spPr>
          <a:xfrm>
            <a:off x="804672" y="5074920"/>
            <a:ext cx="10588752" cy="1051560"/>
          </a:xfrm>
          <a:prstGeom prst="rect">
            <a:avLst/>
          </a:prstGeom>
          <a:noFill/>
          <a:ln/>
        </p:spPr>
        <p:txBody>
          <a:bodyPr wrap="square" lIns="0" tIns="0" rIns="0" bIns="0" rtlCol="0" anchor="ctr"/>
          <a:lstStyle/>
          <a:p>
            <a:pPr marL="0" indent="0">
              <a:lnSpc>
                <a:spcPts val="1900"/>
              </a:lnSpc>
              <a:buNone/>
            </a:pPr>
            <a:r>
              <a:rPr lang="en-US" sz="1350" b="1" dirty="0">
                <a:solidFill>
                  <a:srgbClr val="0E3A5C"/>
                </a:solidFill>
                <a:latin typeface="맑은 고딕" pitchFamily="34" charset="0"/>
                <a:ea typeface="맑은 고딕" pitchFamily="34" charset="-122"/>
                <a:cs typeface="맑은 고딕" pitchFamily="34" charset="-120"/>
              </a:rPr>
              <a:t>EDA와 연결하면   </a:t>
            </a:r>
            <a:r>
              <a:rPr lang="en-US" sz="1350" dirty="0">
                <a:solidFill>
                  <a:srgbClr val="1A1A1A"/>
                </a:solidFill>
                <a:latin typeface="맑은 고딕" pitchFamily="34" charset="0"/>
                <a:ea typeface="맑은 고딕" pitchFamily="34" charset="-122"/>
                <a:cs typeface="맑은 고딕" pitchFamily="34" charset="-120"/>
              </a:rPr>
              <a:t>3부에서 본 외기온의 U자형 관계가 원인이다. 기준 선형회귀는 ambient_temp_C 하나에 계수 -0.0433을 곱할 뿐이므로, </a:t>
            </a:r>
            <a:r>
              <a:rPr lang="en-US" sz="1350" b="1" dirty="0">
                <a:solidFill>
                  <a:srgbClr val="1A1A1A"/>
                </a:solidFill>
                <a:latin typeface="맑은 고딕" pitchFamily="34" charset="0"/>
                <a:ea typeface="맑은 고딕" pitchFamily="34" charset="-122"/>
                <a:cs typeface="맑은 고딕" pitchFamily="34" charset="-120"/>
              </a:rPr>
              <a:t>올라갔다 내려갔다 하는 관계를 직선 하나로만 표현</a:t>
            </a:r>
            <a:r>
              <a:rPr lang="en-US" sz="1350" dirty="0">
                <a:solidFill>
                  <a:srgbClr val="1A1A1A"/>
                </a:solidFill>
                <a:latin typeface="맑은 고딕" pitchFamily="34" charset="0"/>
                <a:ea typeface="맑은 고딕" pitchFamily="34" charset="-122"/>
                <a:cs typeface="맑은 고딕" pitchFamily="34" charset="-120"/>
              </a:rPr>
              <a:t>할 수 있다. 구조적으로 불가능한 것을 요구한 셈이다.</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566928" y="365760"/>
            <a:ext cx="457200" cy="457200"/>
          </a:xfrm>
          <a:prstGeom prst="ellipse">
            <a:avLst/>
          </a:prstGeom>
          <a:solidFill>
            <a:srgbClr val="1C7293"/>
          </a:solidFill>
          <a:ln w="12700">
            <a:solidFill>
              <a:srgbClr val="1C7293"/>
            </a:solidFill>
            <a:prstDash val="solid"/>
          </a:ln>
        </p:spPr>
        <p:txBody>
          <a:bodyPr/>
          <a:lstStyle/>
          <a:p>
            <a:endParaRPr lang="ko-KR" altLang="en-US"/>
          </a:p>
        </p:txBody>
      </p:sp>
      <p:sp>
        <p:nvSpPr>
          <p:cNvPr id="3" name="Text 1"/>
          <p:cNvSpPr txBox="1"/>
          <p:nvPr/>
        </p:nvSpPr>
        <p:spPr>
          <a:xfrm>
            <a:off x="566928" y="3657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21</a:t>
            </a:r>
            <a:endParaRPr lang="en-US" sz="1600" dirty="0"/>
          </a:p>
        </p:txBody>
      </p:sp>
      <p:sp>
        <p:nvSpPr>
          <p:cNvPr id="4" name="Text 2"/>
          <p:cNvSpPr txBox="1"/>
          <p:nvPr/>
        </p:nvSpPr>
        <p:spPr>
          <a:xfrm>
            <a:off x="1152144" y="310896"/>
            <a:ext cx="10424160" cy="246888"/>
          </a:xfrm>
          <a:prstGeom prst="rect">
            <a:avLst/>
          </a:prstGeom>
          <a:noFill/>
          <a:ln/>
        </p:spPr>
        <p:txBody>
          <a:bodyPr wrap="square" lIns="0" tIns="0" rIns="0" bIns="0" rtlCol="0" anchor="ctr"/>
          <a:lstStyle/>
          <a:p>
            <a:pPr marL="0" indent="0">
              <a:buNone/>
            </a:pPr>
            <a:r>
              <a:rPr lang="en-US" sz="1150" b="1" kern="0" spc="100" dirty="0">
                <a:solidFill>
                  <a:srgbClr val="1C7293"/>
                </a:solidFill>
                <a:latin typeface="맑은 고딕" pitchFamily="34" charset="0"/>
                <a:ea typeface="맑은 고딕" pitchFamily="34" charset="-122"/>
                <a:cs typeface="맑은 고딕" pitchFamily="34" charset="-120"/>
              </a:rPr>
              <a:t>모델 개선 · 파생변수 설계</a:t>
            </a:r>
            <a:endParaRPr lang="en-US" sz="1150" dirty="0"/>
          </a:p>
        </p:txBody>
      </p:sp>
      <p:sp>
        <p:nvSpPr>
          <p:cNvPr id="5" name="Text 3"/>
          <p:cNvSpPr txBox="1"/>
          <p:nvPr/>
        </p:nvSpPr>
        <p:spPr>
          <a:xfrm>
            <a:off x="1152144" y="566928"/>
            <a:ext cx="10469880" cy="530352"/>
          </a:xfrm>
          <a:prstGeom prst="rect">
            <a:avLst/>
          </a:prstGeom>
          <a:noFill/>
          <a:ln/>
        </p:spPr>
        <p:txBody>
          <a:bodyPr wrap="square" lIns="0" tIns="0" rIns="0" bIns="0" rtlCol="0" anchor="ctr"/>
          <a:lstStyle/>
          <a:p>
            <a:pPr marL="0" indent="0">
              <a:buNone/>
            </a:pPr>
            <a:r>
              <a:rPr lang="en-US" sz="2500" b="1" dirty="0">
                <a:solidFill>
                  <a:srgbClr val="0E3A5C"/>
                </a:solidFill>
                <a:latin typeface="맑은 고딕" pitchFamily="34" charset="0"/>
                <a:ea typeface="맑은 고딕" pitchFamily="34" charset="-122"/>
                <a:cs typeface="맑은 고딕" pitchFamily="34" charset="-120"/>
              </a:rPr>
              <a:t>저온·고온 페널티를 파생변수로 만든다</a:t>
            </a:r>
            <a:endParaRPr lang="en-US" sz="2500" dirty="0"/>
          </a:p>
        </p:txBody>
      </p:sp>
      <p:sp>
        <p:nvSpPr>
          <p:cNvPr id="6" name="Text 4"/>
          <p:cNvSpPr txBox="1"/>
          <p:nvPr/>
        </p:nvSpPr>
        <p:spPr>
          <a:xfrm>
            <a:off x="8686800" y="6519672"/>
            <a:ext cx="2926080" cy="274320"/>
          </a:xfrm>
          <a:prstGeom prst="rect">
            <a:avLst/>
          </a:prstGeom>
          <a:noFill/>
          <a:ln/>
        </p:spPr>
        <p:txBody>
          <a:bodyPr wrap="square" lIns="0" tIns="0" rIns="0" bIns="0" rtlCol="0" anchor="ctr"/>
          <a:lstStyle/>
          <a:p>
            <a:pPr marL="0" indent="0" algn="r">
              <a:buNone/>
            </a:pPr>
            <a:r>
              <a:rPr lang="en-US" sz="1000" dirty="0">
                <a:solidFill>
                  <a:srgbClr val="A8B4BE"/>
                </a:solidFill>
                <a:latin typeface="맑은 고딕" pitchFamily="34" charset="0"/>
                <a:ea typeface="맑은 고딕" pitchFamily="34" charset="-122"/>
                <a:cs typeface="맑은 고딕" pitchFamily="34" charset="-120"/>
              </a:rPr>
              <a:t>5. 모델 개선</a:t>
            </a:r>
            <a:endParaRPr lang="en-US" sz="1000" dirty="0"/>
          </a:p>
        </p:txBody>
      </p:sp>
      <p:sp>
        <p:nvSpPr>
          <p:cNvPr id="7" name="Shape 5"/>
          <p:cNvSpPr/>
          <p:nvPr/>
        </p:nvSpPr>
        <p:spPr>
          <a:xfrm>
            <a:off x="566928" y="1325880"/>
            <a:ext cx="5394960" cy="1691640"/>
          </a:xfrm>
          <a:prstGeom prst="roundRect">
            <a:avLst>
              <a:gd name="adj" fmla="val 2703"/>
            </a:avLst>
          </a:prstGeom>
          <a:solidFill>
            <a:srgbClr val="D8E8F0"/>
          </a:solidFill>
          <a:ln w="12700">
            <a:solidFill>
              <a:srgbClr val="1C7293"/>
            </a:solidFill>
            <a:prstDash val="solid"/>
          </a:ln>
        </p:spPr>
        <p:txBody>
          <a:bodyPr/>
          <a:lstStyle/>
          <a:p>
            <a:endParaRPr lang="ko-KR" altLang="en-US"/>
          </a:p>
        </p:txBody>
      </p:sp>
      <p:sp>
        <p:nvSpPr>
          <p:cNvPr id="8" name="Text 6"/>
          <p:cNvSpPr txBox="1"/>
          <p:nvPr/>
        </p:nvSpPr>
        <p:spPr>
          <a:xfrm>
            <a:off x="804672" y="1481328"/>
            <a:ext cx="4937760" cy="292608"/>
          </a:xfrm>
          <a:prstGeom prst="rect">
            <a:avLst/>
          </a:prstGeom>
          <a:noFill/>
          <a:ln/>
        </p:spPr>
        <p:txBody>
          <a:bodyPr wrap="square" lIns="0" tIns="0" rIns="0" bIns="0" rtlCol="0" anchor="ctr"/>
          <a:lstStyle/>
          <a:p>
            <a:pPr marL="0" indent="0">
              <a:buNone/>
            </a:pPr>
            <a:r>
              <a:rPr lang="en-US" sz="1450" b="1" dirty="0">
                <a:solidFill>
                  <a:srgbClr val="0E3A5C"/>
                </a:solidFill>
                <a:latin typeface="맑은 고딕" pitchFamily="34" charset="0"/>
                <a:ea typeface="맑은 고딕" pitchFamily="34" charset="-122"/>
                <a:cs typeface="맑은 고딕" pitchFamily="34" charset="-120"/>
              </a:rPr>
              <a:t>파생변수 정의</a:t>
            </a:r>
            <a:endParaRPr lang="en-US" sz="1450" dirty="0"/>
          </a:p>
        </p:txBody>
      </p:sp>
      <p:sp>
        <p:nvSpPr>
          <p:cNvPr id="9" name="Text 7"/>
          <p:cNvSpPr txBox="1"/>
          <p:nvPr/>
        </p:nvSpPr>
        <p:spPr>
          <a:xfrm>
            <a:off x="804672" y="1828800"/>
            <a:ext cx="4937760" cy="603504"/>
          </a:xfrm>
          <a:prstGeom prst="rect">
            <a:avLst/>
          </a:prstGeom>
          <a:noFill/>
          <a:ln/>
        </p:spPr>
        <p:txBody>
          <a:bodyPr wrap="square" lIns="0" tIns="0" rIns="0" bIns="0" rtlCol="0" anchor="ctr"/>
          <a:lstStyle/>
          <a:p>
            <a:pPr marL="0" indent="0">
              <a:lnSpc>
                <a:spcPts val="1900"/>
              </a:lnSpc>
              <a:buNone/>
            </a:pPr>
            <a:r>
              <a:rPr lang="en-US" sz="1250" dirty="0">
                <a:solidFill>
                  <a:srgbClr val="1A1A1A"/>
                </a:solidFill>
                <a:latin typeface="맑은 고딕" pitchFamily="34" charset="0"/>
                <a:ea typeface="맑은 고딕" pitchFamily="34" charset="-122"/>
                <a:cs typeface="맑은 고딕" pitchFamily="34" charset="-120"/>
              </a:rPr>
              <a:t>cold_penalty = max(저온 기준 − 외기온, 0)</a:t>
            </a:r>
            <a:endParaRPr lang="en-US" sz="1250" dirty="0"/>
          </a:p>
          <a:p>
            <a:pPr marL="0" indent="0">
              <a:lnSpc>
                <a:spcPts val="1900"/>
              </a:lnSpc>
              <a:buNone/>
            </a:pPr>
            <a:r>
              <a:rPr lang="en-US" sz="1250" dirty="0">
                <a:solidFill>
                  <a:srgbClr val="1A1A1A"/>
                </a:solidFill>
                <a:latin typeface="맑은 고딕" pitchFamily="34" charset="0"/>
                <a:ea typeface="맑은 고딕" pitchFamily="34" charset="-122"/>
                <a:cs typeface="맑은 고딕" pitchFamily="34" charset="-120"/>
              </a:rPr>
              <a:t>hot_penalty  = max(외기온 − 고온 기준, 0)</a:t>
            </a:r>
            <a:endParaRPr lang="en-US" sz="1250" dirty="0"/>
          </a:p>
        </p:txBody>
      </p:sp>
      <p:sp>
        <p:nvSpPr>
          <p:cNvPr id="10" name="Text 8"/>
          <p:cNvSpPr txBox="1"/>
          <p:nvPr/>
        </p:nvSpPr>
        <p:spPr>
          <a:xfrm>
            <a:off x="804672" y="2468880"/>
            <a:ext cx="4937760" cy="457200"/>
          </a:xfrm>
          <a:prstGeom prst="rect">
            <a:avLst/>
          </a:prstGeom>
          <a:noFill/>
          <a:ln/>
        </p:spPr>
        <p:txBody>
          <a:bodyPr wrap="square" lIns="0" tIns="0" rIns="0" bIns="0" rtlCol="0" anchor="ctr"/>
          <a:lstStyle/>
          <a:p>
            <a:pPr marL="0" indent="0">
              <a:lnSpc>
                <a:spcPts val="1600"/>
              </a:lnSpc>
              <a:buNone/>
            </a:pPr>
            <a:r>
              <a:rPr lang="en-US" sz="1200" dirty="0">
                <a:solidFill>
                  <a:srgbClr val="5F6B78"/>
                </a:solidFill>
                <a:latin typeface="맑은 고딕" pitchFamily="34" charset="0"/>
                <a:ea typeface="맑은 고딕" pitchFamily="34" charset="-122"/>
                <a:cs typeface="맑은 고딕" pitchFamily="34" charset="-120"/>
              </a:rPr>
              <a:t>기준을 넘지 않으면 0이 되므로, 중간 온도 구간의 예측에는 영향을 주지 않는다.</a:t>
            </a:r>
            <a:endParaRPr lang="en-US" sz="1200" dirty="0"/>
          </a:p>
        </p:txBody>
      </p:sp>
      <p:sp>
        <p:nvSpPr>
          <p:cNvPr id="11" name="Shape 9"/>
          <p:cNvSpPr/>
          <p:nvPr/>
        </p:nvSpPr>
        <p:spPr>
          <a:xfrm>
            <a:off x="6236208" y="1325880"/>
            <a:ext cx="5394960" cy="1691640"/>
          </a:xfrm>
          <a:prstGeom prst="roundRect">
            <a:avLst>
              <a:gd name="adj" fmla="val 2703"/>
            </a:avLst>
          </a:prstGeom>
          <a:solidFill>
            <a:srgbClr val="FFFFFF"/>
          </a:solidFill>
          <a:ln w="12700">
            <a:solidFill>
              <a:srgbClr val="D8E8F0"/>
            </a:solidFill>
            <a:prstDash val="solid"/>
          </a:ln>
        </p:spPr>
        <p:txBody>
          <a:bodyPr/>
          <a:lstStyle/>
          <a:p>
            <a:endParaRPr lang="ko-KR" altLang="en-US"/>
          </a:p>
        </p:txBody>
      </p:sp>
      <p:sp>
        <p:nvSpPr>
          <p:cNvPr id="12" name="Text 10"/>
          <p:cNvSpPr txBox="1"/>
          <p:nvPr/>
        </p:nvSpPr>
        <p:spPr>
          <a:xfrm>
            <a:off x="6473952" y="1481328"/>
            <a:ext cx="4937760" cy="292608"/>
          </a:xfrm>
          <a:prstGeom prst="rect">
            <a:avLst/>
          </a:prstGeom>
          <a:noFill/>
          <a:ln/>
        </p:spPr>
        <p:txBody>
          <a:bodyPr wrap="square" lIns="0" tIns="0" rIns="0" bIns="0" rtlCol="0" anchor="ctr"/>
          <a:lstStyle/>
          <a:p>
            <a:pPr marL="0" indent="0">
              <a:buNone/>
            </a:pPr>
            <a:r>
              <a:rPr lang="en-US" sz="1450" b="1" dirty="0">
                <a:solidFill>
                  <a:srgbClr val="1C7293"/>
                </a:solidFill>
                <a:latin typeface="맑은 고딕" pitchFamily="34" charset="0"/>
                <a:ea typeface="맑은 고딕" pitchFamily="34" charset="-122"/>
                <a:cs typeface="맑은 고딕" pitchFamily="34" charset="-120"/>
              </a:rPr>
              <a:t>왜 이렇게 하면 U자형이 표현되나</a:t>
            </a:r>
            <a:endParaRPr lang="en-US" sz="1450" dirty="0"/>
          </a:p>
        </p:txBody>
      </p:sp>
      <p:sp>
        <p:nvSpPr>
          <p:cNvPr id="13" name="Text 11"/>
          <p:cNvSpPr txBox="1"/>
          <p:nvPr/>
        </p:nvSpPr>
        <p:spPr>
          <a:xfrm>
            <a:off x="6473952" y="1828800"/>
            <a:ext cx="4937760" cy="1051560"/>
          </a:xfrm>
          <a:prstGeom prst="rect">
            <a:avLst/>
          </a:prstGeom>
          <a:noFill/>
          <a:ln/>
        </p:spPr>
        <p:txBody>
          <a:bodyPr wrap="square" lIns="0" tIns="0" rIns="0" bIns="0" rtlCol="0" anchor="ctr"/>
          <a:lstStyle/>
          <a:p>
            <a:pPr marL="0" indent="0">
              <a:lnSpc>
                <a:spcPts val="1800"/>
              </a:lnSpc>
              <a:buNone/>
            </a:pPr>
            <a:r>
              <a:rPr lang="en-US" sz="1250" dirty="0">
                <a:solidFill>
                  <a:srgbClr val="1A1A1A"/>
                </a:solidFill>
                <a:latin typeface="맑은 고딕" pitchFamily="34" charset="0"/>
                <a:ea typeface="맑은 고딕" pitchFamily="34" charset="-122"/>
                <a:cs typeface="맑은 고딕" pitchFamily="34" charset="-120"/>
              </a:rPr>
              <a:t>저온 구간에서는 cold_penalty가 커지며 예측을 끌어올리고, 고온 구간에서는 hot_penalty가 같은 역할을 한다. 중간 구간은 둘 다 0이라 원래대로다.</a:t>
            </a:r>
            <a:endParaRPr lang="en-US" sz="1250" dirty="0"/>
          </a:p>
        </p:txBody>
      </p:sp>
      <p:sp>
        <p:nvSpPr>
          <p:cNvPr id="14" name="Text 12"/>
          <p:cNvSpPr txBox="1"/>
          <p:nvPr/>
        </p:nvSpPr>
        <p:spPr>
          <a:xfrm>
            <a:off x="566928" y="3200400"/>
            <a:ext cx="8229600" cy="292608"/>
          </a:xfrm>
          <a:prstGeom prst="rect">
            <a:avLst/>
          </a:prstGeom>
          <a:noFill/>
          <a:ln/>
        </p:spPr>
        <p:txBody>
          <a:bodyPr wrap="square" lIns="0" tIns="0" rIns="0" bIns="0" rtlCol="0" anchor="ctr"/>
          <a:lstStyle/>
          <a:p>
            <a:pPr marL="0" indent="0">
              <a:buNone/>
            </a:pPr>
            <a:r>
              <a:rPr lang="en-US" sz="1500" b="1" dirty="0">
                <a:solidFill>
                  <a:srgbClr val="0E3A5C"/>
                </a:solidFill>
                <a:latin typeface="맑은 고딕" pitchFamily="34" charset="0"/>
                <a:ea typeface="맑은 고딕" pitchFamily="34" charset="-122"/>
                <a:cs typeface="맑은 고딕" pitchFamily="34" charset="-120"/>
              </a:rPr>
              <a:t>기준 온도는 어떻게 정했나 — 학습 데이터를 다시 나눈 내부 검증</a:t>
            </a:r>
            <a:endParaRPr lang="en-US" sz="1500" dirty="0"/>
          </a:p>
        </p:txBody>
      </p:sp>
      <p:sp>
        <p:nvSpPr>
          <p:cNvPr id="15" name="Text 13"/>
          <p:cNvSpPr txBox="1"/>
          <p:nvPr/>
        </p:nvSpPr>
        <p:spPr>
          <a:xfrm>
            <a:off x="566928" y="3529584"/>
            <a:ext cx="11064240" cy="292608"/>
          </a:xfrm>
          <a:prstGeom prst="rect">
            <a:avLst/>
          </a:prstGeom>
          <a:noFill/>
          <a:ln/>
        </p:spPr>
        <p:txBody>
          <a:bodyPr wrap="square" lIns="0" tIns="0" rIns="0" bIns="0" rtlCol="0" anchor="ctr"/>
          <a:lstStyle/>
          <a:p>
            <a:pPr marL="0" indent="0">
              <a:buNone/>
            </a:pPr>
            <a:r>
              <a:rPr lang="en-US" sz="1250" dirty="0">
                <a:solidFill>
                  <a:srgbClr val="5F6B78"/>
                </a:solidFill>
                <a:latin typeface="맑은 고딕" pitchFamily="34" charset="0"/>
                <a:ea typeface="맑은 고딕" pitchFamily="34" charset="-122"/>
                <a:cs typeface="맑은 고딕" pitchFamily="34" charset="-120"/>
              </a:rPr>
              <a:t>학습 6,400건을 다시 8:2로 나눠 내부 검증셋을 만들고, 저온 후보 [5, 10, 15, 20] × 고온 후보 [25, 30, 35]의 12개 조합을 비교했다. 테스트 데이터는 사용하지 않았다.</a:t>
            </a:r>
            <a:endParaRPr lang="en-US" sz="12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66928" y="3877056"/>
          <a:ext cx="11064240" cy="1760220"/>
        </p:xfrm>
        <a:graphic>
          <a:graphicData uri="http://schemas.openxmlformats.org/drawingml/2006/table">
            <a:tbl>
              <a:tblPr/>
              <a:tblGrid>
                <a:gridCol w="10972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2103120">
                  <a:extLst>
                    <a:ext uri="{9D8B030D-6E8A-4147-A177-3AD203B41FA5}">
                      <a16:colId xmlns:a16="http://schemas.microsoft.com/office/drawing/2014/main" val="20004"/>
                    </a:ext>
                  </a:extLst>
                </a:gridCol>
                <a:gridCol w="2103120">
                  <a:extLst>
                    <a:ext uri="{9D8B030D-6E8A-4147-A177-3AD203B41FA5}">
                      <a16:colId xmlns:a16="http://schemas.microsoft.com/office/drawing/2014/main" val="20005"/>
                    </a:ext>
                  </a:extLst>
                </a:gridCol>
              </a:tblGrid>
              <a:tr h="237744">
                <a:tc>
                  <a:txBody>
                    <a:bodyPr/>
                    <a:lstStyle/>
                    <a:p>
                      <a:pPr marL="0" indent="0" algn="ctr">
                        <a:buNone/>
                      </a:pPr>
                      <a:r>
                        <a:rPr lang="en-US" sz="1150" b="1" dirty="0">
                          <a:solidFill>
                            <a:srgbClr val="0E3A5C"/>
                          </a:solidFill>
                          <a:latin typeface="맑은 고딕" pitchFamily="34" charset="0"/>
                          <a:ea typeface="맑은 고딕" pitchFamily="34" charset="-122"/>
                          <a:cs typeface="맑은 고딕" pitchFamily="34" charset="-120"/>
                        </a:rPr>
                        <a:t>순위</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150" b="1" dirty="0">
                          <a:solidFill>
                            <a:srgbClr val="0E3A5C"/>
                          </a:solidFill>
                          <a:latin typeface="맑은 고딕" pitchFamily="34" charset="0"/>
                          <a:ea typeface="맑은 고딕" pitchFamily="34" charset="-122"/>
                          <a:cs typeface="맑은 고딕" pitchFamily="34" charset="-120"/>
                        </a:rPr>
                        <a:t>저온 기준</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150" b="1" dirty="0">
                          <a:solidFill>
                            <a:srgbClr val="0E3A5C"/>
                          </a:solidFill>
                          <a:latin typeface="맑은 고딕" pitchFamily="34" charset="0"/>
                          <a:ea typeface="맑은 고딕" pitchFamily="34" charset="-122"/>
                          <a:cs typeface="맑은 고딕" pitchFamily="34" charset="-120"/>
                        </a:rPr>
                        <a:t>고온 기준</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150" b="1" dirty="0">
                          <a:solidFill>
                            <a:srgbClr val="0E3A5C"/>
                          </a:solidFill>
                          <a:latin typeface="맑은 고딕" pitchFamily="34" charset="0"/>
                          <a:ea typeface="맑은 고딕" pitchFamily="34" charset="-122"/>
                          <a:cs typeface="맑은 고딕" pitchFamily="34" charset="-120"/>
                        </a:rPr>
                        <a:t>검증 MAE</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150" b="1" dirty="0">
                          <a:solidFill>
                            <a:srgbClr val="0E3A5C"/>
                          </a:solidFill>
                          <a:latin typeface="맑은 고딕" pitchFamily="34" charset="0"/>
                          <a:ea typeface="맑은 고딕" pitchFamily="34" charset="-122"/>
                          <a:cs typeface="맑은 고딕" pitchFamily="34" charset="-120"/>
                        </a:rPr>
                        <a:t>검증 RMSE</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150" b="1" dirty="0">
                          <a:solidFill>
                            <a:srgbClr val="0E3A5C"/>
                          </a:solidFill>
                          <a:latin typeface="맑은 고딕" pitchFamily="34" charset="0"/>
                          <a:ea typeface="맑은 고딕" pitchFamily="34" charset="-122"/>
                          <a:cs typeface="맑은 고딕" pitchFamily="34" charset="-120"/>
                        </a:rPr>
                        <a:t>검증 R²</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extLst>
                  <a:ext uri="{0D108BD9-81ED-4DB2-BD59-A6C34878D82A}">
                    <a16:rowId xmlns:a16="http://schemas.microsoft.com/office/drawing/2014/main" val="10000"/>
                  </a:ext>
                </a:extLst>
              </a:tr>
              <a:tr h="237744">
                <a:tc>
                  <a:txBody>
                    <a:bodyPr/>
                    <a:lstStyle/>
                    <a:p>
                      <a:pPr marL="0" indent="0" algn="ctr">
                        <a:buNone/>
                      </a:pPr>
                      <a:r>
                        <a:rPr lang="en-US" sz="1150" b="1" dirty="0">
                          <a:solidFill>
                            <a:srgbClr val="0E3A5C"/>
                          </a:solidFill>
                          <a:latin typeface="맑은 고딕" pitchFamily="34" charset="0"/>
                          <a:ea typeface="맑은 고딕" pitchFamily="34" charset="-122"/>
                          <a:cs typeface="맑은 고딕" pitchFamily="34" charset="-120"/>
                        </a:rPr>
                        <a:t>1</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tc>
                  <a:txBody>
                    <a:bodyPr/>
                    <a:lstStyle/>
                    <a:p>
                      <a:pPr marL="0" indent="0" algn="ctr">
                        <a:buNone/>
                      </a:pPr>
                      <a:r>
                        <a:rPr lang="en-US" sz="1150" b="1" dirty="0">
                          <a:solidFill>
                            <a:srgbClr val="0E3A5C"/>
                          </a:solidFill>
                          <a:latin typeface="맑은 고딕" pitchFamily="34" charset="0"/>
                          <a:ea typeface="맑은 고딕" pitchFamily="34" charset="-122"/>
                          <a:cs typeface="맑은 고딕" pitchFamily="34" charset="-120"/>
                        </a:rPr>
                        <a:t>10°C</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tc>
                  <a:txBody>
                    <a:bodyPr/>
                    <a:lstStyle/>
                    <a:p>
                      <a:pPr marL="0" indent="0" algn="ctr">
                        <a:buNone/>
                      </a:pPr>
                      <a:r>
                        <a:rPr lang="en-US" sz="1150" b="1" dirty="0">
                          <a:solidFill>
                            <a:srgbClr val="0E3A5C"/>
                          </a:solidFill>
                          <a:latin typeface="맑은 고딕" pitchFamily="34" charset="0"/>
                          <a:ea typeface="맑은 고딕" pitchFamily="34" charset="-122"/>
                          <a:cs typeface="맑은 고딕" pitchFamily="34" charset="-120"/>
                        </a:rPr>
                        <a:t>30°C</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tc>
                  <a:txBody>
                    <a:bodyPr/>
                    <a:lstStyle/>
                    <a:p>
                      <a:pPr marL="0" indent="0" algn="r">
                        <a:buNone/>
                      </a:pPr>
                      <a:r>
                        <a:rPr lang="en-US" sz="1150" b="1" dirty="0">
                          <a:solidFill>
                            <a:srgbClr val="0E3A5C"/>
                          </a:solidFill>
                          <a:latin typeface="맑은 고딕" pitchFamily="34" charset="0"/>
                          <a:ea typeface="맑은 고딕" pitchFamily="34" charset="-122"/>
                          <a:cs typeface="맑은 고딕" pitchFamily="34" charset="-120"/>
                        </a:rPr>
                        <a:t>0.6168</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tc>
                  <a:txBody>
                    <a:bodyPr/>
                    <a:lstStyle/>
                    <a:p>
                      <a:pPr marL="0" indent="0" algn="r">
                        <a:buNone/>
                      </a:pPr>
                      <a:r>
                        <a:rPr lang="en-US" sz="1150" b="1" dirty="0">
                          <a:solidFill>
                            <a:srgbClr val="0E3A5C"/>
                          </a:solidFill>
                          <a:latin typeface="맑은 고딕" pitchFamily="34" charset="0"/>
                          <a:ea typeface="맑은 고딕" pitchFamily="34" charset="-122"/>
                          <a:cs typeface="맑은 고딕" pitchFamily="34" charset="-120"/>
                        </a:rPr>
                        <a:t>0.7806</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tc>
                  <a:txBody>
                    <a:bodyPr/>
                    <a:lstStyle/>
                    <a:p>
                      <a:pPr marL="0" indent="0" algn="r">
                        <a:buNone/>
                      </a:pPr>
                      <a:r>
                        <a:rPr lang="en-US" sz="1150" b="1" dirty="0">
                          <a:solidFill>
                            <a:srgbClr val="0E3A5C"/>
                          </a:solidFill>
                          <a:latin typeface="맑은 고딕" pitchFamily="34" charset="0"/>
                          <a:ea typeface="맑은 고딕" pitchFamily="34" charset="-122"/>
                          <a:cs typeface="맑은 고딕" pitchFamily="34" charset="-120"/>
                        </a:rPr>
                        <a:t>0.9547</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extLst>
                  <a:ext uri="{0D108BD9-81ED-4DB2-BD59-A6C34878D82A}">
                    <a16:rowId xmlns:a16="http://schemas.microsoft.com/office/drawing/2014/main" val="10001"/>
                  </a:ext>
                </a:extLst>
              </a:tr>
              <a:tr h="237744">
                <a:tc>
                  <a:txBody>
                    <a:bodyPr/>
                    <a:lstStyle/>
                    <a:p>
                      <a:pPr marL="0" indent="0" algn="ctr">
                        <a:buNone/>
                      </a:pPr>
                      <a:r>
                        <a:rPr lang="en-US" sz="1150" dirty="0">
                          <a:solidFill>
                            <a:srgbClr val="1A1A1A"/>
                          </a:solidFill>
                          <a:latin typeface="맑은 고딕" pitchFamily="34" charset="0"/>
                          <a:ea typeface="맑은 고딕" pitchFamily="34" charset="-122"/>
                          <a:cs typeface="맑은 고딕" pitchFamily="34" charset="-120"/>
                        </a:rPr>
                        <a:t>2</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맑은 고딕" pitchFamily="34" charset="0"/>
                          <a:ea typeface="맑은 고딕" pitchFamily="34" charset="-122"/>
                          <a:cs typeface="맑은 고딕" pitchFamily="34" charset="-120"/>
                        </a:rPr>
                        <a:t>10°C</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맑은 고딕" pitchFamily="34" charset="0"/>
                          <a:ea typeface="맑은 고딕" pitchFamily="34" charset="-122"/>
                          <a:cs typeface="맑은 고딕" pitchFamily="34" charset="-120"/>
                        </a:rPr>
                        <a:t>25°C</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1A1A"/>
                          </a:solidFill>
                          <a:latin typeface="맑은 고딕" pitchFamily="34" charset="0"/>
                          <a:ea typeface="맑은 고딕" pitchFamily="34" charset="-122"/>
                          <a:cs typeface="맑은 고딕" pitchFamily="34" charset="-120"/>
                        </a:rPr>
                        <a:t>0.6179</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1A1A"/>
                          </a:solidFill>
                          <a:latin typeface="맑은 고딕" pitchFamily="34" charset="0"/>
                          <a:ea typeface="맑은 고딕" pitchFamily="34" charset="-122"/>
                          <a:cs typeface="맑은 고딕" pitchFamily="34" charset="-120"/>
                        </a:rPr>
                        <a:t>0.7813</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1A1A"/>
                          </a:solidFill>
                          <a:latin typeface="맑은 고딕" pitchFamily="34" charset="0"/>
                          <a:ea typeface="맑은 고딕" pitchFamily="34" charset="-122"/>
                          <a:cs typeface="맑은 고딕" pitchFamily="34" charset="-120"/>
                        </a:rPr>
                        <a:t>0.9546</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37744">
                <a:tc>
                  <a:txBody>
                    <a:bodyPr/>
                    <a:lstStyle/>
                    <a:p>
                      <a:pPr marL="0" indent="0" algn="ctr">
                        <a:buNone/>
                      </a:pPr>
                      <a:r>
                        <a:rPr lang="en-US" sz="1150" dirty="0">
                          <a:solidFill>
                            <a:srgbClr val="1A1A1A"/>
                          </a:solidFill>
                          <a:latin typeface="맑은 고딕" pitchFamily="34" charset="0"/>
                          <a:ea typeface="맑은 고딕" pitchFamily="34" charset="-122"/>
                          <a:cs typeface="맑은 고딕" pitchFamily="34" charset="-120"/>
                        </a:rPr>
                        <a:t>3</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맑은 고딕" pitchFamily="34" charset="0"/>
                          <a:ea typeface="맑은 고딕" pitchFamily="34" charset="-122"/>
                          <a:cs typeface="맑은 고딕" pitchFamily="34" charset="-120"/>
                        </a:rPr>
                        <a:t>10°C</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맑은 고딕" pitchFamily="34" charset="0"/>
                          <a:ea typeface="맑은 고딕" pitchFamily="34" charset="-122"/>
                          <a:cs typeface="맑은 고딕" pitchFamily="34" charset="-120"/>
                        </a:rPr>
                        <a:t>35°C</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1A1A"/>
                          </a:solidFill>
                          <a:latin typeface="맑은 고딕" pitchFamily="34" charset="0"/>
                          <a:ea typeface="맑은 고딕" pitchFamily="34" charset="-122"/>
                          <a:cs typeface="맑은 고딕" pitchFamily="34" charset="-120"/>
                        </a:rPr>
                        <a:t>0.6173</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1A1A"/>
                          </a:solidFill>
                          <a:latin typeface="맑은 고딕" pitchFamily="34" charset="0"/>
                          <a:ea typeface="맑은 고딕" pitchFamily="34" charset="-122"/>
                          <a:cs typeface="맑은 고딕" pitchFamily="34" charset="-120"/>
                        </a:rPr>
                        <a:t>0.7840</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1A1A"/>
                          </a:solidFill>
                          <a:latin typeface="맑은 고딕" pitchFamily="34" charset="0"/>
                          <a:ea typeface="맑은 고딕" pitchFamily="34" charset="-122"/>
                          <a:cs typeface="맑은 고딕" pitchFamily="34" charset="-120"/>
                        </a:rPr>
                        <a:t>0.9543</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37744">
                <a:tc>
                  <a:txBody>
                    <a:bodyPr/>
                    <a:lstStyle/>
                    <a:p>
                      <a:pPr marL="0" indent="0" algn="ctr">
                        <a:buNone/>
                      </a:pPr>
                      <a:r>
                        <a:rPr lang="en-US" sz="1150" dirty="0">
                          <a:solidFill>
                            <a:srgbClr val="1A1A1A"/>
                          </a:solidFill>
                          <a:latin typeface="맑은 고딕" pitchFamily="34" charset="0"/>
                          <a:ea typeface="맑은 고딕" pitchFamily="34" charset="-122"/>
                          <a:cs typeface="맑은 고딕" pitchFamily="34" charset="-120"/>
                        </a:rPr>
                        <a:t>4</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맑은 고딕" pitchFamily="34" charset="0"/>
                          <a:ea typeface="맑은 고딕" pitchFamily="34" charset="-122"/>
                          <a:cs typeface="맑은 고딕" pitchFamily="34" charset="-120"/>
                        </a:rPr>
                        <a:t>5°C</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맑은 고딕" pitchFamily="34" charset="0"/>
                          <a:ea typeface="맑은 고딕" pitchFamily="34" charset="-122"/>
                          <a:cs typeface="맑은 고딕" pitchFamily="34" charset="-120"/>
                        </a:rPr>
                        <a:t>25°C</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1A1A"/>
                          </a:solidFill>
                          <a:latin typeface="맑은 고딕" pitchFamily="34" charset="0"/>
                          <a:ea typeface="맑은 고딕" pitchFamily="34" charset="-122"/>
                          <a:cs typeface="맑은 고딕" pitchFamily="34" charset="-120"/>
                        </a:rPr>
                        <a:t>0.6208</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1A1A"/>
                          </a:solidFill>
                          <a:latin typeface="맑은 고딕" pitchFamily="34" charset="0"/>
                          <a:ea typeface="맑은 고딕" pitchFamily="34" charset="-122"/>
                          <a:cs typeface="맑은 고딕" pitchFamily="34" charset="-120"/>
                        </a:rPr>
                        <a:t>0.7852</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1A1A"/>
                          </a:solidFill>
                          <a:latin typeface="맑은 고딕" pitchFamily="34" charset="0"/>
                          <a:ea typeface="맑은 고딕" pitchFamily="34" charset="-122"/>
                          <a:cs typeface="맑은 고딕" pitchFamily="34" charset="-120"/>
                        </a:rPr>
                        <a:t>0.9542</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37744">
                <a:tc>
                  <a:txBody>
                    <a:bodyPr/>
                    <a:lstStyle/>
                    <a:p>
                      <a:pPr marL="0" indent="0" algn="ctr">
                        <a:buNone/>
                      </a:pPr>
                      <a:r>
                        <a:rPr lang="en-US" sz="1150" dirty="0">
                          <a:solidFill>
                            <a:srgbClr val="1A1A1A"/>
                          </a:solidFill>
                          <a:latin typeface="맑은 고딕" pitchFamily="34" charset="0"/>
                          <a:ea typeface="맑은 고딕" pitchFamily="34" charset="-122"/>
                          <a:cs typeface="맑은 고딕" pitchFamily="34" charset="-120"/>
                        </a:rPr>
                        <a:t>…</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맑은 고딕" pitchFamily="34" charset="0"/>
                          <a:ea typeface="맑은 고딕" pitchFamily="34" charset="-122"/>
                          <a:cs typeface="맑은 고딕" pitchFamily="34" charset="-120"/>
                        </a:rPr>
                        <a:t>…</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맑은 고딕" pitchFamily="34" charset="0"/>
                          <a:ea typeface="맑은 고딕" pitchFamily="34" charset="-122"/>
                          <a:cs typeface="맑은 고딕" pitchFamily="34" charset="-120"/>
                        </a:rPr>
                        <a:t>…</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1A1A"/>
                          </a:solidFill>
                          <a:latin typeface="맑은 고딕" pitchFamily="34" charset="0"/>
                          <a:ea typeface="맑은 고딕" pitchFamily="34" charset="-122"/>
                          <a:cs typeface="맑은 고딕" pitchFamily="34" charset="-120"/>
                        </a:rPr>
                        <a:t>…</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1A1A"/>
                          </a:solidFill>
                          <a:latin typeface="맑은 고딕" pitchFamily="34" charset="0"/>
                          <a:ea typeface="맑은 고딕" pitchFamily="34" charset="-122"/>
                          <a:cs typeface="맑은 고딕" pitchFamily="34" charset="-120"/>
                        </a:rPr>
                        <a:t>…</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1A1A"/>
                          </a:solidFill>
                          <a:latin typeface="맑은 고딕" pitchFamily="34" charset="0"/>
                          <a:ea typeface="맑은 고딕" pitchFamily="34" charset="-122"/>
                          <a:cs typeface="맑은 고딕" pitchFamily="34" charset="-120"/>
                        </a:rPr>
                        <a:t>…</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37744">
                <a:tc>
                  <a:txBody>
                    <a:bodyPr/>
                    <a:lstStyle/>
                    <a:p>
                      <a:pPr marL="0" indent="0" algn="ctr">
                        <a:buNone/>
                      </a:pPr>
                      <a:r>
                        <a:rPr lang="en-US" sz="1150" dirty="0">
                          <a:solidFill>
                            <a:srgbClr val="1A1A1A"/>
                          </a:solidFill>
                          <a:latin typeface="맑은 고딕" pitchFamily="34" charset="0"/>
                          <a:ea typeface="맑은 고딕" pitchFamily="34" charset="-122"/>
                          <a:cs typeface="맑은 고딕" pitchFamily="34" charset="-120"/>
                        </a:rPr>
                        <a:t>12</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맑은 고딕" pitchFamily="34" charset="0"/>
                          <a:ea typeface="맑은 고딕" pitchFamily="34" charset="-122"/>
                          <a:cs typeface="맑은 고딕" pitchFamily="34" charset="-120"/>
                        </a:rPr>
                        <a:t>20°C</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맑은 고딕" pitchFamily="34" charset="0"/>
                          <a:ea typeface="맑은 고딕" pitchFamily="34" charset="-122"/>
                          <a:cs typeface="맑은 고딕" pitchFamily="34" charset="-120"/>
                        </a:rPr>
                        <a:t>35°C</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1A1A"/>
                          </a:solidFill>
                          <a:latin typeface="맑은 고딕" pitchFamily="34" charset="0"/>
                          <a:ea typeface="맑은 고딕" pitchFamily="34" charset="-122"/>
                          <a:cs typeface="맑은 고딕" pitchFamily="34" charset="-120"/>
                        </a:rPr>
                        <a:t>0.6477</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1A1A"/>
                          </a:solidFill>
                          <a:latin typeface="맑은 고딕" pitchFamily="34" charset="0"/>
                          <a:ea typeface="맑은 고딕" pitchFamily="34" charset="-122"/>
                          <a:cs typeface="맑은 고딕" pitchFamily="34" charset="-120"/>
                        </a:rPr>
                        <a:t>0.8124</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1A1A"/>
                          </a:solidFill>
                          <a:latin typeface="맑은 고딕" pitchFamily="34" charset="0"/>
                          <a:ea typeface="맑은 고딕" pitchFamily="34" charset="-122"/>
                          <a:cs typeface="맑은 고딕" pitchFamily="34" charset="-120"/>
                        </a:rPr>
                        <a:t>0.9510</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7" name="Shape 14"/>
          <p:cNvSpPr/>
          <p:nvPr/>
        </p:nvSpPr>
        <p:spPr>
          <a:xfrm>
            <a:off x="566928" y="5669280"/>
            <a:ext cx="11064240" cy="640080"/>
          </a:xfrm>
          <a:prstGeom prst="roundRect">
            <a:avLst>
              <a:gd name="adj" fmla="val 7143"/>
            </a:avLst>
          </a:prstGeom>
          <a:solidFill>
            <a:srgbClr val="D8E8F0"/>
          </a:solidFill>
          <a:ln w="12700">
            <a:solidFill>
              <a:srgbClr val="1C7293"/>
            </a:solidFill>
            <a:prstDash val="solid"/>
          </a:ln>
        </p:spPr>
        <p:txBody>
          <a:bodyPr/>
          <a:lstStyle/>
          <a:p>
            <a:endParaRPr lang="ko-KR" altLang="en-US"/>
          </a:p>
        </p:txBody>
      </p:sp>
      <p:sp>
        <p:nvSpPr>
          <p:cNvPr id="18" name="Text 15"/>
          <p:cNvSpPr txBox="1"/>
          <p:nvPr/>
        </p:nvSpPr>
        <p:spPr>
          <a:xfrm>
            <a:off x="804672" y="5669280"/>
            <a:ext cx="10588752" cy="640080"/>
          </a:xfrm>
          <a:prstGeom prst="rect">
            <a:avLst/>
          </a:prstGeom>
          <a:noFill/>
          <a:ln/>
        </p:spPr>
        <p:txBody>
          <a:bodyPr wrap="square" lIns="0" tIns="0" rIns="0" bIns="0" rtlCol="0" anchor="ctr"/>
          <a:lstStyle/>
          <a:p>
            <a:pPr marL="0" indent="0">
              <a:lnSpc>
                <a:spcPts val="1900"/>
              </a:lnSpc>
              <a:buNone/>
            </a:pPr>
            <a:r>
              <a:rPr lang="en-US" sz="1300" b="1" dirty="0">
                <a:solidFill>
                  <a:srgbClr val="0E3A5C"/>
                </a:solidFill>
                <a:latin typeface="맑은 고딕" pitchFamily="34" charset="0"/>
                <a:ea typeface="맑은 고딕" pitchFamily="34" charset="-122"/>
                <a:cs typeface="맑은 고딕" pitchFamily="34" charset="-120"/>
              </a:rPr>
              <a:t>선택   </a:t>
            </a:r>
            <a:r>
              <a:rPr lang="en-US" sz="1300" dirty="0">
                <a:solidFill>
                  <a:srgbClr val="1A1A1A"/>
                </a:solidFill>
                <a:latin typeface="맑은 고딕" pitchFamily="34" charset="0"/>
                <a:ea typeface="맑은 고딕" pitchFamily="34" charset="-122"/>
                <a:cs typeface="맑은 고딕" pitchFamily="34" charset="-120"/>
              </a:rPr>
              <a:t>검증 RMSE가 가장 낮은 저온 10°C · 고온 30°C를 채택했다. 순위 간 차이는 작아, 기준이 조금 달라도 결과가 크게 흔들리지 않는다.</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566928" y="365760"/>
            <a:ext cx="457200" cy="457200"/>
          </a:xfrm>
          <a:prstGeom prst="ellipse">
            <a:avLst/>
          </a:prstGeom>
          <a:solidFill>
            <a:srgbClr val="1C7293"/>
          </a:solidFill>
          <a:ln w="12700">
            <a:solidFill>
              <a:srgbClr val="1C7293"/>
            </a:solidFill>
            <a:prstDash val="solid"/>
          </a:ln>
        </p:spPr>
        <p:txBody>
          <a:bodyPr/>
          <a:lstStyle/>
          <a:p>
            <a:endParaRPr lang="ko-KR" altLang="en-US"/>
          </a:p>
        </p:txBody>
      </p:sp>
      <p:sp>
        <p:nvSpPr>
          <p:cNvPr id="3" name="Text 1"/>
          <p:cNvSpPr txBox="1"/>
          <p:nvPr/>
        </p:nvSpPr>
        <p:spPr>
          <a:xfrm>
            <a:off x="566928" y="3657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22</a:t>
            </a:r>
            <a:endParaRPr lang="en-US" sz="1600" dirty="0"/>
          </a:p>
        </p:txBody>
      </p:sp>
      <p:sp>
        <p:nvSpPr>
          <p:cNvPr id="4" name="Text 2"/>
          <p:cNvSpPr txBox="1"/>
          <p:nvPr/>
        </p:nvSpPr>
        <p:spPr>
          <a:xfrm>
            <a:off x="1152144" y="310896"/>
            <a:ext cx="10424160" cy="246888"/>
          </a:xfrm>
          <a:prstGeom prst="rect">
            <a:avLst/>
          </a:prstGeom>
          <a:noFill/>
          <a:ln/>
        </p:spPr>
        <p:txBody>
          <a:bodyPr wrap="square" lIns="0" tIns="0" rIns="0" bIns="0" rtlCol="0" anchor="ctr"/>
          <a:lstStyle/>
          <a:p>
            <a:pPr marL="0" indent="0">
              <a:buNone/>
            </a:pPr>
            <a:r>
              <a:rPr lang="en-US" sz="1150" b="1" kern="0" spc="100" dirty="0">
                <a:solidFill>
                  <a:srgbClr val="1C7293"/>
                </a:solidFill>
                <a:latin typeface="맑은 고딕" pitchFamily="34" charset="0"/>
                <a:ea typeface="맑은 고딕" pitchFamily="34" charset="-122"/>
                <a:cs typeface="맑은 고딕" pitchFamily="34" charset="-120"/>
              </a:rPr>
              <a:t>모델 개선 · 성능</a:t>
            </a:r>
            <a:endParaRPr lang="en-US" sz="1150" dirty="0"/>
          </a:p>
        </p:txBody>
      </p:sp>
      <p:sp>
        <p:nvSpPr>
          <p:cNvPr id="5" name="Text 3"/>
          <p:cNvSpPr txBox="1"/>
          <p:nvPr/>
        </p:nvSpPr>
        <p:spPr>
          <a:xfrm>
            <a:off x="1152144" y="566928"/>
            <a:ext cx="10469880" cy="530352"/>
          </a:xfrm>
          <a:prstGeom prst="rect">
            <a:avLst/>
          </a:prstGeom>
          <a:noFill/>
          <a:ln/>
        </p:spPr>
        <p:txBody>
          <a:bodyPr wrap="square" lIns="0" tIns="0" rIns="0" bIns="0" rtlCol="0" anchor="ctr"/>
          <a:lstStyle/>
          <a:p>
            <a:pPr marL="0" indent="0">
              <a:buNone/>
            </a:pPr>
            <a:r>
              <a:rPr lang="en-US" sz="2500" b="1" dirty="0">
                <a:solidFill>
                  <a:srgbClr val="0E3A5C"/>
                </a:solidFill>
                <a:latin typeface="맑은 고딕" pitchFamily="34" charset="0"/>
                <a:ea typeface="맑은 고딕" pitchFamily="34" charset="-122"/>
                <a:cs typeface="맑은 고딕" pitchFamily="34" charset="-120"/>
              </a:rPr>
              <a:t>개선 결과 — 네 모델 최종 비교</a:t>
            </a:r>
            <a:endParaRPr lang="en-US" sz="2500" dirty="0"/>
          </a:p>
        </p:txBody>
      </p:sp>
      <p:sp>
        <p:nvSpPr>
          <p:cNvPr id="6" name="Text 4"/>
          <p:cNvSpPr txBox="1"/>
          <p:nvPr/>
        </p:nvSpPr>
        <p:spPr>
          <a:xfrm>
            <a:off x="8686800" y="6519672"/>
            <a:ext cx="2926080" cy="274320"/>
          </a:xfrm>
          <a:prstGeom prst="rect">
            <a:avLst/>
          </a:prstGeom>
          <a:noFill/>
          <a:ln/>
        </p:spPr>
        <p:txBody>
          <a:bodyPr wrap="square" lIns="0" tIns="0" rIns="0" bIns="0" rtlCol="0" anchor="ctr"/>
          <a:lstStyle/>
          <a:p>
            <a:pPr marL="0" indent="0" algn="r">
              <a:buNone/>
            </a:pPr>
            <a:r>
              <a:rPr lang="en-US" sz="1000" dirty="0">
                <a:solidFill>
                  <a:srgbClr val="A8B4BE"/>
                </a:solidFill>
                <a:latin typeface="맑은 고딕" pitchFamily="34" charset="0"/>
                <a:ea typeface="맑은 고딕" pitchFamily="34" charset="-122"/>
                <a:cs typeface="맑은 고딕" pitchFamily="34" charset="-120"/>
              </a:rPr>
              <a:t>5. 모델 개선</a:t>
            </a:r>
            <a:endParaRPr lang="en-US" sz="1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66928" y="1325880"/>
          <a:ext cx="11064240" cy="1587500"/>
        </p:xfrm>
        <a:graphic>
          <a:graphicData uri="http://schemas.openxmlformats.org/drawingml/2006/table">
            <a:tbl>
              <a:tblPr/>
              <a:tblGrid>
                <a:gridCol w="33832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gridCol w="1325880">
                  <a:extLst>
                    <a:ext uri="{9D8B030D-6E8A-4147-A177-3AD203B41FA5}">
                      <a16:colId xmlns:a16="http://schemas.microsoft.com/office/drawing/2014/main" val="20004"/>
                    </a:ext>
                  </a:extLst>
                </a:gridCol>
                <a:gridCol w="1234440">
                  <a:extLst>
                    <a:ext uri="{9D8B030D-6E8A-4147-A177-3AD203B41FA5}">
                      <a16:colId xmlns:a16="http://schemas.microsoft.com/office/drawing/2014/main" val="20005"/>
                    </a:ext>
                  </a:extLst>
                </a:gridCol>
                <a:gridCol w="1234440">
                  <a:extLst>
                    <a:ext uri="{9D8B030D-6E8A-4147-A177-3AD203B41FA5}">
                      <a16:colId xmlns:a16="http://schemas.microsoft.com/office/drawing/2014/main" val="20006"/>
                    </a:ext>
                  </a:extLst>
                </a:gridCol>
              </a:tblGrid>
              <a:tr h="310896">
                <a:tc>
                  <a:txBody>
                    <a:bodyPr/>
                    <a:lstStyle/>
                    <a:p>
                      <a:pPr marL="0" indent="0" algn="ctr">
                        <a:buNone/>
                      </a:pPr>
                      <a:r>
                        <a:rPr lang="en-US" sz="1250" b="1" dirty="0">
                          <a:solidFill>
                            <a:srgbClr val="0E3A5C"/>
                          </a:solidFill>
                          <a:latin typeface="맑은 고딕" pitchFamily="34" charset="0"/>
                          <a:ea typeface="맑은 고딕" pitchFamily="34" charset="-122"/>
                          <a:cs typeface="맑은 고딕" pitchFamily="34" charset="-120"/>
                        </a:rPr>
                        <a:t>모델</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250" b="1" dirty="0">
                          <a:solidFill>
                            <a:srgbClr val="0E3A5C"/>
                          </a:solidFill>
                          <a:latin typeface="맑은 고딕" pitchFamily="34" charset="0"/>
                          <a:ea typeface="맑은 고딕" pitchFamily="34" charset="-122"/>
                          <a:cs typeface="맑은 고딕" pitchFamily="34" charset="-120"/>
                        </a:rPr>
                        <a:t>Train MAE</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250" b="1" dirty="0">
                          <a:solidFill>
                            <a:srgbClr val="0E3A5C"/>
                          </a:solidFill>
                          <a:latin typeface="맑은 고딕" pitchFamily="34" charset="0"/>
                          <a:ea typeface="맑은 고딕" pitchFamily="34" charset="-122"/>
                          <a:cs typeface="맑은 고딕" pitchFamily="34" charset="-120"/>
                        </a:rPr>
                        <a:t>Test MAE</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250" b="1" dirty="0">
                          <a:solidFill>
                            <a:srgbClr val="0E3A5C"/>
                          </a:solidFill>
                          <a:latin typeface="맑은 고딕" pitchFamily="34" charset="0"/>
                          <a:ea typeface="맑은 고딕" pitchFamily="34" charset="-122"/>
                          <a:cs typeface="맑은 고딕" pitchFamily="34" charset="-120"/>
                        </a:rPr>
                        <a:t>Train RMSE</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250" b="1" dirty="0">
                          <a:solidFill>
                            <a:srgbClr val="0E3A5C"/>
                          </a:solidFill>
                          <a:latin typeface="맑은 고딕" pitchFamily="34" charset="0"/>
                          <a:ea typeface="맑은 고딕" pitchFamily="34" charset="-122"/>
                          <a:cs typeface="맑은 고딕" pitchFamily="34" charset="-120"/>
                        </a:rPr>
                        <a:t>Test RMSE</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250" b="1" dirty="0">
                          <a:solidFill>
                            <a:srgbClr val="0E3A5C"/>
                          </a:solidFill>
                          <a:latin typeface="맑은 고딕" pitchFamily="34" charset="0"/>
                          <a:ea typeface="맑은 고딕" pitchFamily="34" charset="-122"/>
                          <a:cs typeface="맑은 고딕" pitchFamily="34" charset="-120"/>
                        </a:rPr>
                        <a:t>Train R²</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250" b="1" dirty="0">
                          <a:solidFill>
                            <a:srgbClr val="0E3A5C"/>
                          </a:solidFill>
                          <a:latin typeface="맑은 고딕" pitchFamily="34" charset="0"/>
                          <a:ea typeface="맑은 고딕" pitchFamily="34" charset="-122"/>
                          <a:cs typeface="맑은 고딕" pitchFamily="34" charset="-120"/>
                        </a:rPr>
                        <a:t>Test R²</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extLst>
                  <a:ext uri="{0D108BD9-81ED-4DB2-BD59-A6C34878D82A}">
                    <a16:rowId xmlns:a16="http://schemas.microsoft.com/office/drawing/2014/main" val="10000"/>
                  </a:ext>
                </a:extLst>
              </a:tr>
              <a:tr h="310896">
                <a:tc>
                  <a:txBody>
                    <a:bodyPr/>
                    <a:lstStyle/>
                    <a:p>
                      <a:pPr marL="0" indent="0" algn="l">
                        <a:buNone/>
                      </a:pPr>
                      <a:r>
                        <a:rPr lang="en-US" sz="1250" b="1" dirty="0">
                          <a:solidFill>
                            <a:srgbClr val="0E3A5C"/>
                          </a:solidFill>
                          <a:latin typeface="맑은 고딕" pitchFamily="34" charset="0"/>
                          <a:ea typeface="맑은 고딕" pitchFamily="34" charset="-122"/>
                          <a:cs typeface="맑은 고딕" pitchFamily="34" charset="-120"/>
                        </a:rPr>
                        <a:t>Improved Linear Regression</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tc>
                  <a:txBody>
                    <a:bodyPr/>
                    <a:lstStyle/>
                    <a:p>
                      <a:pPr marL="0" indent="0" algn="r">
                        <a:buNone/>
                      </a:pPr>
                      <a:r>
                        <a:rPr lang="en-US" sz="1250" b="1" dirty="0">
                          <a:solidFill>
                            <a:srgbClr val="0E3A5C"/>
                          </a:solidFill>
                          <a:latin typeface="맑은 고딕" pitchFamily="34" charset="0"/>
                          <a:ea typeface="맑은 고딕" pitchFamily="34" charset="-122"/>
                          <a:cs typeface="맑은 고딕" pitchFamily="34" charset="-120"/>
                        </a:rPr>
                        <a:t>0.6469</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tc>
                  <a:txBody>
                    <a:bodyPr/>
                    <a:lstStyle/>
                    <a:p>
                      <a:pPr marL="0" indent="0" algn="r">
                        <a:buNone/>
                      </a:pPr>
                      <a:r>
                        <a:rPr lang="en-US" sz="1250" b="1" dirty="0">
                          <a:solidFill>
                            <a:srgbClr val="0E3A5C"/>
                          </a:solidFill>
                          <a:latin typeface="맑은 고딕" pitchFamily="34" charset="0"/>
                          <a:ea typeface="맑은 고딕" pitchFamily="34" charset="-122"/>
                          <a:cs typeface="맑은 고딕" pitchFamily="34" charset="-120"/>
                        </a:rPr>
                        <a:t>0.6466</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tc>
                  <a:txBody>
                    <a:bodyPr/>
                    <a:lstStyle/>
                    <a:p>
                      <a:pPr marL="0" indent="0" algn="r">
                        <a:buNone/>
                      </a:pPr>
                      <a:r>
                        <a:rPr lang="en-US" sz="1250" b="1" dirty="0">
                          <a:solidFill>
                            <a:srgbClr val="0E3A5C"/>
                          </a:solidFill>
                          <a:latin typeface="맑은 고딕" pitchFamily="34" charset="0"/>
                          <a:ea typeface="맑은 고딕" pitchFamily="34" charset="-122"/>
                          <a:cs typeface="맑은 고딕" pitchFamily="34" charset="-120"/>
                        </a:rPr>
                        <a:t>0.8084</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tc>
                  <a:txBody>
                    <a:bodyPr/>
                    <a:lstStyle/>
                    <a:p>
                      <a:pPr marL="0" indent="0" algn="r">
                        <a:buNone/>
                      </a:pPr>
                      <a:r>
                        <a:rPr lang="en-US" sz="1250" b="1" dirty="0">
                          <a:solidFill>
                            <a:srgbClr val="0E3A5C"/>
                          </a:solidFill>
                          <a:latin typeface="맑은 고딕" pitchFamily="34" charset="0"/>
                          <a:ea typeface="맑은 고딕" pitchFamily="34" charset="-122"/>
                          <a:cs typeface="맑은 고딕" pitchFamily="34" charset="-120"/>
                        </a:rPr>
                        <a:t>0.8112</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tc>
                  <a:txBody>
                    <a:bodyPr/>
                    <a:lstStyle/>
                    <a:p>
                      <a:pPr marL="0" indent="0" algn="r">
                        <a:buNone/>
                      </a:pPr>
                      <a:r>
                        <a:rPr lang="en-US" sz="1250" b="1" dirty="0">
                          <a:solidFill>
                            <a:srgbClr val="0E3A5C"/>
                          </a:solidFill>
                          <a:latin typeface="맑은 고딕" pitchFamily="34" charset="0"/>
                          <a:ea typeface="맑은 고딕" pitchFamily="34" charset="-122"/>
                          <a:cs typeface="맑은 고딕" pitchFamily="34" charset="-120"/>
                        </a:rPr>
                        <a:t>0.9536</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tc>
                  <a:txBody>
                    <a:bodyPr/>
                    <a:lstStyle/>
                    <a:p>
                      <a:pPr marL="0" indent="0" algn="r">
                        <a:buNone/>
                      </a:pPr>
                      <a:r>
                        <a:rPr lang="en-US" sz="1250" b="1" dirty="0">
                          <a:solidFill>
                            <a:srgbClr val="0E3A5C"/>
                          </a:solidFill>
                          <a:latin typeface="맑은 고딕" pitchFamily="34" charset="0"/>
                          <a:ea typeface="맑은 고딕" pitchFamily="34" charset="-122"/>
                          <a:cs typeface="맑은 고딕" pitchFamily="34" charset="-120"/>
                        </a:rPr>
                        <a:t>0.9513</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extLst>
                  <a:ext uri="{0D108BD9-81ED-4DB2-BD59-A6C34878D82A}">
                    <a16:rowId xmlns:a16="http://schemas.microsoft.com/office/drawing/2014/main" val="10001"/>
                  </a:ext>
                </a:extLst>
              </a:tr>
              <a:tr h="310896">
                <a:tc>
                  <a:txBody>
                    <a:bodyPr/>
                    <a:lstStyle/>
                    <a:p>
                      <a:pPr marL="0" indent="0" algn="l">
                        <a:buNone/>
                      </a:pPr>
                      <a:r>
                        <a:rPr lang="en-US" sz="1250" dirty="0">
                          <a:solidFill>
                            <a:srgbClr val="1A1A1A"/>
                          </a:solidFill>
                          <a:latin typeface="맑은 고딕" pitchFamily="34" charset="0"/>
                          <a:ea typeface="맑은 고딕" pitchFamily="34" charset="-122"/>
                          <a:cs typeface="맑은 고딕" pitchFamily="34" charset="-120"/>
                        </a:rPr>
                        <a:t>Linear Regression</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50" dirty="0">
                          <a:solidFill>
                            <a:srgbClr val="1A1A1A"/>
                          </a:solidFill>
                          <a:latin typeface="맑은 고딕" pitchFamily="34" charset="0"/>
                          <a:ea typeface="맑은 고딕" pitchFamily="34" charset="-122"/>
                          <a:cs typeface="맑은 고딕" pitchFamily="34" charset="-120"/>
                        </a:rPr>
                        <a:t>0.8052</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50" dirty="0">
                          <a:solidFill>
                            <a:srgbClr val="1A1A1A"/>
                          </a:solidFill>
                          <a:latin typeface="맑은 고딕" pitchFamily="34" charset="0"/>
                          <a:ea typeface="맑은 고딕" pitchFamily="34" charset="-122"/>
                          <a:cs typeface="맑은 고딕" pitchFamily="34" charset="-120"/>
                        </a:rPr>
                        <a:t>0.8107</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50" dirty="0">
                          <a:solidFill>
                            <a:srgbClr val="1A1A1A"/>
                          </a:solidFill>
                          <a:latin typeface="맑은 고딕" pitchFamily="34" charset="0"/>
                          <a:ea typeface="맑은 고딕" pitchFamily="34" charset="-122"/>
                          <a:cs typeface="맑은 고딕" pitchFamily="34" charset="-120"/>
                        </a:rPr>
                        <a:t>1.0031</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50" dirty="0">
                          <a:solidFill>
                            <a:srgbClr val="1A1A1A"/>
                          </a:solidFill>
                          <a:latin typeface="맑은 고딕" pitchFamily="34" charset="0"/>
                          <a:ea typeface="맑은 고딕" pitchFamily="34" charset="-122"/>
                          <a:cs typeface="맑은 고딕" pitchFamily="34" charset="-120"/>
                        </a:rPr>
                        <a:t>1.0093</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50" dirty="0">
                          <a:solidFill>
                            <a:srgbClr val="1A1A1A"/>
                          </a:solidFill>
                          <a:latin typeface="맑은 고딕" pitchFamily="34" charset="0"/>
                          <a:ea typeface="맑은 고딕" pitchFamily="34" charset="-122"/>
                          <a:cs typeface="맑은 고딕" pitchFamily="34" charset="-120"/>
                        </a:rPr>
                        <a:t>0.9285</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50" dirty="0">
                          <a:solidFill>
                            <a:srgbClr val="1A1A1A"/>
                          </a:solidFill>
                          <a:latin typeface="맑은 고딕" pitchFamily="34" charset="0"/>
                          <a:ea typeface="맑은 고딕" pitchFamily="34" charset="-122"/>
                          <a:cs typeface="맑은 고딕" pitchFamily="34" charset="-120"/>
                        </a:rPr>
                        <a:t>0.9246</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lgn="l">
                        <a:buNone/>
                      </a:pPr>
                      <a:r>
                        <a:rPr lang="en-US" sz="1250" dirty="0">
                          <a:solidFill>
                            <a:srgbClr val="1A1A1A"/>
                          </a:solidFill>
                          <a:latin typeface="맑은 고딕" pitchFamily="34" charset="0"/>
                          <a:ea typeface="맑은 고딕" pitchFamily="34" charset="-122"/>
                          <a:cs typeface="맑은 고딕" pitchFamily="34" charset="-120"/>
                        </a:rPr>
                        <a:t>Tuned Decision Tree</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50" dirty="0">
                          <a:solidFill>
                            <a:srgbClr val="1A1A1A"/>
                          </a:solidFill>
                          <a:latin typeface="맑은 고딕" pitchFamily="34" charset="0"/>
                          <a:ea typeface="맑은 고딕" pitchFamily="34" charset="-122"/>
                          <a:cs typeface="맑은 고딕" pitchFamily="34" charset="-120"/>
                        </a:rPr>
                        <a:t>0.9504</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50" dirty="0">
                          <a:solidFill>
                            <a:srgbClr val="1A1A1A"/>
                          </a:solidFill>
                          <a:latin typeface="맑은 고딕" pitchFamily="34" charset="0"/>
                          <a:ea typeface="맑은 고딕" pitchFamily="34" charset="-122"/>
                          <a:cs typeface="맑은 고딕" pitchFamily="34" charset="-120"/>
                        </a:rPr>
                        <a:t>1.4330</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50" dirty="0">
                          <a:solidFill>
                            <a:srgbClr val="1A1A1A"/>
                          </a:solidFill>
                          <a:latin typeface="맑은 고딕" pitchFamily="34" charset="0"/>
                          <a:ea typeface="맑은 고딕" pitchFamily="34" charset="-122"/>
                          <a:cs typeface="맑은 고딕" pitchFamily="34" charset="-120"/>
                        </a:rPr>
                        <a:t>1.2128</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50" dirty="0">
                          <a:solidFill>
                            <a:srgbClr val="1A1A1A"/>
                          </a:solidFill>
                          <a:latin typeface="맑은 고딕" pitchFamily="34" charset="0"/>
                          <a:ea typeface="맑은 고딕" pitchFamily="34" charset="-122"/>
                          <a:cs typeface="맑은 고딕" pitchFamily="34" charset="-120"/>
                        </a:rPr>
                        <a:t>1.8064</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50" dirty="0">
                          <a:solidFill>
                            <a:srgbClr val="1A1A1A"/>
                          </a:solidFill>
                          <a:latin typeface="맑은 고딕" pitchFamily="34" charset="0"/>
                          <a:ea typeface="맑은 고딕" pitchFamily="34" charset="-122"/>
                          <a:cs typeface="맑은 고딕" pitchFamily="34" charset="-120"/>
                        </a:rPr>
                        <a:t>0.8956</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50" dirty="0">
                          <a:solidFill>
                            <a:srgbClr val="1A1A1A"/>
                          </a:solidFill>
                          <a:latin typeface="맑은 고딕" pitchFamily="34" charset="0"/>
                          <a:ea typeface="맑은 고딕" pitchFamily="34" charset="-122"/>
                          <a:cs typeface="맑은 고딕" pitchFamily="34" charset="-120"/>
                        </a:rPr>
                        <a:t>0.7585</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lgn="l">
                        <a:buNone/>
                      </a:pPr>
                      <a:r>
                        <a:rPr lang="en-US" sz="1250" dirty="0">
                          <a:solidFill>
                            <a:srgbClr val="1A1A1A"/>
                          </a:solidFill>
                          <a:latin typeface="맑은 고딕" pitchFamily="34" charset="0"/>
                          <a:ea typeface="맑은 고딕" pitchFamily="34" charset="-122"/>
                          <a:cs typeface="맑은 고딕" pitchFamily="34" charset="-120"/>
                        </a:rPr>
                        <a:t>Decision Tree</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50" dirty="0">
                          <a:solidFill>
                            <a:srgbClr val="1A1A1A"/>
                          </a:solidFill>
                          <a:latin typeface="맑은 고딕" pitchFamily="34" charset="0"/>
                          <a:ea typeface="맑은 고딕" pitchFamily="34" charset="-122"/>
                          <a:cs typeface="맑은 고딕" pitchFamily="34" charset="-120"/>
                        </a:rPr>
                        <a:t>0.0000</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50" dirty="0">
                          <a:solidFill>
                            <a:srgbClr val="1A1A1A"/>
                          </a:solidFill>
                          <a:latin typeface="맑은 고딕" pitchFamily="34" charset="0"/>
                          <a:ea typeface="맑은 고딕" pitchFamily="34" charset="-122"/>
                          <a:cs typeface="맑은 고딕" pitchFamily="34" charset="-120"/>
                        </a:rPr>
                        <a:t>1.5588</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50" dirty="0">
                          <a:solidFill>
                            <a:srgbClr val="1A1A1A"/>
                          </a:solidFill>
                          <a:latin typeface="맑은 고딕" pitchFamily="34" charset="0"/>
                          <a:ea typeface="맑은 고딕" pitchFamily="34" charset="-122"/>
                          <a:cs typeface="맑은 고딕" pitchFamily="34" charset="-120"/>
                        </a:rPr>
                        <a:t>0.0000</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50" dirty="0">
                          <a:solidFill>
                            <a:srgbClr val="1A1A1A"/>
                          </a:solidFill>
                          <a:latin typeface="맑은 고딕" pitchFamily="34" charset="0"/>
                          <a:ea typeface="맑은 고딕" pitchFamily="34" charset="-122"/>
                          <a:cs typeface="맑은 고딕" pitchFamily="34" charset="-120"/>
                        </a:rPr>
                        <a:t>1.9710</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50" dirty="0">
                          <a:solidFill>
                            <a:srgbClr val="1A1A1A"/>
                          </a:solidFill>
                          <a:latin typeface="맑은 고딕" pitchFamily="34" charset="0"/>
                          <a:ea typeface="맑은 고딕" pitchFamily="34" charset="-122"/>
                          <a:cs typeface="맑은 고딕" pitchFamily="34" charset="-120"/>
                        </a:rPr>
                        <a:t>1.0000</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50" dirty="0">
                          <a:solidFill>
                            <a:srgbClr val="1A1A1A"/>
                          </a:solidFill>
                          <a:latin typeface="맑은 고딕" pitchFamily="34" charset="0"/>
                          <a:ea typeface="맑은 고딕" pitchFamily="34" charset="-122"/>
                          <a:cs typeface="맑은 고딕" pitchFamily="34" charset="-120"/>
                        </a:rPr>
                        <a:t>0.7125</a:t>
                      </a:r>
                      <a:endParaRPr lang="en-US" sz="1250" dirty="0">
                        <a:latin typeface="맑은 고딕" charset="0"/>
                        <a:ea typeface="맑은 고딕" charset="0"/>
                        <a:cs typeface="맑은 고딕" charset="0"/>
                      </a:endParaRPr>
                    </a:p>
                  </a:txBody>
                  <a:tcPr marL="63500" marR="63500" marT="63500" marB="635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Shape 5"/>
          <p:cNvSpPr/>
          <p:nvPr/>
        </p:nvSpPr>
        <p:spPr>
          <a:xfrm>
            <a:off x="566928" y="3063240"/>
            <a:ext cx="2606040" cy="1280160"/>
          </a:xfrm>
          <a:prstGeom prst="roundRect">
            <a:avLst>
              <a:gd name="adj" fmla="val 3571"/>
            </a:avLst>
          </a:prstGeom>
          <a:solidFill>
            <a:srgbClr val="EFF6FA"/>
          </a:solidFill>
          <a:ln w="12700">
            <a:solidFill>
              <a:srgbClr val="D8E8F0"/>
            </a:solidFill>
            <a:prstDash val="solid"/>
          </a:ln>
        </p:spPr>
        <p:txBody>
          <a:bodyPr/>
          <a:lstStyle/>
          <a:p>
            <a:endParaRPr lang="ko-KR" altLang="en-US"/>
          </a:p>
        </p:txBody>
      </p:sp>
      <p:sp>
        <p:nvSpPr>
          <p:cNvPr id="9" name="Text 6"/>
          <p:cNvSpPr txBox="1"/>
          <p:nvPr/>
        </p:nvSpPr>
        <p:spPr>
          <a:xfrm>
            <a:off x="676656" y="3218688"/>
            <a:ext cx="2386584" cy="384048"/>
          </a:xfrm>
          <a:prstGeom prst="rect">
            <a:avLst/>
          </a:prstGeom>
          <a:noFill/>
          <a:ln/>
        </p:spPr>
        <p:txBody>
          <a:bodyPr wrap="square" lIns="0" tIns="0" rIns="0" bIns="0" rtlCol="0" anchor="ctr"/>
          <a:lstStyle/>
          <a:p>
            <a:pPr marL="0" indent="0" algn="ctr">
              <a:buNone/>
            </a:pPr>
            <a:r>
              <a:rPr lang="en-US" sz="1500" b="1" dirty="0">
                <a:solidFill>
                  <a:srgbClr val="1C7293"/>
                </a:solidFill>
                <a:latin typeface="맑은 고딕" pitchFamily="34" charset="0"/>
                <a:ea typeface="맑은 고딕" pitchFamily="34" charset="-122"/>
                <a:cs typeface="맑은 고딕" pitchFamily="34" charset="-120"/>
              </a:rPr>
              <a:t>1.0093 → 0.8112</a:t>
            </a:r>
            <a:endParaRPr lang="en-US" sz="1500" dirty="0"/>
          </a:p>
        </p:txBody>
      </p:sp>
      <p:sp>
        <p:nvSpPr>
          <p:cNvPr id="10" name="Text 7"/>
          <p:cNvSpPr txBox="1"/>
          <p:nvPr/>
        </p:nvSpPr>
        <p:spPr>
          <a:xfrm>
            <a:off x="676656" y="3621024"/>
            <a:ext cx="2386584" cy="274320"/>
          </a:xfrm>
          <a:prstGeom prst="rect">
            <a:avLst/>
          </a:prstGeom>
          <a:noFill/>
          <a:ln/>
        </p:spPr>
        <p:txBody>
          <a:bodyPr wrap="square" lIns="0" tIns="0" rIns="0" bIns="0" rtlCol="0" anchor="ctr"/>
          <a:lstStyle/>
          <a:p>
            <a:pPr marL="0" indent="0" algn="ctr">
              <a:buNone/>
            </a:pPr>
            <a:r>
              <a:rPr lang="en-US" sz="1150" dirty="0">
                <a:solidFill>
                  <a:srgbClr val="5F6B78"/>
                </a:solidFill>
                <a:latin typeface="맑은 고딕" pitchFamily="34" charset="0"/>
                <a:ea typeface="맑은 고딕" pitchFamily="34" charset="-122"/>
                <a:cs typeface="맑은 고딕" pitchFamily="34" charset="-120"/>
              </a:rPr>
              <a:t>Test RMSE</a:t>
            </a:r>
            <a:endParaRPr lang="en-US" sz="1150" dirty="0"/>
          </a:p>
        </p:txBody>
      </p:sp>
      <p:sp>
        <p:nvSpPr>
          <p:cNvPr id="11" name="Text 8"/>
          <p:cNvSpPr txBox="1"/>
          <p:nvPr/>
        </p:nvSpPr>
        <p:spPr>
          <a:xfrm>
            <a:off x="676656" y="3913632"/>
            <a:ext cx="2386584" cy="274320"/>
          </a:xfrm>
          <a:prstGeom prst="rect">
            <a:avLst/>
          </a:prstGeom>
          <a:noFill/>
          <a:ln/>
        </p:spPr>
        <p:txBody>
          <a:bodyPr wrap="square" lIns="0" tIns="0" rIns="0" bIns="0" rtlCol="0" anchor="ctr"/>
          <a:lstStyle/>
          <a:p>
            <a:pPr marL="0" indent="0" algn="ctr">
              <a:buNone/>
            </a:pPr>
            <a:r>
              <a:rPr lang="en-US" sz="1250" b="1" dirty="0">
                <a:solidFill>
                  <a:srgbClr val="0E3A5C"/>
                </a:solidFill>
                <a:latin typeface="맑은 고딕" pitchFamily="34" charset="0"/>
                <a:ea typeface="맑은 고딕" pitchFamily="34" charset="-122"/>
                <a:cs typeface="맑은 고딕" pitchFamily="34" charset="-120"/>
              </a:rPr>
              <a:t>19.62% 감소</a:t>
            </a:r>
            <a:endParaRPr lang="en-US" sz="1250" dirty="0"/>
          </a:p>
        </p:txBody>
      </p:sp>
      <p:sp>
        <p:nvSpPr>
          <p:cNvPr id="12" name="Shape 9"/>
          <p:cNvSpPr/>
          <p:nvPr/>
        </p:nvSpPr>
        <p:spPr>
          <a:xfrm>
            <a:off x="3364992" y="3063240"/>
            <a:ext cx="2606040" cy="1280160"/>
          </a:xfrm>
          <a:prstGeom prst="roundRect">
            <a:avLst>
              <a:gd name="adj" fmla="val 3571"/>
            </a:avLst>
          </a:prstGeom>
          <a:solidFill>
            <a:srgbClr val="EFF6FA"/>
          </a:solidFill>
          <a:ln w="12700">
            <a:solidFill>
              <a:srgbClr val="D8E8F0"/>
            </a:solidFill>
            <a:prstDash val="solid"/>
          </a:ln>
        </p:spPr>
        <p:txBody>
          <a:bodyPr/>
          <a:lstStyle/>
          <a:p>
            <a:endParaRPr lang="ko-KR" altLang="en-US"/>
          </a:p>
        </p:txBody>
      </p:sp>
      <p:sp>
        <p:nvSpPr>
          <p:cNvPr id="13" name="Text 10"/>
          <p:cNvSpPr txBox="1"/>
          <p:nvPr/>
        </p:nvSpPr>
        <p:spPr>
          <a:xfrm>
            <a:off x="3474720" y="3218688"/>
            <a:ext cx="2386584" cy="384048"/>
          </a:xfrm>
          <a:prstGeom prst="rect">
            <a:avLst/>
          </a:prstGeom>
          <a:noFill/>
          <a:ln/>
        </p:spPr>
        <p:txBody>
          <a:bodyPr wrap="square" lIns="0" tIns="0" rIns="0" bIns="0" rtlCol="0" anchor="ctr"/>
          <a:lstStyle/>
          <a:p>
            <a:pPr marL="0" indent="0" algn="ctr">
              <a:buNone/>
            </a:pPr>
            <a:r>
              <a:rPr lang="en-US" sz="1500" b="1" dirty="0">
                <a:solidFill>
                  <a:srgbClr val="1C7293"/>
                </a:solidFill>
                <a:latin typeface="맑은 고딕" pitchFamily="34" charset="0"/>
                <a:ea typeface="맑은 고딕" pitchFamily="34" charset="-122"/>
                <a:cs typeface="맑은 고딕" pitchFamily="34" charset="-120"/>
              </a:rPr>
              <a:t>0.8107 → 0.6466</a:t>
            </a:r>
            <a:endParaRPr lang="en-US" sz="1500" dirty="0"/>
          </a:p>
        </p:txBody>
      </p:sp>
      <p:sp>
        <p:nvSpPr>
          <p:cNvPr id="14" name="Text 11"/>
          <p:cNvSpPr txBox="1"/>
          <p:nvPr/>
        </p:nvSpPr>
        <p:spPr>
          <a:xfrm>
            <a:off x="3474720" y="3621024"/>
            <a:ext cx="2386584" cy="274320"/>
          </a:xfrm>
          <a:prstGeom prst="rect">
            <a:avLst/>
          </a:prstGeom>
          <a:noFill/>
          <a:ln/>
        </p:spPr>
        <p:txBody>
          <a:bodyPr wrap="square" lIns="0" tIns="0" rIns="0" bIns="0" rtlCol="0" anchor="ctr"/>
          <a:lstStyle/>
          <a:p>
            <a:pPr marL="0" indent="0" algn="ctr">
              <a:buNone/>
            </a:pPr>
            <a:r>
              <a:rPr lang="en-US" sz="1150" dirty="0">
                <a:solidFill>
                  <a:srgbClr val="5F6B78"/>
                </a:solidFill>
                <a:latin typeface="맑은 고딕" pitchFamily="34" charset="0"/>
                <a:ea typeface="맑은 고딕" pitchFamily="34" charset="-122"/>
                <a:cs typeface="맑은 고딕" pitchFamily="34" charset="-120"/>
              </a:rPr>
              <a:t>Test MAE</a:t>
            </a:r>
            <a:endParaRPr lang="en-US" sz="1150" dirty="0"/>
          </a:p>
        </p:txBody>
      </p:sp>
      <p:sp>
        <p:nvSpPr>
          <p:cNvPr id="15" name="Text 12"/>
          <p:cNvSpPr txBox="1"/>
          <p:nvPr/>
        </p:nvSpPr>
        <p:spPr>
          <a:xfrm>
            <a:off x="3474720" y="3913632"/>
            <a:ext cx="2386584" cy="274320"/>
          </a:xfrm>
          <a:prstGeom prst="rect">
            <a:avLst/>
          </a:prstGeom>
          <a:noFill/>
          <a:ln/>
        </p:spPr>
        <p:txBody>
          <a:bodyPr wrap="square" lIns="0" tIns="0" rIns="0" bIns="0" rtlCol="0" anchor="ctr"/>
          <a:lstStyle/>
          <a:p>
            <a:pPr marL="0" indent="0" algn="ctr">
              <a:buNone/>
            </a:pPr>
            <a:r>
              <a:rPr lang="en-US" sz="1250" b="1" dirty="0">
                <a:solidFill>
                  <a:srgbClr val="0E3A5C"/>
                </a:solidFill>
                <a:latin typeface="맑은 고딕" pitchFamily="34" charset="0"/>
                <a:ea typeface="맑은 고딕" pitchFamily="34" charset="-122"/>
                <a:cs typeface="맑은 고딕" pitchFamily="34" charset="-120"/>
              </a:rPr>
              <a:t>20.24% 감소</a:t>
            </a:r>
            <a:endParaRPr lang="en-US" sz="1250" dirty="0"/>
          </a:p>
        </p:txBody>
      </p:sp>
      <p:sp>
        <p:nvSpPr>
          <p:cNvPr id="16" name="Shape 13"/>
          <p:cNvSpPr/>
          <p:nvPr/>
        </p:nvSpPr>
        <p:spPr>
          <a:xfrm>
            <a:off x="6163056" y="3063240"/>
            <a:ext cx="2606040" cy="1280160"/>
          </a:xfrm>
          <a:prstGeom prst="roundRect">
            <a:avLst>
              <a:gd name="adj" fmla="val 3571"/>
            </a:avLst>
          </a:prstGeom>
          <a:solidFill>
            <a:srgbClr val="EFF6FA"/>
          </a:solidFill>
          <a:ln w="12700">
            <a:solidFill>
              <a:srgbClr val="D8E8F0"/>
            </a:solidFill>
            <a:prstDash val="solid"/>
          </a:ln>
        </p:spPr>
        <p:txBody>
          <a:bodyPr/>
          <a:lstStyle/>
          <a:p>
            <a:endParaRPr lang="ko-KR" altLang="en-US"/>
          </a:p>
        </p:txBody>
      </p:sp>
      <p:sp>
        <p:nvSpPr>
          <p:cNvPr id="17" name="Text 14"/>
          <p:cNvSpPr txBox="1"/>
          <p:nvPr/>
        </p:nvSpPr>
        <p:spPr>
          <a:xfrm>
            <a:off x="6272784" y="3218688"/>
            <a:ext cx="2386584" cy="384048"/>
          </a:xfrm>
          <a:prstGeom prst="rect">
            <a:avLst/>
          </a:prstGeom>
          <a:noFill/>
          <a:ln/>
        </p:spPr>
        <p:txBody>
          <a:bodyPr wrap="square" lIns="0" tIns="0" rIns="0" bIns="0" rtlCol="0" anchor="ctr"/>
          <a:lstStyle/>
          <a:p>
            <a:pPr marL="0" indent="0" algn="ctr">
              <a:buNone/>
            </a:pPr>
            <a:r>
              <a:rPr lang="en-US" sz="1500" b="1" dirty="0">
                <a:solidFill>
                  <a:srgbClr val="1C7293"/>
                </a:solidFill>
                <a:latin typeface="맑은 고딕" pitchFamily="34" charset="0"/>
                <a:ea typeface="맑은 고딕" pitchFamily="34" charset="-122"/>
                <a:cs typeface="맑은 고딕" pitchFamily="34" charset="-120"/>
              </a:rPr>
              <a:t>0.9246 → 0.9513</a:t>
            </a:r>
            <a:endParaRPr lang="en-US" sz="1500" dirty="0"/>
          </a:p>
        </p:txBody>
      </p:sp>
      <p:sp>
        <p:nvSpPr>
          <p:cNvPr id="18" name="Text 15"/>
          <p:cNvSpPr txBox="1"/>
          <p:nvPr/>
        </p:nvSpPr>
        <p:spPr>
          <a:xfrm>
            <a:off x="6272784" y="3621024"/>
            <a:ext cx="2386584" cy="274320"/>
          </a:xfrm>
          <a:prstGeom prst="rect">
            <a:avLst/>
          </a:prstGeom>
          <a:noFill/>
          <a:ln/>
        </p:spPr>
        <p:txBody>
          <a:bodyPr wrap="square" lIns="0" tIns="0" rIns="0" bIns="0" rtlCol="0" anchor="ctr"/>
          <a:lstStyle/>
          <a:p>
            <a:pPr marL="0" indent="0" algn="ctr">
              <a:buNone/>
            </a:pPr>
            <a:r>
              <a:rPr lang="en-US" sz="1150" dirty="0">
                <a:solidFill>
                  <a:srgbClr val="5F6B78"/>
                </a:solidFill>
                <a:latin typeface="맑은 고딕" pitchFamily="34" charset="0"/>
                <a:ea typeface="맑은 고딕" pitchFamily="34" charset="-122"/>
                <a:cs typeface="맑은 고딕" pitchFamily="34" charset="-120"/>
              </a:rPr>
              <a:t>Test R²</a:t>
            </a:r>
            <a:endParaRPr lang="en-US" sz="1150" dirty="0"/>
          </a:p>
        </p:txBody>
      </p:sp>
      <p:sp>
        <p:nvSpPr>
          <p:cNvPr id="19" name="Text 16"/>
          <p:cNvSpPr txBox="1"/>
          <p:nvPr/>
        </p:nvSpPr>
        <p:spPr>
          <a:xfrm>
            <a:off x="6272784" y="3913632"/>
            <a:ext cx="2386584" cy="274320"/>
          </a:xfrm>
          <a:prstGeom prst="rect">
            <a:avLst/>
          </a:prstGeom>
          <a:noFill/>
          <a:ln/>
        </p:spPr>
        <p:txBody>
          <a:bodyPr wrap="square" lIns="0" tIns="0" rIns="0" bIns="0" rtlCol="0" anchor="ctr"/>
          <a:lstStyle/>
          <a:p>
            <a:pPr marL="0" indent="0" algn="ctr">
              <a:buNone/>
            </a:pPr>
            <a:r>
              <a:rPr lang="en-US" sz="1250" b="1" dirty="0">
                <a:solidFill>
                  <a:srgbClr val="0E3A5C"/>
                </a:solidFill>
                <a:latin typeface="맑은 고딕" pitchFamily="34" charset="0"/>
                <a:ea typeface="맑은 고딕" pitchFamily="34" charset="-122"/>
                <a:cs typeface="맑은 고딕" pitchFamily="34" charset="-120"/>
              </a:rPr>
              <a:t>설명력 상승</a:t>
            </a:r>
            <a:endParaRPr lang="en-US" sz="1250" dirty="0"/>
          </a:p>
        </p:txBody>
      </p:sp>
      <p:sp>
        <p:nvSpPr>
          <p:cNvPr id="20" name="Shape 17"/>
          <p:cNvSpPr/>
          <p:nvPr/>
        </p:nvSpPr>
        <p:spPr>
          <a:xfrm>
            <a:off x="8961120" y="3063240"/>
            <a:ext cx="2606040" cy="1280160"/>
          </a:xfrm>
          <a:prstGeom prst="roundRect">
            <a:avLst>
              <a:gd name="adj" fmla="val 3571"/>
            </a:avLst>
          </a:prstGeom>
          <a:solidFill>
            <a:srgbClr val="EFF6FA"/>
          </a:solidFill>
          <a:ln w="12700">
            <a:solidFill>
              <a:srgbClr val="D8E8F0"/>
            </a:solidFill>
            <a:prstDash val="solid"/>
          </a:ln>
        </p:spPr>
        <p:txBody>
          <a:bodyPr/>
          <a:lstStyle/>
          <a:p>
            <a:endParaRPr lang="ko-KR" altLang="en-US"/>
          </a:p>
        </p:txBody>
      </p:sp>
      <p:sp>
        <p:nvSpPr>
          <p:cNvPr id="21" name="Text 18"/>
          <p:cNvSpPr txBox="1"/>
          <p:nvPr/>
        </p:nvSpPr>
        <p:spPr>
          <a:xfrm>
            <a:off x="9070848" y="3218688"/>
            <a:ext cx="2386584" cy="384048"/>
          </a:xfrm>
          <a:prstGeom prst="rect">
            <a:avLst/>
          </a:prstGeom>
          <a:noFill/>
          <a:ln/>
        </p:spPr>
        <p:txBody>
          <a:bodyPr wrap="square" lIns="0" tIns="0" rIns="0" bIns="0" rtlCol="0" anchor="ctr"/>
          <a:lstStyle/>
          <a:p>
            <a:pPr marL="0" indent="0" algn="ctr">
              <a:buNone/>
            </a:pPr>
            <a:r>
              <a:rPr lang="en-US" sz="1500" b="1" dirty="0">
                <a:solidFill>
                  <a:srgbClr val="2E8B57"/>
                </a:solidFill>
                <a:latin typeface="맑은 고딕" pitchFamily="34" charset="0"/>
                <a:ea typeface="맑은 고딕" pitchFamily="34" charset="-122"/>
                <a:cs typeface="맑은 고딕" pitchFamily="34" charset="-120"/>
              </a:rPr>
              <a:t>0.0023</a:t>
            </a:r>
            <a:endParaRPr lang="en-US" sz="1500" dirty="0"/>
          </a:p>
        </p:txBody>
      </p:sp>
      <p:sp>
        <p:nvSpPr>
          <p:cNvPr id="22" name="Text 19"/>
          <p:cNvSpPr txBox="1"/>
          <p:nvPr/>
        </p:nvSpPr>
        <p:spPr>
          <a:xfrm>
            <a:off x="9070848" y="3621024"/>
            <a:ext cx="2386584" cy="274320"/>
          </a:xfrm>
          <a:prstGeom prst="rect">
            <a:avLst/>
          </a:prstGeom>
          <a:noFill/>
          <a:ln/>
        </p:spPr>
        <p:txBody>
          <a:bodyPr wrap="square" lIns="0" tIns="0" rIns="0" bIns="0" rtlCol="0" anchor="ctr"/>
          <a:lstStyle/>
          <a:p>
            <a:pPr marL="0" indent="0" algn="ctr">
              <a:buNone/>
            </a:pPr>
            <a:r>
              <a:rPr lang="en-US" sz="1150" dirty="0">
                <a:solidFill>
                  <a:srgbClr val="5F6B78"/>
                </a:solidFill>
                <a:latin typeface="맑은 고딕" pitchFamily="34" charset="0"/>
                <a:ea typeface="맑은 고딕" pitchFamily="34" charset="-122"/>
                <a:cs typeface="맑은 고딕" pitchFamily="34" charset="-120"/>
              </a:rPr>
              <a:t>학습·테스트 R² 차이</a:t>
            </a:r>
            <a:endParaRPr lang="en-US" sz="1150" dirty="0"/>
          </a:p>
        </p:txBody>
      </p:sp>
      <p:sp>
        <p:nvSpPr>
          <p:cNvPr id="23" name="Text 20"/>
          <p:cNvSpPr txBox="1"/>
          <p:nvPr/>
        </p:nvSpPr>
        <p:spPr>
          <a:xfrm>
            <a:off x="9070848" y="3913632"/>
            <a:ext cx="2386584" cy="274320"/>
          </a:xfrm>
          <a:prstGeom prst="rect">
            <a:avLst/>
          </a:prstGeom>
          <a:noFill/>
          <a:ln/>
        </p:spPr>
        <p:txBody>
          <a:bodyPr wrap="square" lIns="0" tIns="0" rIns="0" bIns="0" rtlCol="0" anchor="ctr"/>
          <a:lstStyle/>
          <a:p>
            <a:pPr marL="0" indent="0" algn="ctr">
              <a:buNone/>
            </a:pPr>
            <a:r>
              <a:rPr lang="en-US" sz="1250" b="1" dirty="0">
                <a:solidFill>
                  <a:srgbClr val="0E3A5C"/>
                </a:solidFill>
                <a:latin typeface="맑은 고딕" pitchFamily="34" charset="0"/>
                <a:ea typeface="맑은 고딕" pitchFamily="34" charset="-122"/>
                <a:cs typeface="맑은 고딕" pitchFamily="34" charset="-120"/>
              </a:rPr>
              <a:t>과적합 없음</a:t>
            </a:r>
            <a:endParaRPr lang="en-US" sz="1250" dirty="0"/>
          </a:p>
        </p:txBody>
      </p:sp>
      <p:graphicFrame>
        <p:nvGraphicFramePr>
          <p:cNvPr id="24" name="Chart 0"/>
          <p:cNvGraphicFramePr/>
          <p:nvPr/>
        </p:nvGraphicFramePr>
        <p:xfrm>
          <a:off x="475488" y="4480560"/>
          <a:ext cx="11247120" cy="18288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566928" y="365760"/>
            <a:ext cx="457200" cy="457200"/>
          </a:xfrm>
          <a:prstGeom prst="ellipse">
            <a:avLst/>
          </a:prstGeom>
          <a:solidFill>
            <a:srgbClr val="1C7293"/>
          </a:solidFill>
          <a:ln w="12700">
            <a:solidFill>
              <a:srgbClr val="1C7293"/>
            </a:solidFill>
            <a:prstDash val="solid"/>
          </a:ln>
        </p:spPr>
        <p:txBody>
          <a:bodyPr/>
          <a:lstStyle/>
          <a:p>
            <a:endParaRPr lang="ko-KR" altLang="en-US"/>
          </a:p>
        </p:txBody>
      </p:sp>
      <p:sp>
        <p:nvSpPr>
          <p:cNvPr id="3" name="Text 1"/>
          <p:cNvSpPr txBox="1"/>
          <p:nvPr/>
        </p:nvSpPr>
        <p:spPr>
          <a:xfrm>
            <a:off x="566928" y="3657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23</a:t>
            </a:r>
            <a:endParaRPr lang="en-US" sz="1600" dirty="0"/>
          </a:p>
        </p:txBody>
      </p:sp>
      <p:sp>
        <p:nvSpPr>
          <p:cNvPr id="4" name="Text 2"/>
          <p:cNvSpPr txBox="1"/>
          <p:nvPr/>
        </p:nvSpPr>
        <p:spPr>
          <a:xfrm>
            <a:off x="1152144" y="310896"/>
            <a:ext cx="10424160" cy="246888"/>
          </a:xfrm>
          <a:prstGeom prst="rect">
            <a:avLst/>
          </a:prstGeom>
          <a:noFill/>
          <a:ln/>
        </p:spPr>
        <p:txBody>
          <a:bodyPr wrap="square" lIns="0" tIns="0" rIns="0" bIns="0" rtlCol="0" anchor="ctr"/>
          <a:lstStyle/>
          <a:p>
            <a:pPr marL="0" indent="0">
              <a:buNone/>
            </a:pPr>
            <a:r>
              <a:rPr lang="en-US" sz="1150" b="1" kern="0" spc="100" dirty="0">
                <a:solidFill>
                  <a:srgbClr val="1C7293"/>
                </a:solidFill>
                <a:latin typeface="맑은 고딕" pitchFamily="34" charset="0"/>
                <a:ea typeface="맑은 고딕" pitchFamily="34" charset="-122"/>
                <a:cs typeface="맑은 고딕" pitchFamily="34" charset="-120"/>
              </a:rPr>
              <a:t>모델 개선 · 잔차 비교</a:t>
            </a:r>
            <a:endParaRPr lang="en-US" sz="1150" dirty="0"/>
          </a:p>
        </p:txBody>
      </p:sp>
      <p:sp>
        <p:nvSpPr>
          <p:cNvPr id="5" name="Text 3"/>
          <p:cNvSpPr txBox="1"/>
          <p:nvPr/>
        </p:nvSpPr>
        <p:spPr>
          <a:xfrm>
            <a:off x="1152144" y="566928"/>
            <a:ext cx="10469880" cy="530352"/>
          </a:xfrm>
          <a:prstGeom prst="rect">
            <a:avLst/>
          </a:prstGeom>
          <a:noFill/>
          <a:ln/>
        </p:spPr>
        <p:txBody>
          <a:bodyPr wrap="square" lIns="0" tIns="0" rIns="0" bIns="0" rtlCol="0" anchor="ctr"/>
          <a:lstStyle/>
          <a:p>
            <a:pPr marL="0" indent="0">
              <a:buNone/>
            </a:pPr>
            <a:r>
              <a:rPr lang="en-US" sz="2500" b="1" dirty="0">
                <a:solidFill>
                  <a:srgbClr val="0E3A5C"/>
                </a:solidFill>
                <a:latin typeface="맑은 고딕" pitchFamily="34" charset="0"/>
                <a:ea typeface="맑은 고딕" pitchFamily="34" charset="-122"/>
                <a:cs typeface="맑은 고딕" pitchFamily="34" charset="-120"/>
              </a:rPr>
              <a:t>점수가 아니라 편향이 사라진 것이 핵심이다</a:t>
            </a:r>
            <a:endParaRPr lang="en-US" sz="2500" dirty="0"/>
          </a:p>
        </p:txBody>
      </p:sp>
      <p:sp>
        <p:nvSpPr>
          <p:cNvPr id="6" name="Text 4"/>
          <p:cNvSpPr txBox="1"/>
          <p:nvPr/>
        </p:nvSpPr>
        <p:spPr>
          <a:xfrm>
            <a:off x="8686800" y="6519672"/>
            <a:ext cx="2926080" cy="274320"/>
          </a:xfrm>
          <a:prstGeom prst="rect">
            <a:avLst/>
          </a:prstGeom>
          <a:noFill/>
          <a:ln/>
        </p:spPr>
        <p:txBody>
          <a:bodyPr wrap="square" lIns="0" tIns="0" rIns="0" bIns="0" rtlCol="0" anchor="ctr"/>
          <a:lstStyle/>
          <a:p>
            <a:pPr marL="0" indent="0" algn="r">
              <a:buNone/>
            </a:pPr>
            <a:r>
              <a:rPr lang="en-US" sz="1000" dirty="0">
                <a:solidFill>
                  <a:srgbClr val="A8B4BE"/>
                </a:solidFill>
                <a:latin typeface="맑은 고딕" pitchFamily="34" charset="0"/>
                <a:ea typeface="맑은 고딕" pitchFamily="34" charset="-122"/>
                <a:cs typeface="맑은 고딕" pitchFamily="34" charset="-120"/>
              </a:rPr>
              <a:t>5. 모델 개선</a:t>
            </a:r>
            <a:endParaRPr lang="en-US" sz="1000" dirty="0"/>
          </a:p>
        </p:txBody>
      </p:sp>
      <p:graphicFrame>
        <p:nvGraphicFramePr>
          <p:cNvPr id="7" name="Chart 0"/>
          <p:cNvGraphicFramePr/>
          <p:nvPr/>
        </p:nvGraphicFramePr>
        <p:xfrm>
          <a:off x="475488" y="1298448"/>
          <a:ext cx="6949440" cy="37490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7680960" y="1371600"/>
          <a:ext cx="3986784" cy="1920240"/>
        </p:xfrm>
        <a:graphic>
          <a:graphicData uri="http://schemas.openxmlformats.org/drawingml/2006/table">
            <a:tbl>
              <a:tblPr/>
              <a:tblGrid>
                <a:gridCol w="1645920">
                  <a:extLst>
                    <a:ext uri="{9D8B030D-6E8A-4147-A177-3AD203B41FA5}">
                      <a16:colId xmlns:a16="http://schemas.microsoft.com/office/drawing/2014/main" val="20000"/>
                    </a:ext>
                  </a:extLst>
                </a:gridCol>
                <a:gridCol w="1170432">
                  <a:extLst>
                    <a:ext uri="{9D8B030D-6E8A-4147-A177-3AD203B41FA5}">
                      <a16:colId xmlns:a16="http://schemas.microsoft.com/office/drawing/2014/main" val="20001"/>
                    </a:ext>
                  </a:extLst>
                </a:gridCol>
                <a:gridCol w="1170432">
                  <a:extLst>
                    <a:ext uri="{9D8B030D-6E8A-4147-A177-3AD203B41FA5}">
                      <a16:colId xmlns:a16="http://schemas.microsoft.com/office/drawing/2014/main" val="20002"/>
                    </a:ext>
                  </a:extLst>
                </a:gridCol>
              </a:tblGrid>
              <a:tr h="274320">
                <a:tc>
                  <a:txBody>
                    <a:bodyPr/>
                    <a:lstStyle/>
                    <a:p>
                      <a:pPr marL="0" indent="0" algn="ctr">
                        <a:buNone/>
                      </a:pPr>
                      <a:r>
                        <a:rPr lang="en-US" sz="1150" b="1" dirty="0">
                          <a:solidFill>
                            <a:srgbClr val="0E3A5C"/>
                          </a:solidFill>
                          <a:latin typeface="맑은 고딕" pitchFamily="34" charset="0"/>
                          <a:ea typeface="맑은 고딕" pitchFamily="34" charset="-122"/>
                          <a:cs typeface="맑은 고딕" pitchFamily="34" charset="-120"/>
                        </a:rPr>
                        <a:t>외기온 구간</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150" b="1" dirty="0">
                          <a:solidFill>
                            <a:srgbClr val="0E3A5C"/>
                          </a:solidFill>
                          <a:latin typeface="맑은 고딕" pitchFamily="34" charset="0"/>
                          <a:ea typeface="맑은 고딕" pitchFamily="34" charset="-122"/>
                          <a:cs typeface="맑은 고딕" pitchFamily="34" charset="-120"/>
                        </a:rPr>
                        <a:t>기준 모델</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150" b="1" dirty="0">
                          <a:solidFill>
                            <a:srgbClr val="0E3A5C"/>
                          </a:solidFill>
                          <a:latin typeface="맑은 고딕" pitchFamily="34" charset="0"/>
                          <a:ea typeface="맑은 고딕" pitchFamily="34" charset="-122"/>
                          <a:cs typeface="맑은 고딕" pitchFamily="34" charset="-120"/>
                        </a:rPr>
                        <a:t>개선 모델</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extLst>
                  <a:ext uri="{0D108BD9-81ED-4DB2-BD59-A6C34878D82A}">
                    <a16:rowId xmlns:a16="http://schemas.microsoft.com/office/drawing/2014/main" val="10000"/>
                  </a:ext>
                </a:extLst>
              </a:tr>
              <a:tr h="274320">
                <a:tc>
                  <a:txBody>
                    <a:bodyPr/>
                    <a:lstStyle/>
                    <a:p>
                      <a:pPr marL="0" indent="0" algn="l">
                        <a:buNone/>
                      </a:pPr>
                      <a:r>
                        <a:rPr lang="en-US" sz="1150" dirty="0">
                          <a:solidFill>
                            <a:srgbClr val="1A1A1A"/>
                          </a:solidFill>
                          <a:latin typeface="맑은 고딕" pitchFamily="34" charset="0"/>
                          <a:ea typeface="맑은 고딕" pitchFamily="34" charset="-122"/>
                          <a:cs typeface="맑은 고딕" pitchFamily="34" charset="-120"/>
                        </a:rPr>
                        <a:t>0°C 미만</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1A1A"/>
                          </a:solidFill>
                          <a:latin typeface="맑은 고딕" pitchFamily="34" charset="0"/>
                          <a:ea typeface="맑은 고딕" pitchFamily="34" charset="-122"/>
                          <a:cs typeface="맑은 고딕" pitchFamily="34" charset="-120"/>
                        </a:rPr>
                        <a:t>+0.655</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1A1A"/>
                          </a:solidFill>
                          <a:latin typeface="맑은 고딕" pitchFamily="34" charset="0"/>
                          <a:ea typeface="맑은 고딕" pitchFamily="34" charset="-122"/>
                          <a:cs typeface="맑은 고딕" pitchFamily="34" charset="-120"/>
                        </a:rPr>
                        <a:t>-0.018</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l">
                        <a:buNone/>
                      </a:pPr>
                      <a:r>
                        <a:rPr lang="en-US" sz="1150" dirty="0">
                          <a:solidFill>
                            <a:srgbClr val="1A1A1A"/>
                          </a:solidFill>
                          <a:latin typeface="맑은 고딕" pitchFamily="34" charset="0"/>
                          <a:ea typeface="맑은 고딕" pitchFamily="34" charset="-122"/>
                          <a:cs typeface="맑은 고딕" pitchFamily="34" charset="-120"/>
                        </a:rPr>
                        <a:t>0 ~ 10°C</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1A1A"/>
                          </a:solidFill>
                          <a:latin typeface="맑은 고딕" pitchFamily="34" charset="0"/>
                          <a:ea typeface="맑은 고딕" pitchFamily="34" charset="-122"/>
                          <a:cs typeface="맑은 고딕" pitchFamily="34" charset="-120"/>
                        </a:rPr>
                        <a:t>-0.390</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1A1A"/>
                          </a:solidFill>
                          <a:latin typeface="맑은 고딕" pitchFamily="34" charset="0"/>
                          <a:ea typeface="맑은 고딕" pitchFamily="34" charset="-122"/>
                          <a:cs typeface="맑은 고딕" pitchFamily="34" charset="-120"/>
                        </a:rPr>
                        <a:t>-0.016</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150" dirty="0">
                          <a:solidFill>
                            <a:srgbClr val="1A1A1A"/>
                          </a:solidFill>
                          <a:latin typeface="맑은 고딕" pitchFamily="34" charset="0"/>
                          <a:ea typeface="맑은 고딕" pitchFamily="34" charset="-122"/>
                          <a:cs typeface="맑은 고딕" pitchFamily="34" charset="-120"/>
                        </a:rPr>
                        <a:t>10 ~ 20°C</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1A1A"/>
                          </a:solidFill>
                          <a:latin typeface="맑은 고딕" pitchFamily="34" charset="0"/>
                          <a:ea typeface="맑은 고딕" pitchFamily="34" charset="-122"/>
                          <a:cs typeface="맑은 고딕" pitchFamily="34" charset="-120"/>
                        </a:rPr>
                        <a:t>-0.700</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1A1A"/>
                          </a:solidFill>
                          <a:latin typeface="맑은 고딕" pitchFamily="34" charset="0"/>
                          <a:ea typeface="맑은 고딕" pitchFamily="34" charset="-122"/>
                          <a:cs typeface="맑은 고딕" pitchFamily="34" charset="-120"/>
                        </a:rPr>
                        <a:t>-0.044</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lgn="l">
                        <a:buNone/>
                      </a:pPr>
                      <a:r>
                        <a:rPr lang="en-US" sz="1150" dirty="0">
                          <a:solidFill>
                            <a:srgbClr val="1A1A1A"/>
                          </a:solidFill>
                          <a:latin typeface="맑은 고딕" pitchFamily="34" charset="0"/>
                          <a:ea typeface="맑은 고딕" pitchFamily="34" charset="-122"/>
                          <a:cs typeface="맑은 고딕" pitchFamily="34" charset="-120"/>
                        </a:rPr>
                        <a:t>20 ~ 30°C</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1A1A"/>
                          </a:solidFill>
                          <a:latin typeface="맑은 고딕" pitchFamily="34" charset="0"/>
                          <a:ea typeface="맑은 고딕" pitchFamily="34" charset="-122"/>
                          <a:cs typeface="맑은 고딕" pitchFamily="34" charset="-120"/>
                        </a:rPr>
                        <a:t>-0.186</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1A1A"/>
                          </a:solidFill>
                          <a:latin typeface="맑은 고딕" pitchFamily="34" charset="0"/>
                          <a:ea typeface="맑은 고딕" pitchFamily="34" charset="-122"/>
                          <a:cs typeface="맑은 고딕" pitchFamily="34" charset="-120"/>
                        </a:rPr>
                        <a:t>+0.054</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74320">
                <a:tc>
                  <a:txBody>
                    <a:bodyPr/>
                    <a:lstStyle/>
                    <a:p>
                      <a:pPr marL="0" indent="0" algn="l">
                        <a:buNone/>
                      </a:pPr>
                      <a:r>
                        <a:rPr lang="en-US" sz="1150" dirty="0">
                          <a:solidFill>
                            <a:srgbClr val="1A1A1A"/>
                          </a:solidFill>
                          <a:latin typeface="맑은 고딕" pitchFamily="34" charset="0"/>
                          <a:ea typeface="맑은 고딕" pitchFamily="34" charset="-122"/>
                          <a:cs typeface="맑은 고딕" pitchFamily="34" charset="-120"/>
                        </a:rPr>
                        <a:t>30°C 초과</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1A1A"/>
                          </a:solidFill>
                          <a:latin typeface="맑은 고딕" pitchFamily="34" charset="0"/>
                          <a:ea typeface="맑은 고딕" pitchFamily="34" charset="-122"/>
                          <a:cs typeface="맑은 고딕" pitchFamily="34" charset="-120"/>
                        </a:rPr>
                        <a:t>+0.575</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1A1A"/>
                          </a:solidFill>
                          <a:latin typeface="맑은 고딕" pitchFamily="34" charset="0"/>
                          <a:ea typeface="맑은 고딕" pitchFamily="34" charset="-122"/>
                          <a:cs typeface="맑은 고딕" pitchFamily="34" charset="-120"/>
                        </a:rPr>
                        <a:t>-0.040</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74320">
                <a:tc>
                  <a:txBody>
                    <a:bodyPr/>
                    <a:lstStyle/>
                    <a:p>
                      <a:pPr marL="0" indent="0" algn="l">
                        <a:buNone/>
                      </a:pPr>
                      <a:r>
                        <a:rPr lang="en-US" sz="1150" b="1" dirty="0">
                          <a:solidFill>
                            <a:srgbClr val="0E3A5C"/>
                          </a:solidFill>
                          <a:latin typeface="맑은 고딕" pitchFamily="34" charset="0"/>
                          <a:ea typeface="맑은 고딕" pitchFamily="34" charset="-122"/>
                          <a:cs typeface="맑은 고딕" pitchFamily="34" charset="-120"/>
                        </a:rPr>
                        <a:t>최대 편향</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tc>
                  <a:txBody>
                    <a:bodyPr/>
                    <a:lstStyle/>
                    <a:p>
                      <a:pPr marL="0" indent="0" algn="r">
                        <a:buNone/>
                      </a:pPr>
                      <a:r>
                        <a:rPr lang="en-US" sz="1150" b="1" dirty="0">
                          <a:solidFill>
                            <a:srgbClr val="0E3A5C"/>
                          </a:solidFill>
                          <a:latin typeface="맑은 고딕" pitchFamily="34" charset="0"/>
                          <a:ea typeface="맑은 고딕" pitchFamily="34" charset="-122"/>
                          <a:cs typeface="맑은 고딕" pitchFamily="34" charset="-120"/>
                        </a:rPr>
                        <a:t>0.700</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tc>
                  <a:txBody>
                    <a:bodyPr/>
                    <a:lstStyle/>
                    <a:p>
                      <a:pPr marL="0" indent="0" algn="r">
                        <a:buNone/>
                      </a:pPr>
                      <a:r>
                        <a:rPr lang="en-US" sz="1150" b="1" dirty="0">
                          <a:solidFill>
                            <a:srgbClr val="0E3A5C"/>
                          </a:solidFill>
                          <a:latin typeface="맑은 고딕" pitchFamily="34" charset="0"/>
                          <a:ea typeface="맑은 고딕" pitchFamily="34" charset="-122"/>
                          <a:cs typeface="맑은 고딕" pitchFamily="34" charset="-120"/>
                        </a:rPr>
                        <a:t>0.054</a:t>
                      </a:r>
                      <a:endParaRPr lang="en-US" sz="115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extLst>
                  <a:ext uri="{0D108BD9-81ED-4DB2-BD59-A6C34878D82A}">
                    <a16:rowId xmlns:a16="http://schemas.microsoft.com/office/drawing/2014/main" val="10006"/>
                  </a:ext>
                </a:extLst>
              </a:tr>
            </a:tbl>
          </a:graphicData>
        </a:graphic>
      </p:graphicFrame>
      <p:sp>
        <p:nvSpPr>
          <p:cNvPr id="9" name="Shape 5"/>
          <p:cNvSpPr/>
          <p:nvPr/>
        </p:nvSpPr>
        <p:spPr>
          <a:xfrm>
            <a:off x="7680960" y="3611880"/>
            <a:ext cx="3986784" cy="1417320"/>
          </a:xfrm>
          <a:prstGeom prst="roundRect">
            <a:avLst>
              <a:gd name="adj" fmla="val 3226"/>
            </a:avLst>
          </a:prstGeom>
          <a:solidFill>
            <a:srgbClr val="FFFFFF"/>
          </a:solidFill>
          <a:ln w="12700">
            <a:solidFill>
              <a:srgbClr val="D8E8F0"/>
            </a:solidFill>
            <a:prstDash val="solid"/>
          </a:ln>
        </p:spPr>
        <p:txBody>
          <a:bodyPr/>
          <a:lstStyle/>
          <a:p>
            <a:endParaRPr lang="ko-KR" altLang="en-US"/>
          </a:p>
        </p:txBody>
      </p:sp>
      <p:sp>
        <p:nvSpPr>
          <p:cNvPr id="10" name="Text 6"/>
          <p:cNvSpPr txBox="1"/>
          <p:nvPr/>
        </p:nvSpPr>
        <p:spPr>
          <a:xfrm>
            <a:off x="7918704" y="3611880"/>
            <a:ext cx="3511296" cy="1417320"/>
          </a:xfrm>
          <a:prstGeom prst="rect">
            <a:avLst/>
          </a:prstGeom>
          <a:noFill/>
          <a:ln/>
        </p:spPr>
        <p:txBody>
          <a:bodyPr wrap="square" lIns="0" tIns="0" rIns="0" bIns="0" rtlCol="0" anchor="ctr"/>
          <a:lstStyle/>
          <a:p>
            <a:pPr marL="0" indent="0">
              <a:lnSpc>
                <a:spcPts val="1900"/>
              </a:lnSpc>
              <a:buNone/>
            </a:pPr>
            <a:r>
              <a:rPr lang="en-US" sz="1250" b="1" dirty="0">
                <a:solidFill>
                  <a:srgbClr val="0E3A5C"/>
                </a:solidFill>
                <a:latin typeface="맑은 고딕" pitchFamily="34" charset="0"/>
                <a:ea typeface="맑은 고딕" pitchFamily="34" charset="-122"/>
                <a:cs typeface="맑은 고딕" pitchFamily="34" charset="-120"/>
              </a:rPr>
              <a:t>무엇이 달라졌나   </a:t>
            </a:r>
            <a:r>
              <a:rPr lang="en-US" sz="1250" dirty="0">
                <a:solidFill>
                  <a:srgbClr val="1A1A1A"/>
                </a:solidFill>
                <a:latin typeface="맑은 고딕" pitchFamily="34" charset="0"/>
                <a:ea typeface="맑은 고딕" pitchFamily="34" charset="-122"/>
                <a:cs typeface="맑은 고딕" pitchFamily="34" charset="-120"/>
              </a:rPr>
              <a:t>U자형 패턴이 사라지고, 다섯 구간 모두 잔차가 0 근처로 모였다.</a:t>
            </a:r>
            <a:endParaRPr lang="en-US" sz="1250" dirty="0"/>
          </a:p>
        </p:txBody>
      </p:sp>
      <p:sp>
        <p:nvSpPr>
          <p:cNvPr id="11" name="Shape 7"/>
          <p:cNvSpPr/>
          <p:nvPr/>
        </p:nvSpPr>
        <p:spPr>
          <a:xfrm>
            <a:off x="566928" y="5212080"/>
            <a:ext cx="11064240" cy="960120"/>
          </a:xfrm>
          <a:prstGeom prst="roundRect">
            <a:avLst>
              <a:gd name="adj" fmla="val 4762"/>
            </a:avLst>
          </a:prstGeom>
          <a:solidFill>
            <a:srgbClr val="D8E8F0"/>
          </a:solidFill>
          <a:ln w="12700">
            <a:solidFill>
              <a:srgbClr val="1C7293"/>
            </a:solidFill>
            <a:prstDash val="solid"/>
          </a:ln>
        </p:spPr>
        <p:txBody>
          <a:bodyPr/>
          <a:lstStyle/>
          <a:p>
            <a:endParaRPr lang="ko-KR" altLang="en-US"/>
          </a:p>
        </p:txBody>
      </p:sp>
      <p:sp>
        <p:nvSpPr>
          <p:cNvPr id="12" name="Text 8"/>
          <p:cNvSpPr txBox="1"/>
          <p:nvPr/>
        </p:nvSpPr>
        <p:spPr>
          <a:xfrm>
            <a:off x="804672" y="5212080"/>
            <a:ext cx="10588752" cy="960120"/>
          </a:xfrm>
          <a:prstGeom prst="rect">
            <a:avLst/>
          </a:prstGeom>
          <a:noFill/>
          <a:ln/>
        </p:spPr>
        <p:txBody>
          <a:bodyPr wrap="square" lIns="0" tIns="0" rIns="0" bIns="0" rtlCol="0" anchor="ctr"/>
          <a:lstStyle/>
          <a:p>
            <a:pPr marL="0" indent="0">
              <a:lnSpc>
                <a:spcPts val="1900"/>
              </a:lnSpc>
              <a:buNone/>
            </a:pPr>
            <a:r>
              <a:rPr lang="en-US" sz="1350" b="1" dirty="0">
                <a:solidFill>
                  <a:srgbClr val="0E3A5C"/>
                </a:solidFill>
                <a:latin typeface="맑은 고딕" pitchFamily="34" charset="0"/>
                <a:ea typeface="맑은 고딕" pitchFamily="34" charset="-122"/>
                <a:cs typeface="맑은 고딕" pitchFamily="34" charset="-120"/>
              </a:rPr>
              <a:t>이것이 최종 모델 채택의 핵심 근거   </a:t>
            </a:r>
            <a:r>
              <a:rPr lang="en-US" sz="1350" dirty="0">
                <a:solidFill>
                  <a:srgbClr val="1A1A1A"/>
                </a:solidFill>
                <a:latin typeface="맑은 고딕" pitchFamily="34" charset="0"/>
                <a:ea typeface="맑은 고딕" pitchFamily="34" charset="-122"/>
                <a:cs typeface="맑은 고딕" pitchFamily="34" charset="-120"/>
              </a:rPr>
              <a:t>단순히 평가 점수가 올라간 것이 아니라, 특정 온도 조건에서 일관되게 발생하던 예측 오류가 제거되었다. 혹한기·혹서기 안내의 신뢰도가 직접 개선되는 변화다.</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566928" y="365760"/>
            <a:ext cx="457200" cy="457200"/>
          </a:xfrm>
          <a:prstGeom prst="ellipse">
            <a:avLst/>
          </a:prstGeom>
          <a:solidFill>
            <a:srgbClr val="1C7293"/>
          </a:solidFill>
          <a:ln w="12700">
            <a:solidFill>
              <a:srgbClr val="1C7293"/>
            </a:solidFill>
            <a:prstDash val="solid"/>
          </a:ln>
        </p:spPr>
        <p:txBody>
          <a:bodyPr/>
          <a:lstStyle/>
          <a:p>
            <a:endParaRPr lang="ko-KR" altLang="en-US"/>
          </a:p>
        </p:txBody>
      </p:sp>
      <p:sp>
        <p:nvSpPr>
          <p:cNvPr id="3" name="Text 1"/>
          <p:cNvSpPr txBox="1"/>
          <p:nvPr/>
        </p:nvSpPr>
        <p:spPr>
          <a:xfrm>
            <a:off x="566928" y="3657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24</a:t>
            </a:r>
            <a:endParaRPr lang="en-US" sz="1600" dirty="0"/>
          </a:p>
        </p:txBody>
      </p:sp>
      <p:sp>
        <p:nvSpPr>
          <p:cNvPr id="4" name="Text 2"/>
          <p:cNvSpPr txBox="1"/>
          <p:nvPr/>
        </p:nvSpPr>
        <p:spPr>
          <a:xfrm>
            <a:off x="1152144" y="310896"/>
            <a:ext cx="10424160" cy="246888"/>
          </a:xfrm>
          <a:prstGeom prst="rect">
            <a:avLst/>
          </a:prstGeom>
          <a:noFill/>
          <a:ln/>
        </p:spPr>
        <p:txBody>
          <a:bodyPr wrap="square" lIns="0" tIns="0" rIns="0" bIns="0" rtlCol="0" anchor="ctr"/>
          <a:lstStyle/>
          <a:p>
            <a:pPr marL="0" indent="0">
              <a:buNone/>
            </a:pPr>
            <a:r>
              <a:rPr lang="en-US" sz="1150" b="1" kern="0" spc="100" dirty="0">
                <a:solidFill>
                  <a:srgbClr val="1C7293"/>
                </a:solidFill>
                <a:latin typeface="맑은 고딕" pitchFamily="34" charset="0"/>
                <a:ea typeface="맑은 고딕" pitchFamily="34" charset="-122"/>
                <a:cs typeface="맑은 고딕" pitchFamily="34" charset="-120"/>
              </a:rPr>
              <a:t>모델 개선 · 변수 영향 해석</a:t>
            </a:r>
            <a:endParaRPr lang="en-US" sz="1150" dirty="0"/>
          </a:p>
        </p:txBody>
      </p:sp>
      <p:sp>
        <p:nvSpPr>
          <p:cNvPr id="5" name="Text 3"/>
          <p:cNvSpPr txBox="1"/>
          <p:nvPr/>
        </p:nvSpPr>
        <p:spPr>
          <a:xfrm>
            <a:off x="1152144" y="566928"/>
            <a:ext cx="10469880" cy="530352"/>
          </a:xfrm>
          <a:prstGeom prst="rect">
            <a:avLst/>
          </a:prstGeom>
          <a:noFill/>
          <a:ln/>
        </p:spPr>
        <p:txBody>
          <a:bodyPr wrap="square" lIns="0" tIns="0" rIns="0" bIns="0" rtlCol="0" anchor="ctr"/>
          <a:lstStyle/>
          <a:p>
            <a:pPr marL="0" indent="0">
              <a:buNone/>
            </a:pPr>
            <a:r>
              <a:rPr lang="en-US" sz="2500" b="1" dirty="0">
                <a:solidFill>
                  <a:srgbClr val="0E3A5C"/>
                </a:solidFill>
                <a:latin typeface="맑은 고딕" pitchFamily="34" charset="0"/>
                <a:ea typeface="맑은 고딕" pitchFamily="34" charset="-122"/>
                <a:cs typeface="맑은 고딕" pitchFamily="34" charset="-120"/>
              </a:rPr>
              <a:t>무엇이 소비율을 좌우하는가 — 표준화 영향도</a:t>
            </a:r>
            <a:endParaRPr lang="en-US" sz="2500" dirty="0"/>
          </a:p>
        </p:txBody>
      </p:sp>
      <p:sp>
        <p:nvSpPr>
          <p:cNvPr id="6" name="Text 4"/>
          <p:cNvSpPr txBox="1"/>
          <p:nvPr/>
        </p:nvSpPr>
        <p:spPr>
          <a:xfrm>
            <a:off x="8686800" y="6519672"/>
            <a:ext cx="2926080" cy="274320"/>
          </a:xfrm>
          <a:prstGeom prst="rect">
            <a:avLst/>
          </a:prstGeom>
          <a:noFill/>
          <a:ln/>
        </p:spPr>
        <p:txBody>
          <a:bodyPr wrap="square" lIns="0" tIns="0" rIns="0" bIns="0" rtlCol="0" anchor="ctr"/>
          <a:lstStyle/>
          <a:p>
            <a:pPr marL="0" indent="0" algn="r">
              <a:buNone/>
            </a:pPr>
            <a:r>
              <a:rPr lang="en-US" sz="1000" dirty="0">
                <a:solidFill>
                  <a:srgbClr val="A8B4BE"/>
                </a:solidFill>
                <a:latin typeface="맑은 고딕" pitchFamily="34" charset="0"/>
                <a:ea typeface="맑은 고딕" pitchFamily="34" charset="-122"/>
                <a:cs typeface="맑은 고딕" pitchFamily="34" charset="-120"/>
              </a:rPr>
              <a:t>5. 모델 개선</a:t>
            </a:r>
            <a:endParaRPr lang="en-US" sz="1000" dirty="0"/>
          </a:p>
        </p:txBody>
      </p:sp>
      <p:graphicFrame>
        <p:nvGraphicFramePr>
          <p:cNvPr id="7" name="Chart 0"/>
          <p:cNvGraphicFramePr/>
          <p:nvPr/>
        </p:nvGraphicFramePr>
        <p:xfrm>
          <a:off x="429768" y="1298448"/>
          <a:ext cx="662940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txBox="1"/>
          <p:nvPr/>
        </p:nvSpPr>
        <p:spPr>
          <a:xfrm>
            <a:off x="566928" y="6144768"/>
            <a:ext cx="6766560" cy="274320"/>
          </a:xfrm>
          <a:prstGeom prst="rect">
            <a:avLst/>
          </a:prstGeom>
          <a:noFill/>
          <a:ln/>
        </p:spPr>
        <p:txBody>
          <a:bodyPr wrap="square" lIns="0" tIns="0" rIns="0" bIns="0" rtlCol="0" anchor="ctr"/>
          <a:lstStyle/>
          <a:p>
            <a:pPr marL="0" indent="0">
              <a:buNone/>
            </a:pPr>
            <a:r>
              <a:rPr lang="en-US" sz="1100" dirty="0">
                <a:solidFill>
                  <a:srgbClr val="5F6B78"/>
                </a:solidFill>
                <a:latin typeface="맑은 고딕" pitchFamily="34" charset="0"/>
                <a:ea typeface="맑은 고딕" pitchFamily="34" charset="-122"/>
                <a:cs typeface="맑은 고딕" pitchFamily="34" charset="-120"/>
              </a:rPr>
              <a:t>각 변수가 표준편차 1만큼 변할 때 예측값이 목표변수 표준편차 단위로 얼마나 변하는지</a:t>
            </a:r>
            <a:endParaRPr lang="en-US" sz="1100" dirty="0"/>
          </a:p>
        </p:txBody>
      </p:sp>
      <p:sp>
        <p:nvSpPr>
          <p:cNvPr id="9" name="Shape 6"/>
          <p:cNvSpPr/>
          <p:nvPr/>
        </p:nvSpPr>
        <p:spPr>
          <a:xfrm>
            <a:off x="7269480" y="1371600"/>
            <a:ext cx="4361688" cy="1371600"/>
          </a:xfrm>
          <a:prstGeom prst="roundRect">
            <a:avLst>
              <a:gd name="adj" fmla="val 3333"/>
            </a:avLst>
          </a:prstGeom>
          <a:solidFill>
            <a:srgbClr val="D8E8F0"/>
          </a:solidFill>
          <a:ln w="12700">
            <a:solidFill>
              <a:srgbClr val="1C7293"/>
            </a:solidFill>
            <a:prstDash val="solid"/>
          </a:ln>
        </p:spPr>
        <p:txBody>
          <a:bodyPr/>
          <a:lstStyle/>
          <a:p>
            <a:endParaRPr lang="ko-KR" altLang="en-US"/>
          </a:p>
        </p:txBody>
      </p:sp>
      <p:sp>
        <p:nvSpPr>
          <p:cNvPr id="10" name="Text 7"/>
          <p:cNvSpPr txBox="1"/>
          <p:nvPr/>
        </p:nvSpPr>
        <p:spPr>
          <a:xfrm>
            <a:off x="7507224" y="1371600"/>
            <a:ext cx="3886200" cy="1371600"/>
          </a:xfrm>
          <a:prstGeom prst="rect">
            <a:avLst/>
          </a:prstGeom>
          <a:noFill/>
          <a:ln/>
        </p:spPr>
        <p:txBody>
          <a:bodyPr wrap="square" lIns="0" tIns="0" rIns="0" bIns="0" rtlCol="0" anchor="ctr"/>
          <a:lstStyle/>
          <a:p>
            <a:pPr marL="0" indent="0">
              <a:lnSpc>
                <a:spcPts val="1900"/>
              </a:lnSpc>
              <a:buNone/>
            </a:pPr>
            <a:r>
              <a:rPr lang="en-US" sz="1250" b="1" dirty="0">
                <a:solidFill>
                  <a:srgbClr val="0E3A5C"/>
                </a:solidFill>
                <a:latin typeface="맑은 고딕" pitchFamily="34" charset="0"/>
                <a:ea typeface="맑은 고딕" pitchFamily="34" charset="-122"/>
                <a:cs typeface="맑은 고딕" pitchFamily="34" charset="-120"/>
              </a:rPr>
              <a:t>왜 표준화가 필요한가   </a:t>
            </a:r>
            <a:r>
              <a:rPr lang="en-US" sz="1250" dirty="0">
                <a:solidFill>
                  <a:srgbClr val="1A1A1A"/>
                </a:solidFill>
                <a:latin typeface="맑은 고딕" pitchFamily="34" charset="0"/>
                <a:ea typeface="맑은 고딕" pitchFamily="34" charset="-122"/>
                <a:cs typeface="맑은 고딕" pitchFamily="34" charset="-120"/>
              </a:rPr>
              <a:t>변수마다 단위와 범위가 달라 회귀계수를 그대로 비교할 수 없기 때문이다.</a:t>
            </a:r>
            <a:endParaRPr lang="en-US" sz="1250" dirty="0"/>
          </a:p>
        </p:txBody>
      </p:sp>
      <p:sp>
        <p:nvSpPr>
          <p:cNvPr id="11" name="Shape 8"/>
          <p:cNvSpPr/>
          <p:nvPr/>
        </p:nvSpPr>
        <p:spPr>
          <a:xfrm>
            <a:off x="7269480" y="2834640"/>
            <a:ext cx="4361688" cy="1828800"/>
          </a:xfrm>
          <a:prstGeom prst="roundRect">
            <a:avLst>
              <a:gd name="adj" fmla="val 2500"/>
            </a:avLst>
          </a:prstGeom>
          <a:solidFill>
            <a:srgbClr val="FFFFFF"/>
          </a:solidFill>
          <a:ln w="12700">
            <a:solidFill>
              <a:srgbClr val="C0392B"/>
            </a:solidFill>
            <a:prstDash val="solid"/>
          </a:ln>
        </p:spPr>
        <p:txBody>
          <a:bodyPr/>
          <a:lstStyle/>
          <a:p>
            <a:endParaRPr lang="ko-KR" altLang="en-US"/>
          </a:p>
        </p:txBody>
      </p:sp>
      <p:sp>
        <p:nvSpPr>
          <p:cNvPr id="12" name="Text 9"/>
          <p:cNvSpPr txBox="1"/>
          <p:nvPr/>
        </p:nvSpPr>
        <p:spPr>
          <a:xfrm>
            <a:off x="7498080" y="2999232"/>
            <a:ext cx="3931920" cy="310896"/>
          </a:xfrm>
          <a:prstGeom prst="rect">
            <a:avLst/>
          </a:prstGeom>
          <a:noFill/>
          <a:ln/>
        </p:spPr>
        <p:txBody>
          <a:bodyPr wrap="square" lIns="0" tIns="0" rIns="0" bIns="0" rtlCol="0" anchor="ctr"/>
          <a:lstStyle/>
          <a:p>
            <a:pPr marL="0" indent="0">
              <a:buNone/>
            </a:pPr>
            <a:r>
              <a:rPr lang="en-US" sz="1550" b="1" dirty="0">
                <a:solidFill>
                  <a:srgbClr val="C0392B"/>
                </a:solidFill>
                <a:latin typeface="맑은 고딕" pitchFamily="34" charset="0"/>
                <a:ea typeface="맑은 고딕" pitchFamily="34" charset="-122"/>
                <a:cs typeface="맑은 고딕" pitchFamily="34" charset="-120"/>
              </a:rPr>
              <a:t>cold_penalty가 6위</a:t>
            </a:r>
            <a:endParaRPr lang="en-US" sz="1550" dirty="0"/>
          </a:p>
        </p:txBody>
      </p:sp>
      <p:sp>
        <p:nvSpPr>
          <p:cNvPr id="13" name="Text 10"/>
          <p:cNvSpPr txBox="1"/>
          <p:nvPr/>
        </p:nvSpPr>
        <p:spPr>
          <a:xfrm>
            <a:off x="7498080" y="3346704"/>
            <a:ext cx="3931920" cy="1188720"/>
          </a:xfrm>
          <a:prstGeom prst="rect">
            <a:avLst/>
          </a:prstGeom>
          <a:noFill/>
          <a:ln/>
        </p:spPr>
        <p:txBody>
          <a:bodyPr wrap="square" lIns="0" tIns="0" rIns="0" bIns="0" rtlCol="0" anchor="ctr"/>
          <a:lstStyle/>
          <a:p>
            <a:pPr marL="0" indent="0">
              <a:lnSpc>
                <a:spcPts val="1700"/>
              </a:lnSpc>
              <a:buNone/>
            </a:pPr>
            <a:r>
              <a:rPr lang="en-US" sz="1200" dirty="0">
                <a:solidFill>
                  <a:srgbClr val="1A1A1A"/>
                </a:solidFill>
                <a:latin typeface="맑은 고딕" pitchFamily="34" charset="0"/>
                <a:ea typeface="맑은 고딕" pitchFamily="34" charset="-122"/>
                <a:cs typeface="맑은 고딕" pitchFamily="34" charset="-120"/>
              </a:rPr>
              <a:t>상관계수로는 7위(-0.155)로 묻혀 있던 외기온이, 곡선 관계를 분리하자 상위권 설명력을 가진 요인으로 드러났다. 반대로 ambient_temp_C의 잔여 영향도는 -0.015로 줄었다 — 온도 효과가 파생변수로 옮겨 간 것이다.</a:t>
            </a:r>
            <a:endParaRPr lang="en-US" sz="1200" dirty="0"/>
          </a:p>
        </p:txBody>
      </p:sp>
      <p:sp>
        <p:nvSpPr>
          <p:cNvPr id="14" name="Shape 11"/>
          <p:cNvSpPr/>
          <p:nvPr/>
        </p:nvSpPr>
        <p:spPr>
          <a:xfrm>
            <a:off x="7269480" y="4754880"/>
            <a:ext cx="4361688" cy="1371600"/>
          </a:xfrm>
          <a:prstGeom prst="roundRect">
            <a:avLst>
              <a:gd name="adj" fmla="val 3333"/>
            </a:avLst>
          </a:prstGeom>
          <a:solidFill>
            <a:srgbClr val="D8E8F0"/>
          </a:solidFill>
          <a:ln w="12700">
            <a:solidFill>
              <a:srgbClr val="1C7293"/>
            </a:solidFill>
            <a:prstDash val="solid"/>
          </a:ln>
        </p:spPr>
        <p:txBody>
          <a:bodyPr/>
          <a:lstStyle/>
          <a:p>
            <a:endParaRPr lang="ko-KR" altLang="en-US"/>
          </a:p>
        </p:txBody>
      </p:sp>
      <p:sp>
        <p:nvSpPr>
          <p:cNvPr id="15" name="Text 12"/>
          <p:cNvSpPr txBox="1"/>
          <p:nvPr/>
        </p:nvSpPr>
        <p:spPr>
          <a:xfrm>
            <a:off x="7507224" y="4754880"/>
            <a:ext cx="3886200" cy="1371600"/>
          </a:xfrm>
          <a:prstGeom prst="rect">
            <a:avLst/>
          </a:prstGeom>
          <a:noFill/>
          <a:ln/>
        </p:spPr>
        <p:txBody>
          <a:bodyPr wrap="square" lIns="0" tIns="0" rIns="0" bIns="0" rtlCol="0" anchor="ctr"/>
          <a:lstStyle/>
          <a:p>
            <a:pPr marL="0" indent="0">
              <a:lnSpc>
                <a:spcPts val="1900"/>
              </a:lnSpc>
              <a:buNone/>
            </a:pPr>
            <a:r>
              <a:rPr lang="en-US" sz="1250" b="1" dirty="0">
                <a:solidFill>
                  <a:srgbClr val="0E3A5C"/>
                </a:solidFill>
                <a:latin typeface="맑은 고딕" pitchFamily="34" charset="0"/>
                <a:ea typeface="맑은 고딕" pitchFamily="34" charset="-122"/>
                <a:cs typeface="맑은 고딕" pitchFamily="34" charset="-120"/>
              </a:rPr>
              <a:t>실무적 의미   </a:t>
            </a:r>
            <a:r>
              <a:rPr lang="en-US" sz="1250" dirty="0">
                <a:solidFill>
                  <a:srgbClr val="1A1A1A"/>
                </a:solidFill>
                <a:latin typeface="맑은 고딕" pitchFamily="34" charset="0"/>
                <a:ea typeface="맑은 고딕" pitchFamily="34" charset="-122"/>
                <a:cs typeface="맑은 고딕" pitchFamily="34" charset="-120"/>
              </a:rPr>
              <a:t>저온 영향(0.228)이 고온(0.058)의 약 4배다. 겨울철 경로 안내에서 에너지 여유를 더 크게 잡아야 한다.</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566928" y="365760"/>
            <a:ext cx="457200" cy="457200"/>
          </a:xfrm>
          <a:prstGeom prst="ellipse">
            <a:avLst/>
          </a:prstGeom>
          <a:solidFill>
            <a:srgbClr val="1C7293"/>
          </a:solidFill>
          <a:ln w="12700">
            <a:solidFill>
              <a:srgbClr val="1C7293"/>
            </a:solidFill>
            <a:prstDash val="solid"/>
          </a:ln>
        </p:spPr>
        <p:txBody>
          <a:bodyPr/>
          <a:lstStyle/>
          <a:p>
            <a:endParaRPr lang="ko-KR" altLang="en-US"/>
          </a:p>
        </p:txBody>
      </p:sp>
      <p:sp>
        <p:nvSpPr>
          <p:cNvPr id="3" name="Text 1"/>
          <p:cNvSpPr txBox="1"/>
          <p:nvPr/>
        </p:nvSpPr>
        <p:spPr>
          <a:xfrm>
            <a:off x="566928" y="3657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25</a:t>
            </a:r>
            <a:endParaRPr lang="en-US" sz="1600" dirty="0"/>
          </a:p>
        </p:txBody>
      </p:sp>
      <p:sp>
        <p:nvSpPr>
          <p:cNvPr id="4" name="Text 2"/>
          <p:cNvSpPr txBox="1"/>
          <p:nvPr/>
        </p:nvSpPr>
        <p:spPr>
          <a:xfrm>
            <a:off x="1152144" y="310896"/>
            <a:ext cx="10424160" cy="246888"/>
          </a:xfrm>
          <a:prstGeom prst="rect">
            <a:avLst/>
          </a:prstGeom>
          <a:noFill/>
          <a:ln/>
        </p:spPr>
        <p:txBody>
          <a:bodyPr wrap="square" lIns="0" tIns="0" rIns="0" bIns="0" rtlCol="0" anchor="ctr"/>
          <a:lstStyle/>
          <a:p>
            <a:pPr marL="0" indent="0">
              <a:buNone/>
            </a:pPr>
            <a:r>
              <a:rPr lang="en-US" sz="1150" b="1" kern="0" spc="100" dirty="0">
                <a:solidFill>
                  <a:srgbClr val="1C7293"/>
                </a:solidFill>
                <a:latin typeface="맑은 고딕" pitchFamily="34" charset="0"/>
                <a:ea typeface="맑은 고딕" pitchFamily="34" charset="-122"/>
                <a:cs typeface="맑은 고딕" pitchFamily="34" charset="-120"/>
              </a:rPr>
              <a:t>모델 개선 · 최종 선정</a:t>
            </a:r>
            <a:endParaRPr lang="en-US" sz="1150" dirty="0"/>
          </a:p>
        </p:txBody>
      </p:sp>
      <p:sp>
        <p:nvSpPr>
          <p:cNvPr id="5" name="Text 3"/>
          <p:cNvSpPr txBox="1"/>
          <p:nvPr/>
        </p:nvSpPr>
        <p:spPr>
          <a:xfrm>
            <a:off x="1152144" y="566928"/>
            <a:ext cx="10469880" cy="530352"/>
          </a:xfrm>
          <a:prstGeom prst="rect">
            <a:avLst/>
          </a:prstGeom>
          <a:noFill/>
          <a:ln/>
        </p:spPr>
        <p:txBody>
          <a:bodyPr wrap="square" lIns="0" tIns="0" rIns="0" bIns="0" rtlCol="0" anchor="ctr"/>
          <a:lstStyle/>
          <a:p>
            <a:pPr marL="0" indent="0">
              <a:buNone/>
            </a:pPr>
            <a:r>
              <a:rPr lang="en-US" sz="2500" b="1" dirty="0">
                <a:solidFill>
                  <a:srgbClr val="0E3A5C"/>
                </a:solidFill>
                <a:latin typeface="맑은 고딕" pitchFamily="34" charset="0"/>
                <a:ea typeface="맑은 고딕" pitchFamily="34" charset="-122"/>
                <a:cs typeface="맑은 고딕" pitchFamily="34" charset="-120"/>
              </a:rPr>
              <a:t>최종 모델 선정 — 다섯 가지를 모두 확인했다</a:t>
            </a:r>
            <a:endParaRPr lang="en-US" sz="2500" dirty="0"/>
          </a:p>
        </p:txBody>
      </p:sp>
      <p:sp>
        <p:nvSpPr>
          <p:cNvPr id="6" name="Text 4"/>
          <p:cNvSpPr txBox="1"/>
          <p:nvPr/>
        </p:nvSpPr>
        <p:spPr>
          <a:xfrm>
            <a:off x="8686800" y="6519672"/>
            <a:ext cx="2926080" cy="274320"/>
          </a:xfrm>
          <a:prstGeom prst="rect">
            <a:avLst/>
          </a:prstGeom>
          <a:noFill/>
          <a:ln/>
        </p:spPr>
        <p:txBody>
          <a:bodyPr wrap="square" lIns="0" tIns="0" rIns="0" bIns="0" rtlCol="0" anchor="ctr"/>
          <a:lstStyle/>
          <a:p>
            <a:pPr marL="0" indent="0" algn="r">
              <a:buNone/>
            </a:pPr>
            <a:r>
              <a:rPr lang="en-US" sz="1000" dirty="0">
                <a:solidFill>
                  <a:srgbClr val="A8B4BE"/>
                </a:solidFill>
                <a:latin typeface="맑은 고딕" pitchFamily="34" charset="0"/>
                <a:ea typeface="맑은 고딕" pitchFamily="34" charset="-122"/>
                <a:cs typeface="맑은 고딕" pitchFamily="34" charset="-120"/>
              </a:rPr>
              <a:t>5. 모델 개선</a:t>
            </a:r>
            <a:endParaRPr lang="en-US" sz="1000" dirty="0"/>
          </a:p>
        </p:txBody>
      </p:sp>
      <p:sp>
        <p:nvSpPr>
          <p:cNvPr id="7" name="Text 5"/>
          <p:cNvSpPr txBox="1"/>
          <p:nvPr/>
        </p:nvSpPr>
        <p:spPr>
          <a:xfrm>
            <a:off x="566928" y="1298448"/>
            <a:ext cx="11064240" cy="274320"/>
          </a:xfrm>
          <a:prstGeom prst="rect">
            <a:avLst/>
          </a:prstGeom>
          <a:noFill/>
          <a:ln/>
        </p:spPr>
        <p:txBody>
          <a:bodyPr wrap="square" lIns="0" tIns="0" rIns="0" bIns="0" rtlCol="0" anchor="ctr"/>
          <a:lstStyle/>
          <a:p>
            <a:pPr marL="0" indent="0">
              <a:buNone/>
            </a:pPr>
            <a:r>
              <a:rPr lang="en-US" sz="1300" dirty="0">
                <a:solidFill>
                  <a:srgbClr val="5F6B78"/>
                </a:solidFill>
                <a:latin typeface="맑은 고딕" pitchFamily="34" charset="0"/>
                <a:ea typeface="맑은 고딕" pitchFamily="34" charset="-122"/>
                <a:cs typeface="맑은 고딕" pitchFamily="34" charset="-120"/>
              </a:rPr>
              <a:t>테스트 RMSE가 가장 작다는 이유만으로 정하지 않고, 사전에 정한 조건을 하나씩 확인했다.</a:t>
            </a:r>
            <a:endParaRPr lang="en-US" sz="13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11064240" cy="1865376"/>
        </p:xfrm>
        <a:graphic>
          <a:graphicData uri="http://schemas.openxmlformats.org/drawingml/2006/table">
            <a:tbl>
              <a:tblPr/>
              <a:tblGrid>
                <a:gridCol w="640080">
                  <a:extLst>
                    <a:ext uri="{9D8B030D-6E8A-4147-A177-3AD203B41FA5}">
                      <a16:colId xmlns:a16="http://schemas.microsoft.com/office/drawing/2014/main" val="20000"/>
                    </a:ext>
                  </a:extLst>
                </a:gridCol>
                <a:gridCol w="539496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tblGrid>
              <a:tr h="310896">
                <a:tc>
                  <a:txBody>
                    <a:bodyPr/>
                    <a:lstStyle/>
                    <a:p>
                      <a:pPr marL="0" indent="0" algn="ctr">
                        <a:buNone/>
                      </a:pPr>
                      <a:r>
                        <a:rPr lang="en-US" sz="1200" b="1" dirty="0">
                          <a:solidFill>
                            <a:srgbClr val="0E3A5C"/>
                          </a:solidFill>
                          <a:latin typeface="맑은 고딕" pitchFamily="34" charset="0"/>
                          <a:ea typeface="맑은 고딕" pitchFamily="34" charset="-122"/>
                          <a:cs typeface="맑은 고딕" pitchFamily="34" charset="-120"/>
                        </a:rPr>
                        <a:t>#</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200" b="1" dirty="0">
                          <a:solidFill>
                            <a:srgbClr val="0E3A5C"/>
                          </a:solidFill>
                          <a:latin typeface="맑은 고딕" pitchFamily="34" charset="0"/>
                          <a:ea typeface="맑은 고딕" pitchFamily="34" charset="-122"/>
                          <a:cs typeface="맑은 고딕" pitchFamily="34" charset="-120"/>
                        </a:rPr>
                        <a:t>선정 조건</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200" b="1" dirty="0">
                          <a:solidFill>
                            <a:srgbClr val="0E3A5C"/>
                          </a:solidFill>
                          <a:latin typeface="맑은 고딕" pitchFamily="34" charset="0"/>
                          <a:ea typeface="맑은 고딕" pitchFamily="34" charset="-122"/>
                          <a:cs typeface="맑은 고딕" pitchFamily="34" charset="-120"/>
                        </a:rPr>
                        <a:t>확인 결과</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extLst>
                  <a:ext uri="{0D108BD9-81ED-4DB2-BD59-A6C34878D82A}">
                    <a16:rowId xmlns:a16="http://schemas.microsoft.com/office/drawing/2014/main" val="10000"/>
                  </a:ext>
                </a:extLst>
              </a:tr>
              <a:tr h="310896">
                <a:tc>
                  <a:txBody>
                    <a:bodyPr/>
                    <a:lstStyle/>
                    <a:p>
                      <a:pPr marL="0" indent="0" algn="ctr">
                        <a:buNone/>
                      </a:pPr>
                      <a:r>
                        <a:rPr lang="en-US" sz="1200" dirty="0">
                          <a:solidFill>
                            <a:srgbClr val="1A1A1A"/>
                          </a:solidFill>
                          <a:latin typeface="맑은 고딕" pitchFamily="34" charset="0"/>
                          <a:ea typeface="맑은 고딕" pitchFamily="34" charset="-122"/>
                          <a:cs typeface="맑은 고딕" pitchFamily="34" charset="-120"/>
                        </a:rPr>
                        <a:t>1</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맑은 고딕" pitchFamily="34" charset="0"/>
                          <a:ea typeface="맑은 고딕" pitchFamily="34" charset="-122"/>
                          <a:cs typeface="맑은 고딕" pitchFamily="34" charset="-120"/>
                        </a:rPr>
                        <a:t>기준 선형회귀보다 테스트 MAE·RMSE가 감소할 것</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맑은 고딕" pitchFamily="34" charset="0"/>
                          <a:ea typeface="맑은 고딕" pitchFamily="34" charset="-122"/>
                          <a:cs typeface="맑은 고딕" pitchFamily="34" charset="-120"/>
                        </a:rPr>
                        <a:t>충족 — MAE 20.24%, RMSE 19.62% 감소</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lgn="ctr">
                        <a:buNone/>
                      </a:pPr>
                      <a:r>
                        <a:rPr lang="en-US" sz="1200" dirty="0">
                          <a:solidFill>
                            <a:srgbClr val="1A1A1A"/>
                          </a:solidFill>
                          <a:latin typeface="맑은 고딕" pitchFamily="34" charset="0"/>
                          <a:ea typeface="맑은 고딕" pitchFamily="34" charset="-122"/>
                          <a:cs typeface="맑은 고딕" pitchFamily="34" charset="-120"/>
                        </a:rPr>
                        <a:t>2</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맑은 고딕" pitchFamily="34" charset="0"/>
                          <a:ea typeface="맑은 고딕" pitchFamily="34" charset="-122"/>
                          <a:cs typeface="맑은 고딕" pitchFamily="34" charset="-120"/>
                        </a:rPr>
                        <a:t>테스트 R²가 증가할 것</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맑은 고딕" pitchFamily="34" charset="0"/>
                          <a:ea typeface="맑은 고딕" pitchFamily="34" charset="-122"/>
                          <a:cs typeface="맑은 고딕" pitchFamily="34" charset="-120"/>
                        </a:rPr>
                        <a:t>충족 — 0.9246 → 0.9513</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lgn="ctr">
                        <a:buNone/>
                      </a:pPr>
                      <a:r>
                        <a:rPr lang="en-US" sz="1200" dirty="0">
                          <a:solidFill>
                            <a:srgbClr val="1A1A1A"/>
                          </a:solidFill>
                          <a:latin typeface="맑은 고딕" pitchFamily="34" charset="0"/>
                          <a:ea typeface="맑은 고딕" pitchFamily="34" charset="-122"/>
                          <a:cs typeface="맑은 고딕" pitchFamily="34" charset="-120"/>
                        </a:rPr>
                        <a:t>3</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맑은 고딕" pitchFamily="34" charset="0"/>
                          <a:ea typeface="맑은 고딕" pitchFamily="34" charset="-122"/>
                          <a:cs typeface="맑은 고딕" pitchFamily="34" charset="-120"/>
                        </a:rPr>
                        <a:t>학습·테스트 성능 차이가 작아 과적합이 심하지 않을 것</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맑은 고딕" pitchFamily="34" charset="0"/>
                          <a:ea typeface="맑은 고딕" pitchFamily="34" charset="-122"/>
                          <a:cs typeface="맑은 고딕" pitchFamily="34" charset="-120"/>
                        </a:rPr>
                        <a:t>충족 — R² 차이 0.0023, MAE 차이 0.0003</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lgn="ctr">
                        <a:buNone/>
                      </a:pPr>
                      <a:r>
                        <a:rPr lang="en-US" sz="1200" dirty="0">
                          <a:solidFill>
                            <a:srgbClr val="1A1A1A"/>
                          </a:solidFill>
                          <a:latin typeface="맑은 고딕" pitchFamily="34" charset="0"/>
                          <a:ea typeface="맑은 고딕" pitchFamily="34" charset="-122"/>
                          <a:cs typeface="맑은 고딕" pitchFamily="34" charset="-120"/>
                        </a:rPr>
                        <a:t>4</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맑은 고딕" pitchFamily="34" charset="0"/>
                          <a:ea typeface="맑은 고딕" pitchFamily="34" charset="-122"/>
                          <a:cs typeface="맑은 고딕" pitchFamily="34" charset="-120"/>
                        </a:rPr>
                        <a:t>온도 구간별 잔차 편향이 감소할 것</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맑은 고딕" pitchFamily="34" charset="0"/>
                          <a:ea typeface="맑은 고딕" pitchFamily="34" charset="-122"/>
                          <a:cs typeface="맑은 고딕" pitchFamily="34" charset="-120"/>
                        </a:rPr>
                        <a:t>충족 — 최대 편향 0.700 → 0.054</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lgn="ctr">
                        <a:buNone/>
                      </a:pPr>
                      <a:r>
                        <a:rPr lang="en-US" sz="1200" dirty="0">
                          <a:solidFill>
                            <a:srgbClr val="1A1A1A"/>
                          </a:solidFill>
                          <a:latin typeface="맑은 고딕" pitchFamily="34" charset="0"/>
                          <a:ea typeface="맑은 고딕" pitchFamily="34" charset="-122"/>
                          <a:cs typeface="맑은 고딕" pitchFamily="34" charset="-120"/>
                        </a:rPr>
                        <a:t>5</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맑은 고딕" pitchFamily="34" charset="0"/>
                          <a:ea typeface="맑은 고딕" pitchFamily="34" charset="-122"/>
                          <a:cs typeface="맑은 고딕" pitchFamily="34" charset="-120"/>
                        </a:rPr>
                        <a:t>단순한 계산 구조와 설명 가능성을 유지할 것</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맑은 고딕" pitchFamily="34" charset="0"/>
                          <a:ea typeface="맑은 고딕" pitchFamily="34" charset="-122"/>
                          <a:cs typeface="맑은 고딕" pitchFamily="34" charset="-120"/>
                        </a:rPr>
                        <a:t>충족 — 11개 항의 선형식, 영향 방향 설명 가능</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Shape 6"/>
          <p:cNvSpPr/>
          <p:nvPr/>
        </p:nvSpPr>
        <p:spPr>
          <a:xfrm>
            <a:off x="566928" y="4160520"/>
            <a:ext cx="5394960" cy="1783080"/>
          </a:xfrm>
          <a:prstGeom prst="roundRect">
            <a:avLst>
              <a:gd name="adj" fmla="val 2564"/>
            </a:avLst>
          </a:prstGeom>
          <a:solidFill>
            <a:srgbClr val="D8E8F0"/>
          </a:solidFill>
          <a:ln w="12700">
            <a:solidFill>
              <a:srgbClr val="1C7293"/>
            </a:solidFill>
            <a:prstDash val="solid"/>
          </a:ln>
        </p:spPr>
        <p:txBody>
          <a:bodyPr/>
          <a:lstStyle/>
          <a:p>
            <a:endParaRPr lang="ko-KR" altLang="en-US"/>
          </a:p>
        </p:txBody>
      </p:sp>
      <p:sp>
        <p:nvSpPr>
          <p:cNvPr id="10" name="Text 7"/>
          <p:cNvSpPr txBox="1"/>
          <p:nvPr/>
        </p:nvSpPr>
        <p:spPr>
          <a:xfrm>
            <a:off x="804672" y="4325112"/>
            <a:ext cx="4937760" cy="292608"/>
          </a:xfrm>
          <a:prstGeom prst="rect">
            <a:avLst/>
          </a:prstGeom>
          <a:noFill/>
          <a:ln/>
        </p:spPr>
        <p:txBody>
          <a:bodyPr wrap="square" lIns="0" tIns="0" rIns="0" bIns="0" rtlCol="0" anchor="ctr"/>
          <a:lstStyle/>
          <a:p>
            <a:pPr marL="0" indent="0">
              <a:buNone/>
            </a:pPr>
            <a:r>
              <a:rPr lang="en-US" sz="1450" b="1" dirty="0">
                <a:solidFill>
                  <a:srgbClr val="0E3A5C"/>
                </a:solidFill>
                <a:latin typeface="맑은 고딕" pitchFamily="34" charset="0"/>
                <a:ea typeface="맑은 고딕" pitchFamily="34" charset="-122"/>
                <a:cs typeface="맑은 고딕" pitchFamily="34" charset="-120"/>
              </a:rPr>
              <a:t>탑재 관점의 추가 판단</a:t>
            </a:r>
            <a:endParaRPr lang="en-US" sz="1450" dirty="0"/>
          </a:p>
        </p:txBody>
      </p:sp>
      <p:sp>
        <p:nvSpPr>
          <p:cNvPr id="11" name="Text 8"/>
          <p:cNvSpPr txBox="1"/>
          <p:nvPr/>
        </p:nvSpPr>
        <p:spPr>
          <a:xfrm>
            <a:off x="804672" y="4663440"/>
            <a:ext cx="4937760" cy="1188720"/>
          </a:xfrm>
          <a:prstGeom prst="rect">
            <a:avLst/>
          </a:prstGeom>
          <a:noFill/>
          <a:ln/>
        </p:spPr>
        <p:txBody>
          <a:bodyPr wrap="square" lIns="0" tIns="0" rIns="0" bIns="0" rtlCol="0" anchor="ctr"/>
          <a:lstStyle/>
          <a:p>
            <a:pPr marL="342900" indent="-342900">
              <a:lnSpc>
                <a:spcPts val="2100"/>
              </a:lnSpc>
              <a:spcAft>
                <a:spcPts val="600"/>
              </a:spcAft>
              <a:buSzPct val="100000"/>
              <a:buChar char="–"/>
            </a:pPr>
            <a:r>
              <a:rPr lang="en-US" sz="1250" dirty="0">
                <a:solidFill>
                  <a:srgbClr val="1A1A1A"/>
                </a:solidFill>
                <a:latin typeface="맑은 고딕" pitchFamily="34" charset="0"/>
                <a:ea typeface="맑은 고딕" pitchFamily="34" charset="-122"/>
                <a:cs typeface="맑은 고딕" pitchFamily="34" charset="-120"/>
              </a:rPr>
              <a:t>곱셈과 덧셈만으로 예측 — 연산량과 모델 크기가 작다</a:t>
            </a:r>
            <a:endParaRPr lang="en-US" sz="1250" dirty="0"/>
          </a:p>
          <a:p>
            <a:pPr marL="342900" indent="-342900">
              <a:lnSpc>
                <a:spcPts val="2100"/>
              </a:lnSpc>
              <a:spcAft>
                <a:spcPts val="600"/>
              </a:spcAft>
              <a:buSzPct val="100000"/>
              <a:buChar char="–"/>
            </a:pPr>
            <a:r>
              <a:rPr lang="en-US" sz="1250" dirty="0">
                <a:solidFill>
                  <a:srgbClr val="1A1A1A"/>
                </a:solidFill>
                <a:latin typeface="맑은 고딕" pitchFamily="34" charset="0"/>
                <a:ea typeface="맑은 고딕" pitchFamily="34" charset="-122"/>
                <a:cs typeface="맑은 고딕" pitchFamily="34" charset="-120"/>
              </a:rPr>
              <a:t>파생변수는 뺄셈과 max 연산 한 번씩</a:t>
            </a:r>
            <a:endParaRPr lang="en-US" sz="1250" dirty="0"/>
          </a:p>
          <a:p>
            <a:pPr marL="342900" indent="-342900">
              <a:lnSpc>
                <a:spcPts val="2100"/>
              </a:lnSpc>
              <a:spcAft>
                <a:spcPts val="600"/>
              </a:spcAft>
              <a:buSzPct val="100000"/>
              <a:buChar char="–"/>
            </a:pPr>
            <a:r>
              <a:rPr lang="en-US" sz="1250" dirty="0">
                <a:solidFill>
                  <a:srgbClr val="1A1A1A"/>
                </a:solidFill>
                <a:latin typeface="맑은 고딕" pitchFamily="34" charset="0"/>
                <a:ea typeface="맑은 고딕" pitchFamily="34" charset="-122"/>
                <a:cs typeface="맑은 고딕" pitchFamily="34" charset="-120"/>
              </a:rPr>
              <a:t>추가로 필요한 입력은 이미 확보 중인 외기온뿐</a:t>
            </a:r>
            <a:endParaRPr lang="en-US" sz="1250" dirty="0"/>
          </a:p>
        </p:txBody>
      </p:sp>
      <p:sp>
        <p:nvSpPr>
          <p:cNvPr id="12" name="Shape 9"/>
          <p:cNvSpPr/>
          <p:nvPr/>
        </p:nvSpPr>
        <p:spPr>
          <a:xfrm>
            <a:off x="6236208" y="4160520"/>
            <a:ext cx="5394960" cy="1783080"/>
          </a:xfrm>
          <a:prstGeom prst="roundRect">
            <a:avLst>
              <a:gd name="adj" fmla="val 2564"/>
            </a:avLst>
          </a:prstGeom>
          <a:solidFill>
            <a:srgbClr val="FFFFFF"/>
          </a:solidFill>
          <a:ln w="12700">
            <a:solidFill>
              <a:srgbClr val="D8E8F0"/>
            </a:solidFill>
            <a:prstDash val="solid"/>
          </a:ln>
        </p:spPr>
        <p:txBody>
          <a:bodyPr/>
          <a:lstStyle/>
          <a:p>
            <a:endParaRPr lang="ko-KR" altLang="en-US"/>
          </a:p>
        </p:txBody>
      </p:sp>
      <p:sp>
        <p:nvSpPr>
          <p:cNvPr id="13" name="Text 10"/>
          <p:cNvSpPr txBox="1"/>
          <p:nvPr/>
        </p:nvSpPr>
        <p:spPr>
          <a:xfrm>
            <a:off x="6473952" y="4325112"/>
            <a:ext cx="4937760" cy="292608"/>
          </a:xfrm>
          <a:prstGeom prst="rect">
            <a:avLst/>
          </a:prstGeom>
          <a:noFill/>
          <a:ln/>
        </p:spPr>
        <p:txBody>
          <a:bodyPr wrap="square" lIns="0" tIns="0" rIns="0" bIns="0" rtlCol="0" anchor="ctr"/>
          <a:lstStyle/>
          <a:p>
            <a:pPr marL="0" indent="0">
              <a:buNone/>
            </a:pPr>
            <a:r>
              <a:rPr lang="en-US" sz="1450" b="1" dirty="0">
                <a:solidFill>
                  <a:srgbClr val="1C7293"/>
                </a:solidFill>
                <a:latin typeface="맑은 고딕" pitchFamily="34" charset="0"/>
                <a:ea typeface="맑은 고딕" pitchFamily="34" charset="-122"/>
                <a:cs typeface="맑은 고딕" pitchFamily="34" charset="-120"/>
              </a:rPr>
              <a:t>최종 성능</a:t>
            </a:r>
            <a:endParaRPr lang="en-US" sz="1450" dirty="0"/>
          </a:p>
        </p:txBody>
      </p:sp>
      <p:sp>
        <p:nvSpPr>
          <p:cNvPr id="14" name="Text 11"/>
          <p:cNvSpPr txBox="1"/>
          <p:nvPr/>
        </p:nvSpPr>
        <p:spPr>
          <a:xfrm>
            <a:off x="6473952" y="4709160"/>
            <a:ext cx="1554480" cy="402336"/>
          </a:xfrm>
          <a:prstGeom prst="rect">
            <a:avLst/>
          </a:prstGeom>
          <a:noFill/>
          <a:ln/>
        </p:spPr>
        <p:txBody>
          <a:bodyPr wrap="square" lIns="0" tIns="0" rIns="0" bIns="0" rtlCol="0" anchor="ctr"/>
          <a:lstStyle/>
          <a:p>
            <a:pPr marL="0" indent="0" algn="ctr">
              <a:buNone/>
            </a:pPr>
            <a:r>
              <a:rPr lang="en-US" sz="1900" b="1" dirty="0">
                <a:solidFill>
                  <a:srgbClr val="0E3A5C"/>
                </a:solidFill>
                <a:latin typeface="맑은 고딕" pitchFamily="34" charset="0"/>
                <a:ea typeface="맑은 고딕" pitchFamily="34" charset="-122"/>
                <a:cs typeface="맑은 고딕" pitchFamily="34" charset="-120"/>
              </a:rPr>
              <a:t>0.6466</a:t>
            </a:r>
            <a:endParaRPr lang="en-US" sz="1900" dirty="0"/>
          </a:p>
        </p:txBody>
      </p:sp>
      <p:sp>
        <p:nvSpPr>
          <p:cNvPr id="15" name="Text 12"/>
          <p:cNvSpPr txBox="1"/>
          <p:nvPr/>
        </p:nvSpPr>
        <p:spPr>
          <a:xfrm>
            <a:off x="6473952" y="5120640"/>
            <a:ext cx="1554480" cy="274320"/>
          </a:xfrm>
          <a:prstGeom prst="rect">
            <a:avLst/>
          </a:prstGeom>
          <a:noFill/>
          <a:ln/>
        </p:spPr>
        <p:txBody>
          <a:bodyPr wrap="square" lIns="0" tIns="0" rIns="0" bIns="0" rtlCol="0" anchor="ctr"/>
          <a:lstStyle/>
          <a:p>
            <a:pPr marL="0" indent="0" algn="ctr">
              <a:buNone/>
            </a:pPr>
            <a:r>
              <a:rPr lang="en-US" sz="1150" dirty="0">
                <a:solidFill>
                  <a:srgbClr val="5F6B78"/>
                </a:solidFill>
                <a:latin typeface="맑은 고딕" pitchFamily="34" charset="0"/>
                <a:ea typeface="맑은 고딕" pitchFamily="34" charset="-122"/>
                <a:cs typeface="맑은 고딕" pitchFamily="34" charset="-120"/>
              </a:rPr>
              <a:t>Test MAE</a:t>
            </a:r>
            <a:endParaRPr lang="en-US" sz="1150" dirty="0"/>
          </a:p>
        </p:txBody>
      </p:sp>
      <p:sp>
        <p:nvSpPr>
          <p:cNvPr id="16" name="Text 13"/>
          <p:cNvSpPr txBox="1"/>
          <p:nvPr/>
        </p:nvSpPr>
        <p:spPr>
          <a:xfrm>
            <a:off x="8119872" y="4709160"/>
            <a:ext cx="1554480" cy="402336"/>
          </a:xfrm>
          <a:prstGeom prst="rect">
            <a:avLst/>
          </a:prstGeom>
          <a:noFill/>
          <a:ln/>
        </p:spPr>
        <p:txBody>
          <a:bodyPr wrap="square" lIns="0" tIns="0" rIns="0" bIns="0" rtlCol="0" anchor="ctr"/>
          <a:lstStyle/>
          <a:p>
            <a:pPr marL="0" indent="0" algn="ctr">
              <a:buNone/>
            </a:pPr>
            <a:r>
              <a:rPr lang="en-US" sz="1900" b="1" dirty="0">
                <a:solidFill>
                  <a:srgbClr val="0E3A5C"/>
                </a:solidFill>
                <a:latin typeface="맑은 고딕" pitchFamily="34" charset="0"/>
                <a:ea typeface="맑은 고딕" pitchFamily="34" charset="-122"/>
                <a:cs typeface="맑은 고딕" pitchFamily="34" charset="-120"/>
              </a:rPr>
              <a:t>0.8112</a:t>
            </a:r>
            <a:endParaRPr lang="en-US" sz="1900" dirty="0"/>
          </a:p>
        </p:txBody>
      </p:sp>
      <p:sp>
        <p:nvSpPr>
          <p:cNvPr id="17" name="Text 14"/>
          <p:cNvSpPr txBox="1"/>
          <p:nvPr/>
        </p:nvSpPr>
        <p:spPr>
          <a:xfrm>
            <a:off x="8119872" y="5120640"/>
            <a:ext cx="1554480" cy="274320"/>
          </a:xfrm>
          <a:prstGeom prst="rect">
            <a:avLst/>
          </a:prstGeom>
          <a:noFill/>
          <a:ln/>
        </p:spPr>
        <p:txBody>
          <a:bodyPr wrap="square" lIns="0" tIns="0" rIns="0" bIns="0" rtlCol="0" anchor="ctr"/>
          <a:lstStyle/>
          <a:p>
            <a:pPr marL="0" indent="0" algn="ctr">
              <a:buNone/>
            </a:pPr>
            <a:r>
              <a:rPr lang="en-US" sz="1150" dirty="0">
                <a:solidFill>
                  <a:srgbClr val="5F6B78"/>
                </a:solidFill>
                <a:latin typeface="맑은 고딕" pitchFamily="34" charset="0"/>
                <a:ea typeface="맑은 고딕" pitchFamily="34" charset="-122"/>
                <a:cs typeface="맑은 고딕" pitchFamily="34" charset="-120"/>
              </a:rPr>
              <a:t>Test RMSE</a:t>
            </a:r>
            <a:endParaRPr lang="en-US" sz="1150" dirty="0"/>
          </a:p>
        </p:txBody>
      </p:sp>
      <p:sp>
        <p:nvSpPr>
          <p:cNvPr id="18" name="Text 15"/>
          <p:cNvSpPr txBox="1"/>
          <p:nvPr/>
        </p:nvSpPr>
        <p:spPr>
          <a:xfrm>
            <a:off x="9765792" y="4709160"/>
            <a:ext cx="1554480" cy="402336"/>
          </a:xfrm>
          <a:prstGeom prst="rect">
            <a:avLst/>
          </a:prstGeom>
          <a:noFill/>
          <a:ln/>
        </p:spPr>
        <p:txBody>
          <a:bodyPr wrap="square" lIns="0" tIns="0" rIns="0" bIns="0" rtlCol="0" anchor="ctr"/>
          <a:lstStyle/>
          <a:p>
            <a:pPr marL="0" indent="0" algn="ctr">
              <a:buNone/>
            </a:pPr>
            <a:r>
              <a:rPr lang="en-US" sz="1900" b="1" dirty="0">
                <a:solidFill>
                  <a:srgbClr val="0E3A5C"/>
                </a:solidFill>
                <a:latin typeface="맑은 고딕" pitchFamily="34" charset="0"/>
                <a:ea typeface="맑은 고딕" pitchFamily="34" charset="-122"/>
                <a:cs typeface="맑은 고딕" pitchFamily="34" charset="-120"/>
              </a:rPr>
              <a:t>0.9513</a:t>
            </a:r>
            <a:endParaRPr lang="en-US" sz="1900" dirty="0"/>
          </a:p>
        </p:txBody>
      </p:sp>
      <p:sp>
        <p:nvSpPr>
          <p:cNvPr id="19" name="Text 16"/>
          <p:cNvSpPr txBox="1"/>
          <p:nvPr/>
        </p:nvSpPr>
        <p:spPr>
          <a:xfrm>
            <a:off x="9765792" y="5120640"/>
            <a:ext cx="1554480" cy="274320"/>
          </a:xfrm>
          <a:prstGeom prst="rect">
            <a:avLst/>
          </a:prstGeom>
          <a:noFill/>
          <a:ln/>
        </p:spPr>
        <p:txBody>
          <a:bodyPr wrap="square" lIns="0" tIns="0" rIns="0" bIns="0" rtlCol="0" anchor="ctr"/>
          <a:lstStyle/>
          <a:p>
            <a:pPr marL="0" indent="0" algn="ctr">
              <a:buNone/>
            </a:pPr>
            <a:r>
              <a:rPr lang="en-US" sz="1150" dirty="0">
                <a:solidFill>
                  <a:srgbClr val="5F6B78"/>
                </a:solidFill>
                <a:latin typeface="맑은 고딕" pitchFamily="34" charset="0"/>
                <a:ea typeface="맑은 고딕" pitchFamily="34" charset="-122"/>
                <a:cs typeface="맑은 고딕" pitchFamily="34" charset="-120"/>
              </a:rPr>
              <a:t>Test R²</a:t>
            </a:r>
            <a:endParaRPr lang="en-US" sz="1150" dirty="0"/>
          </a:p>
        </p:txBody>
      </p:sp>
      <p:sp>
        <p:nvSpPr>
          <p:cNvPr id="20" name="Text 17"/>
          <p:cNvSpPr txBox="1"/>
          <p:nvPr/>
        </p:nvSpPr>
        <p:spPr>
          <a:xfrm>
            <a:off x="6473952" y="5504688"/>
            <a:ext cx="4937760" cy="274320"/>
          </a:xfrm>
          <a:prstGeom prst="rect">
            <a:avLst/>
          </a:prstGeom>
          <a:noFill/>
          <a:ln/>
        </p:spPr>
        <p:txBody>
          <a:bodyPr wrap="square" lIns="0" tIns="0" rIns="0" bIns="0" rtlCol="0" anchor="ctr"/>
          <a:lstStyle/>
          <a:p>
            <a:pPr marL="0" indent="0" algn="ctr">
              <a:buNone/>
            </a:pPr>
            <a:r>
              <a:rPr lang="en-US" sz="1200" dirty="0">
                <a:solidFill>
                  <a:srgbClr val="5F6B78"/>
                </a:solidFill>
                <a:latin typeface="맑은 고딕" pitchFamily="34" charset="0"/>
                <a:ea typeface="맑은 고딕" pitchFamily="34" charset="-122"/>
                <a:cs typeface="맑은 고딕" pitchFamily="34" charset="-120"/>
              </a:rPr>
              <a:t>모델명: 개선 선형회귀 (Improved Linear Regression)</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566928" y="365760"/>
            <a:ext cx="457200" cy="457200"/>
          </a:xfrm>
          <a:prstGeom prst="ellipse">
            <a:avLst/>
          </a:prstGeom>
          <a:solidFill>
            <a:srgbClr val="1C7293"/>
          </a:solidFill>
          <a:ln w="12700">
            <a:solidFill>
              <a:srgbClr val="1C7293"/>
            </a:solidFill>
            <a:prstDash val="solid"/>
          </a:ln>
        </p:spPr>
        <p:txBody>
          <a:bodyPr/>
          <a:lstStyle/>
          <a:p>
            <a:endParaRPr lang="ko-KR" altLang="en-US"/>
          </a:p>
        </p:txBody>
      </p:sp>
      <p:sp>
        <p:nvSpPr>
          <p:cNvPr id="3" name="Text 1"/>
          <p:cNvSpPr txBox="1"/>
          <p:nvPr/>
        </p:nvSpPr>
        <p:spPr>
          <a:xfrm>
            <a:off x="566928" y="3657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26</a:t>
            </a:r>
            <a:endParaRPr lang="en-US" sz="1600" dirty="0"/>
          </a:p>
        </p:txBody>
      </p:sp>
      <p:sp>
        <p:nvSpPr>
          <p:cNvPr id="4" name="Text 2"/>
          <p:cNvSpPr txBox="1"/>
          <p:nvPr/>
        </p:nvSpPr>
        <p:spPr>
          <a:xfrm>
            <a:off x="1152144" y="310896"/>
            <a:ext cx="10424160" cy="246888"/>
          </a:xfrm>
          <a:prstGeom prst="rect">
            <a:avLst/>
          </a:prstGeom>
          <a:noFill/>
          <a:ln/>
        </p:spPr>
        <p:txBody>
          <a:bodyPr wrap="square" lIns="0" tIns="0" rIns="0" bIns="0" rtlCol="0" anchor="ctr"/>
          <a:lstStyle/>
          <a:p>
            <a:pPr marL="0" indent="0">
              <a:buNone/>
            </a:pPr>
            <a:r>
              <a:rPr lang="en-US" sz="1150" b="1" kern="0" spc="100" dirty="0">
                <a:solidFill>
                  <a:srgbClr val="1C7293"/>
                </a:solidFill>
                <a:latin typeface="맑은 고딕" pitchFamily="34" charset="0"/>
                <a:ea typeface="맑은 고딕" pitchFamily="34" charset="-122"/>
                <a:cs typeface="맑은 고딕" pitchFamily="34" charset="-120"/>
              </a:rPr>
              <a:t>업무 활용 ① · 단일 조건 예측 검증</a:t>
            </a:r>
            <a:endParaRPr lang="en-US" sz="1150" dirty="0"/>
          </a:p>
        </p:txBody>
      </p:sp>
      <p:sp>
        <p:nvSpPr>
          <p:cNvPr id="5" name="Text 3"/>
          <p:cNvSpPr txBox="1"/>
          <p:nvPr/>
        </p:nvSpPr>
        <p:spPr>
          <a:xfrm>
            <a:off x="1152144" y="566928"/>
            <a:ext cx="10469880" cy="530352"/>
          </a:xfrm>
          <a:prstGeom prst="rect">
            <a:avLst/>
          </a:prstGeom>
          <a:noFill/>
          <a:ln/>
        </p:spPr>
        <p:txBody>
          <a:bodyPr wrap="square" lIns="0" tIns="0" rIns="0" bIns="0" rtlCol="0" anchor="ctr"/>
          <a:lstStyle/>
          <a:p>
            <a:pPr marL="0" indent="0">
              <a:buNone/>
            </a:pPr>
            <a:r>
              <a:rPr lang="en-US" sz="2500" b="1" dirty="0" err="1">
                <a:solidFill>
                  <a:srgbClr val="0E3A5C"/>
                </a:solidFill>
                <a:latin typeface="맑은 고딕" pitchFamily="34" charset="0"/>
                <a:ea typeface="맑은 고딕" pitchFamily="34" charset="-122"/>
                <a:cs typeface="맑은 고딕" pitchFamily="34" charset="-120"/>
              </a:rPr>
              <a:t>계산식이</a:t>
            </a:r>
            <a:r>
              <a:rPr lang="en-US" sz="2500" b="1" dirty="0">
                <a:solidFill>
                  <a:srgbClr val="0E3A5C"/>
                </a:solidFill>
                <a:latin typeface="맑은 고딕" pitchFamily="34" charset="0"/>
                <a:ea typeface="맑은 고딕" pitchFamily="34" charset="-122"/>
                <a:cs typeface="맑은 고딕" pitchFamily="34" charset="-120"/>
              </a:rPr>
              <a:t> 의도대로 작동하는지 확인한다</a:t>
            </a:r>
            <a:endParaRPr lang="en-US" sz="2500" dirty="0"/>
          </a:p>
        </p:txBody>
      </p:sp>
      <p:sp>
        <p:nvSpPr>
          <p:cNvPr id="6" name="Text 4"/>
          <p:cNvSpPr txBox="1"/>
          <p:nvPr/>
        </p:nvSpPr>
        <p:spPr>
          <a:xfrm>
            <a:off x="8686800" y="6519672"/>
            <a:ext cx="2926080" cy="274320"/>
          </a:xfrm>
          <a:prstGeom prst="rect">
            <a:avLst/>
          </a:prstGeom>
          <a:noFill/>
          <a:ln/>
        </p:spPr>
        <p:txBody>
          <a:bodyPr wrap="square" lIns="0" tIns="0" rIns="0" bIns="0" rtlCol="0" anchor="ctr"/>
          <a:lstStyle/>
          <a:p>
            <a:pPr marL="0" indent="0" algn="r">
              <a:buNone/>
            </a:pPr>
            <a:r>
              <a:rPr lang="en-US" sz="1000" dirty="0">
                <a:solidFill>
                  <a:srgbClr val="A8B4BE"/>
                </a:solidFill>
                <a:latin typeface="맑은 고딕" pitchFamily="34" charset="0"/>
                <a:ea typeface="맑은 고딕" pitchFamily="34" charset="-122"/>
                <a:cs typeface="맑은 고딕" pitchFamily="34" charset="-120"/>
              </a:rPr>
              <a:t>6. 업무 활용 · 결론</a:t>
            </a:r>
            <a:endParaRPr lang="en-US" sz="1000" dirty="0"/>
          </a:p>
        </p:txBody>
      </p:sp>
      <p:sp>
        <p:nvSpPr>
          <p:cNvPr id="7" name="Text 5"/>
          <p:cNvSpPr txBox="1"/>
          <p:nvPr/>
        </p:nvSpPr>
        <p:spPr>
          <a:xfrm>
            <a:off x="566928" y="1298448"/>
            <a:ext cx="11064240" cy="274320"/>
          </a:xfrm>
          <a:prstGeom prst="rect">
            <a:avLst/>
          </a:prstGeom>
          <a:noFill/>
          <a:ln/>
        </p:spPr>
        <p:txBody>
          <a:bodyPr wrap="square" lIns="0" tIns="0" rIns="0" bIns="0" rtlCol="0" anchor="ctr"/>
          <a:lstStyle/>
          <a:p>
            <a:pPr marL="0" indent="0">
              <a:buNone/>
            </a:pPr>
            <a:r>
              <a:rPr lang="en-US" sz="1300" dirty="0">
                <a:solidFill>
                  <a:srgbClr val="5F6B78"/>
                </a:solidFill>
                <a:latin typeface="맑은 고딕" pitchFamily="34" charset="0"/>
                <a:ea typeface="맑은 고딕" pitchFamily="34" charset="-122"/>
                <a:cs typeface="맑은 고딕" pitchFamily="34" charset="-120"/>
              </a:rPr>
              <a:t>테스트 데이터 한 행을 골라 예측식과 환산식을 검증했다.</a:t>
            </a:r>
            <a:endParaRPr lang="en-US" sz="13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7772400" cy="2048256"/>
        </p:xfrm>
        <a:graphic>
          <a:graphicData uri="http://schemas.openxmlformats.org/drawingml/2006/table">
            <a:tbl>
              <a:tblPr/>
              <a:tblGrid>
                <a:gridCol w="292608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tblGrid>
              <a:tr h="292608">
                <a:tc>
                  <a:txBody>
                    <a:bodyPr/>
                    <a:lstStyle/>
                    <a:p>
                      <a:pPr marL="0" indent="0" algn="ctr">
                        <a:buNone/>
                      </a:pPr>
                      <a:r>
                        <a:rPr lang="en-US" sz="1200" b="1" dirty="0">
                          <a:solidFill>
                            <a:srgbClr val="0E3A5C"/>
                          </a:solidFill>
                          <a:latin typeface="맑은 고딕" pitchFamily="34" charset="0"/>
                          <a:ea typeface="맑은 고딕" pitchFamily="34" charset="-122"/>
                          <a:cs typeface="맑은 고딕" pitchFamily="34" charset="-120"/>
                        </a:rPr>
                        <a:t>구분</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200" b="1" dirty="0">
                          <a:solidFill>
                            <a:srgbClr val="0E3A5C"/>
                          </a:solidFill>
                          <a:latin typeface="맑은 고딕" pitchFamily="34" charset="0"/>
                          <a:ea typeface="맑은 고딕" pitchFamily="34" charset="-122"/>
                          <a:cs typeface="맑은 고딕" pitchFamily="34" charset="-120"/>
                        </a:rPr>
                        <a:t>값</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extLst>
                  <a:ext uri="{0D108BD9-81ED-4DB2-BD59-A6C34878D82A}">
                    <a16:rowId xmlns:a16="http://schemas.microsoft.com/office/drawing/2014/main" val="10000"/>
                  </a:ext>
                </a:extLst>
              </a:tr>
              <a:tr h="292608">
                <a:tc>
                  <a:txBody>
                    <a:bodyPr/>
                    <a:lstStyle/>
                    <a:p>
                      <a:pPr marL="0" indent="0" algn="l">
                        <a:buNone/>
                      </a:pPr>
                      <a:r>
                        <a:rPr lang="en-US" sz="1200" dirty="0">
                          <a:solidFill>
                            <a:srgbClr val="1A1A1A"/>
                          </a:solidFill>
                          <a:latin typeface="맑은 고딕" pitchFamily="34" charset="0"/>
                          <a:ea typeface="맑은 고딕" pitchFamily="34" charset="-122"/>
                          <a:cs typeface="맑은 고딕" pitchFamily="34" charset="-120"/>
                        </a:rPr>
                        <a:t>실제 에너지 소비율</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맑은 고딕" pitchFamily="34" charset="0"/>
                          <a:ea typeface="맑은 고딕" pitchFamily="34" charset="-122"/>
                          <a:cs typeface="맑은 고딕" pitchFamily="34" charset="-120"/>
                        </a:rPr>
                        <a:t>26.01 kWh/100km</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lgn="l">
                        <a:buNone/>
                      </a:pPr>
                      <a:r>
                        <a:rPr lang="en-US" sz="1200" dirty="0">
                          <a:solidFill>
                            <a:srgbClr val="1A1A1A"/>
                          </a:solidFill>
                          <a:latin typeface="맑은 고딕" pitchFamily="34" charset="0"/>
                          <a:ea typeface="맑은 고딕" pitchFamily="34" charset="-122"/>
                          <a:cs typeface="맑은 고딕" pitchFamily="34" charset="-120"/>
                        </a:rPr>
                        <a:t>기준 모델 예측</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맑은 고딕" pitchFamily="34" charset="0"/>
                          <a:ea typeface="맑은 고딕" pitchFamily="34" charset="-122"/>
                          <a:cs typeface="맑은 고딕" pitchFamily="34" charset="-120"/>
                        </a:rPr>
                        <a:t>26.40 kWh/100km  (오차 +0.39)</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lgn="l">
                        <a:buNone/>
                      </a:pPr>
                      <a:r>
                        <a:rPr lang="en-US" sz="1200" b="1" dirty="0">
                          <a:solidFill>
                            <a:srgbClr val="0E3A5C"/>
                          </a:solidFill>
                          <a:latin typeface="맑은 고딕" pitchFamily="34" charset="0"/>
                          <a:ea typeface="맑은 고딕" pitchFamily="34" charset="-122"/>
                          <a:cs typeface="맑은 고딕" pitchFamily="34" charset="-120"/>
                        </a:rPr>
                        <a:t>개선 모델 예측</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tc>
                  <a:txBody>
                    <a:bodyPr/>
                    <a:lstStyle/>
                    <a:p>
                      <a:pPr marL="0" indent="0" algn="l">
                        <a:buNone/>
                      </a:pPr>
                      <a:r>
                        <a:rPr lang="en-US" sz="1200" b="1" dirty="0">
                          <a:solidFill>
                            <a:srgbClr val="0E3A5C"/>
                          </a:solidFill>
                          <a:latin typeface="맑은 고딕" pitchFamily="34" charset="0"/>
                          <a:ea typeface="맑은 고딕" pitchFamily="34" charset="-122"/>
                          <a:cs typeface="맑은 고딕" pitchFamily="34" charset="-120"/>
                        </a:rPr>
                        <a:t>25.95 kWh/100km  (오차 -0.06)</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extLst>
                  <a:ext uri="{0D108BD9-81ED-4DB2-BD59-A6C34878D82A}">
                    <a16:rowId xmlns:a16="http://schemas.microsoft.com/office/drawing/2014/main" val="10003"/>
                  </a:ext>
                </a:extLst>
              </a:tr>
              <a:tr h="292608">
                <a:tc>
                  <a:txBody>
                    <a:bodyPr/>
                    <a:lstStyle/>
                    <a:p>
                      <a:pPr marL="0" indent="0" algn="l">
                        <a:buNone/>
                      </a:pPr>
                      <a:r>
                        <a:rPr lang="en-US" sz="1200" dirty="0">
                          <a:solidFill>
                            <a:srgbClr val="1A1A1A"/>
                          </a:solidFill>
                          <a:latin typeface="맑은 고딕" pitchFamily="34" charset="0"/>
                          <a:ea typeface="맑은 고딕" pitchFamily="34" charset="-122"/>
                          <a:cs typeface="맑은 고딕" pitchFamily="34" charset="-120"/>
                        </a:rPr>
                        <a:t>구간 거리</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맑은 고딕" pitchFamily="34" charset="0"/>
                          <a:ea typeface="맑은 고딕" pitchFamily="34" charset="-122"/>
                          <a:cs typeface="맑은 고딕" pitchFamily="34" charset="-120"/>
                        </a:rPr>
                        <a:t>176.9 km</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2608">
                <a:tc>
                  <a:txBody>
                    <a:bodyPr/>
                    <a:lstStyle/>
                    <a:p>
                      <a:pPr marL="0" indent="0" algn="l">
                        <a:buNone/>
                      </a:pPr>
                      <a:r>
                        <a:rPr lang="en-US" sz="1200" dirty="0">
                          <a:solidFill>
                            <a:srgbClr val="1A1A1A"/>
                          </a:solidFill>
                          <a:latin typeface="맑은 고딕" pitchFamily="34" charset="0"/>
                          <a:ea typeface="맑은 고딕" pitchFamily="34" charset="-122"/>
                          <a:cs typeface="맑은 고딕" pitchFamily="34" charset="-120"/>
                        </a:rPr>
                        <a:t>예상 소비전력량</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맑은 고딕" pitchFamily="34" charset="0"/>
                          <a:ea typeface="맑은 고딕" pitchFamily="34" charset="-122"/>
                          <a:cs typeface="맑은 고딕" pitchFamily="34" charset="-120"/>
                        </a:rPr>
                        <a:t>25.95 × 176.9 ÷ 100 = 45.91 kWh</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2608">
                <a:tc>
                  <a:txBody>
                    <a:bodyPr/>
                    <a:lstStyle/>
                    <a:p>
                      <a:pPr marL="0" indent="0" algn="l">
                        <a:buNone/>
                      </a:pPr>
                      <a:r>
                        <a:rPr lang="en-US" sz="1200" dirty="0">
                          <a:solidFill>
                            <a:srgbClr val="1A1A1A"/>
                          </a:solidFill>
                          <a:latin typeface="맑은 고딕" pitchFamily="34" charset="0"/>
                          <a:ea typeface="맑은 고딕" pitchFamily="34" charset="-122"/>
                          <a:cs typeface="맑은 고딕" pitchFamily="34" charset="-120"/>
                        </a:rPr>
                        <a:t>도착 예상 SOC</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맑은 고딕" pitchFamily="34" charset="0"/>
                          <a:ea typeface="맑은 고딕" pitchFamily="34" charset="-122"/>
                          <a:cs typeface="맑은 고딕" pitchFamily="34" charset="-120"/>
                        </a:rPr>
                        <a:t>80% − 45.91 ÷ 60 × 100 = 3.5%</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9" name="Shape 6"/>
          <p:cNvSpPr/>
          <p:nvPr/>
        </p:nvSpPr>
        <p:spPr>
          <a:xfrm>
            <a:off x="8595360" y="1664208"/>
            <a:ext cx="3035808" cy="1554480"/>
          </a:xfrm>
          <a:prstGeom prst="roundRect">
            <a:avLst>
              <a:gd name="adj" fmla="val 2941"/>
            </a:avLst>
          </a:prstGeom>
          <a:solidFill>
            <a:srgbClr val="D8E8F0"/>
          </a:solidFill>
          <a:ln w="12700">
            <a:solidFill>
              <a:srgbClr val="1C7293"/>
            </a:solidFill>
            <a:prstDash val="solid"/>
          </a:ln>
        </p:spPr>
        <p:txBody>
          <a:bodyPr/>
          <a:lstStyle/>
          <a:p>
            <a:endParaRPr lang="ko-KR" altLang="en-US"/>
          </a:p>
        </p:txBody>
      </p:sp>
      <p:sp>
        <p:nvSpPr>
          <p:cNvPr id="10" name="Text 7"/>
          <p:cNvSpPr txBox="1"/>
          <p:nvPr/>
        </p:nvSpPr>
        <p:spPr>
          <a:xfrm>
            <a:off x="8833104" y="1664208"/>
            <a:ext cx="2560320" cy="1554480"/>
          </a:xfrm>
          <a:prstGeom prst="rect">
            <a:avLst/>
          </a:prstGeom>
          <a:noFill/>
          <a:ln/>
        </p:spPr>
        <p:txBody>
          <a:bodyPr wrap="square" lIns="0" tIns="0" rIns="0" bIns="0" rtlCol="0" anchor="ctr"/>
          <a:lstStyle/>
          <a:p>
            <a:pPr marL="0" indent="0">
              <a:lnSpc>
                <a:spcPts val="1900"/>
              </a:lnSpc>
              <a:buNone/>
            </a:pPr>
            <a:r>
              <a:rPr lang="en-US" sz="1250" b="1" dirty="0">
                <a:solidFill>
                  <a:srgbClr val="0E3A5C"/>
                </a:solidFill>
                <a:latin typeface="맑은 고딕" pitchFamily="34" charset="0"/>
                <a:ea typeface="맑은 고딕" pitchFamily="34" charset="-122"/>
                <a:cs typeface="맑은 고딕" pitchFamily="34" charset="-120"/>
              </a:rPr>
              <a:t>가정   </a:t>
            </a:r>
            <a:r>
              <a:rPr lang="en-US" sz="1250" dirty="0">
                <a:solidFill>
                  <a:srgbClr val="1A1A1A"/>
                </a:solidFill>
                <a:latin typeface="맑은 고딕" pitchFamily="34" charset="0"/>
                <a:ea typeface="맑은 고딕" pitchFamily="34" charset="-122"/>
                <a:cs typeface="맑은 고딕" pitchFamily="34" charset="-120"/>
              </a:rPr>
              <a:t>사용 가능 배터리 60kWh</a:t>
            </a:r>
            <a:endParaRPr lang="en-US" sz="1250" dirty="0"/>
          </a:p>
          <a:p>
            <a:pPr marL="0" indent="0">
              <a:lnSpc>
                <a:spcPts val="1900"/>
              </a:lnSpc>
              <a:buNone/>
            </a:pPr>
            <a:r>
              <a:rPr lang="en-US" sz="1250" dirty="0">
                <a:solidFill>
                  <a:srgbClr val="1A1A1A"/>
                </a:solidFill>
                <a:latin typeface="맑은 고딕" pitchFamily="34" charset="0"/>
                <a:ea typeface="맑은 고딕" pitchFamily="34" charset="-122"/>
                <a:cs typeface="맑은 고딕" pitchFamily="34" charset="-120"/>
              </a:rPr>
              <a:t>출발 SOC 80%</a:t>
            </a:r>
            <a:endParaRPr lang="en-US" sz="1250" dirty="0"/>
          </a:p>
        </p:txBody>
      </p:sp>
      <p:sp>
        <p:nvSpPr>
          <p:cNvPr id="11" name="Shape 8"/>
          <p:cNvSpPr/>
          <p:nvPr/>
        </p:nvSpPr>
        <p:spPr>
          <a:xfrm>
            <a:off x="8595360" y="3364992"/>
            <a:ext cx="3035808" cy="1810512"/>
          </a:xfrm>
          <a:prstGeom prst="roundRect">
            <a:avLst>
              <a:gd name="adj" fmla="val 2525"/>
            </a:avLst>
          </a:prstGeom>
          <a:solidFill>
            <a:srgbClr val="FFFFFF"/>
          </a:solidFill>
          <a:ln w="12700">
            <a:solidFill>
              <a:srgbClr val="D8E8F0"/>
            </a:solidFill>
            <a:prstDash val="solid"/>
          </a:ln>
        </p:spPr>
        <p:txBody>
          <a:bodyPr/>
          <a:lstStyle/>
          <a:p>
            <a:endParaRPr lang="ko-KR" altLang="en-US"/>
          </a:p>
        </p:txBody>
      </p:sp>
      <p:sp>
        <p:nvSpPr>
          <p:cNvPr id="12" name="Text 9"/>
          <p:cNvSpPr txBox="1"/>
          <p:nvPr/>
        </p:nvSpPr>
        <p:spPr>
          <a:xfrm>
            <a:off x="8833104" y="3364992"/>
            <a:ext cx="2560320" cy="1810512"/>
          </a:xfrm>
          <a:prstGeom prst="rect">
            <a:avLst/>
          </a:prstGeom>
          <a:noFill/>
          <a:ln/>
        </p:spPr>
        <p:txBody>
          <a:bodyPr wrap="square" lIns="0" tIns="0" rIns="0" bIns="0" rtlCol="0" anchor="ctr"/>
          <a:lstStyle/>
          <a:p>
            <a:pPr marL="0" indent="0">
              <a:lnSpc>
                <a:spcPts val="1900"/>
              </a:lnSpc>
              <a:buNone/>
            </a:pPr>
            <a:r>
              <a:rPr lang="en-US" sz="1250" b="1" dirty="0">
                <a:solidFill>
                  <a:srgbClr val="0E3A5C"/>
                </a:solidFill>
                <a:latin typeface="맑은 고딕" pitchFamily="34" charset="0"/>
                <a:ea typeface="맑은 고딕" pitchFamily="34" charset="-122"/>
                <a:cs typeface="맑은 고딕" pitchFamily="34" charset="-120"/>
              </a:rPr>
              <a:t>확인된 것   </a:t>
            </a:r>
            <a:r>
              <a:rPr lang="en-US" sz="1250" dirty="0">
                <a:solidFill>
                  <a:srgbClr val="1A1A1A"/>
                </a:solidFill>
                <a:latin typeface="맑은 고딕" pitchFamily="34" charset="0"/>
                <a:ea typeface="맑은 고딕" pitchFamily="34" charset="-122"/>
                <a:cs typeface="맑은 고딕" pitchFamily="34" charset="-120"/>
              </a:rPr>
              <a:t>개선 모델이 실제값에 더 가깝고, 두 계산식이 의도대로 이어진다.</a:t>
            </a:r>
            <a:endParaRPr lang="en-US" sz="1250" dirty="0"/>
          </a:p>
        </p:txBody>
      </p:sp>
      <p:sp>
        <p:nvSpPr>
          <p:cNvPr id="13" name="Shape 10"/>
          <p:cNvSpPr/>
          <p:nvPr/>
        </p:nvSpPr>
        <p:spPr>
          <a:xfrm>
            <a:off x="566928" y="4023360"/>
            <a:ext cx="7680960" cy="1188720"/>
          </a:xfrm>
          <a:prstGeom prst="roundRect">
            <a:avLst>
              <a:gd name="adj" fmla="val 3846"/>
            </a:avLst>
          </a:prstGeom>
          <a:solidFill>
            <a:srgbClr val="FFFFFF"/>
          </a:solidFill>
          <a:ln w="12700">
            <a:solidFill>
              <a:srgbClr val="C0392B"/>
            </a:solidFill>
            <a:prstDash val="solid"/>
          </a:ln>
        </p:spPr>
        <p:txBody>
          <a:bodyPr/>
          <a:lstStyle/>
          <a:p>
            <a:endParaRPr lang="ko-KR" altLang="en-US"/>
          </a:p>
        </p:txBody>
      </p:sp>
      <p:sp>
        <p:nvSpPr>
          <p:cNvPr id="14" name="Text 11"/>
          <p:cNvSpPr txBox="1"/>
          <p:nvPr/>
        </p:nvSpPr>
        <p:spPr>
          <a:xfrm>
            <a:off x="804672" y="4169664"/>
            <a:ext cx="7223760" cy="310896"/>
          </a:xfrm>
          <a:prstGeom prst="rect">
            <a:avLst/>
          </a:prstGeom>
          <a:noFill/>
          <a:ln/>
        </p:spPr>
        <p:txBody>
          <a:bodyPr wrap="square" lIns="0" tIns="0" rIns="0" bIns="0" rtlCol="0" anchor="ctr"/>
          <a:lstStyle/>
          <a:p>
            <a:pPr marL="0" indent="0">
              <a:buNone/>
            </a:pPr>
            <a:r>
              <a:rPr lang="en-US" sz="1550" b="1" dirty="0">
                <a:solidFill>
                  <a:srgbClr val="C0392B"/>
                </a:solidFill>
                <a:latin typeface="맑은 고딕" pitchFamily="34" charset="0"/>
                <a:ea typeface="맑은 고딕" pitchFamily="34" charset="-122"/>
                <a:cs typeface="맑은 고딕" pitchFamily="34" charset="-120"/>
              </a:rPr>
              <a:t>다만 이것은 모델 검증일 뿐이다</a:t>
            </a:r>
            <a:endParaRPr lang="en-US" sz="1550" dirty="0"/>
          </a:p>
        </p:txBody>
      </p:sp>
      <p:sp>
        <p:nvSpPr>
          <p:cNvPr id="15" name="Text 12"/>
          <p:cNvSpPr txBox="1"/>
          <p:nvPr/>
        </p:nvSpPr>
        <p:spPr>
          <a:xfrm>
            <a:off x="804672" y="4507992"/>
            <a:ext cx="7223760" cy="603504"/>
          </a:xfrm>
          <a:prstGeom prst="rect">
            <a:avLst/>
          </a:prstGeom>
          <a:noFill/>
          <a:ln/>
        </p:spPr>
        <p:txBody>
          <a:bodyPr wrap="square" lIns="0" tIns="0" rIns="0" bIns="0" rtlCol="0" anchor="ctr"/>
          <a:lstStyle/>
          <a:p>
            <a:pPr marL="0" indent="0">
              <a:lnSpc>
                <a:spcPts val="1800"/>
              </a:lnSpc>
              <a:buNone/>
            </a:pPr>
            <a:r>
              <a:rPr lang="en-US" sz="1250" dirty="0">
                <a:solidFill>
                  <a:srgbClr val="1A1A1A"/>
                </a:solidFill>
                <a:latin typeface="맑은 고딕" pitchFamily="34" charset="0"/>
                <a:ea typeface="맑은 고딕" pitchFamily="34" charset="-122"/>
                <a:cs typeface="맑은 고딕" pitchFamily="34" charset="-120"/>
              </a:rPr>
              <a:t>실제 내비게이션에서는 소비율의 실제값을 미리 알 수 없다. 따라서 경로 안내 기능은 예측값만으로 후보를 비교하는 형태여야 한다.</a:t>
            </a:r>
            <a:endParaRPr lang="en-US" sz="1250" dirty="0"/>
          </a:p>
        </p:txBody>
      </p:sp>
      <p:sp>
        <p:nvSpPr>
          <p:cNvPr id="16" name="Shape 13"/>
          <p:cNvSpPr/>
          <p:nvPr/>
        </p:nvSpPr>
        <p:spPr>
          <a:xfrm>
            <a:off x="566928" y="5376672"/>
            <a:ext cx="11064240" cy="804672"/>
          </a:xfrm>
          <a:prstGeom prst="roundRect">
            <a:avLst>
              <a:gd name="adj" fmla="val 5682"/>
            </a:avLst>
          </a:prstGeom>
          <a:solidFill>
            <a:srgbClr val="D8E8F0"/>
          </a:solidFill>
          <a:ln w="12700">
            <a:solidFill>
              <a:srgbClr val="1C7293"/>
            </a:solidFill>
            <a:prstDash val="solid"/>
          </a:ln>
        </p:spPr>
        <p:txBody>
          <a:bodyPr/>
          <a:lstStyle/>
          <a:p>
            <a:endParaRPr lang="ko-KR" altLang="en-US"/>
          </a:p>
        </p:txBody>
      </p:sp>
      <p:sp>
        <p:nvSpPr>
          <p:cNvPr id="17" name="Text 14"/>
          <p:cNvSpPr txBox="1"/>
          <p:nvPr/>
        </p:nvSpPr>
        <p:spPr>
          <a:xfrm>
            <a:off x="804672" y="5376672"/>
            <a:ext cx="10588752" cy="804672"/>
          </a:xfrm>
          <a:prstGeom prst="rect">
            <a:avLst/>
          </a:prstGeom>
          <a:noFill/>
          <a:ln/>
        </p:spPr>
        <p:txBody>
          <a:bodyPr wrap="square" lIns="0" tIns="0" rIns="0" bIns="0" rtlCol="0" anchor="ctr"/>
          <a:lstStyle/>
          <a:p>
            <a:pPr marL="0" indent="0">
              <a:lnSpc>
                <a:spcPts val="1900"/>
              </a:lnSpc>
              <a:buNone/>
            </a:pPr>
            <a:r>
              <a:rPr lang="en-US" sz="1350" b="1" dirty="0">
                <a:solidFill>
                  <a:srgbClr val="0E3A5C"/>
                </a:solidFill>
                <a:latin typeface="맑은 고딕" pitchFamily="34" charset="0"/>
                <a:ea typeface="맑은 고딕" pitchFamily="34" charset="-122"/>
                <a:cs typeface="맑은 고딕" pitchFamily="34" charset="-120"/>
              </a:rPr>
              <a:t>그래서 다음 장에서는   </a:t>
            </a:r>
            <a:r>
              <a:rPr lang="en-US" sz="1350" dirty="0">
                <a:solidFill>
                  <a:srgbClr val="1A1A1A"/>
                </a:solidFill>
                <a:latin typeface="맑은 고딕" pitchFamily="34" charset="0"/>
                <a:ea typeface="맑은 고딕" pitchFamily="34" charset="-122"/>
                <a:cs typeface="맑은 고딕" pitchFamily="34" charset="-120"/>
              </a:rPr>
              <a:t>같은 목적지를 잇는 세 개의 후보 경로를 만들고, 실제값 없이 예측값만으로 비교하는 시뮬레이션을 수행했다.</a:t>
            </a:r>
            <a:endParaRPr lang="en-US" sz="13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3">
    <p:bg>
      <p:bgPr>
        <a:solidFill>
          <a:srgbClr val="0E3A5C"/>
        </a:solidFill>
        <a:effectLst/>
      </p:bgPr>
    </p:bg>
    <p:spTree>
      <p:nvGrpSpPr>
        <p:cNvPr id="1" name=""/>
        <p:cNvGrpSpPr/>
        <p:nvPr/>
      </p:nvGrpSpPr>
      <p:grpSpPr>
        <a:xfrm>
          <a:off x="0" y="0"/>
          <a:ext cx="0" cy="0"/>
          <a:chOff x="0" y="0"/>
          <a:chExt cx="0" cy="0"/>
        </a:xfrm>
      </p:grpSpPr>
      <p:sp>
        <p:nvSpPr>
          <p:cNvPr id="2" name="Shape 0"/>
          <p:cNvSpPr/>
          <p:nvPr/>
        </p:nvSpPr>
        <p:spPr>
          <a:xfrm>
            <a:off x="9966960" y="4023360"/>
            <a:ext cx="3108960" cy="3108960"/>
          </a:xfrm>
          <a:prstGeom prst="ellipse">
            <a:avLst/>
          </a:prstGeom>
          <a:solidFill>
            <a:srgbClr val="1C7293">
              <a:alpha val="20000"/>
            </a:srgbClr>
          </a:solidFill>
          <a:ln w="12700">
            <a:solidFill>
              <a:srgbClr val="1C7293">
                <a:alpha val="0"/>
              </a:srgbClr>
            </a:solidFill>
            <a:prstDash val="solid"/>
          </a:ln>
        </p:spPr>
        <p:txBody>
          <a:bodyPr/>
          <a:lstStyle/>
          <a:p>
            <a:endParaRPr lang="ko-KR" altLang="en-US"/>
          </a:p>
        </p:txBody>
      </p:sp>
      <p:sp>
        <p:nvSpPr>
          <p:cNvPr id="3" name="Text 1"/>
          <p:cNvSpPr txBox="1"/>
          <p:nvPr/>
        </p:nvSpPr>
        <p:spPr>
          <a:xfrm>
            <a:off x="658368" y="2286000"/>
            <a:ext cx="7315200" cy="292608"/>
          </a:xfrm>
          <a:prstGeom prst="rect">
            <a:avLst/>
          </a:prstGeom>
          <a:noFill/>
          <a:ln/>
        </p:spPr>
        <p:txBody>
          <a:bodyPr wrap="square" lIns="0" tIns="0" rIns="0" bIns="0" rtlCol="0" anchor="ctr"/>
          <a:lstStyle/>
          <a:p>
            <a:pPr marL="0" indent="0">
              <a:buNone/>
            </a:pPr>
            <a:r>
              <a:rPr lang="en-US" sz="1300" b="1" kern="0" spc="200" dirty="0">
                <a:solidFill>
                  <a:srgbClr val="9FC2D6"/>
                </a:solidFill>
                <a:latin typeface="맑은 고딕" pitchFamily="34" charset="0"/>
                <a:ea typeface="맑은 고딕" pitchFamily="34" charset="-122"/>
                <a:cs typeface="맑은 고딕" pitchFamily="34" charset="-120"/>
              </a:rPr>
              <a:t>PART 6</a:t>
            </a:r>
            <a:endParaRPr lang="en-US" sz="1300" dirty="0"/>
          </a:p>
        </p:txBody>
      </p:sp>
      <p:sp>
        <p:nvSpPr>
          <p:cNvPr id="4" name="Text 2"/>
          <p:cNvSpPr txBox="1"/>
          <p:nvPr/>
        </p:nvSpPr>
        <p:spPr>
          <a:xfrm>
            <a:off x="658368" y="2670048"/>
            <a:ext cx="8778240" cy="685800"/>
          </a:xfrm>
          <a:prstGeom prst="rect">
            <a:avLst/>
          </a:prstGeom>
          <a:noFill/>
          <a:ln/>
        </p:spPr>
        <p:txBody>
          <a:bodyPr wrap="square" lIns="0" tIns="0" rIns="0" bIns="0" rtlCol="0" anchor="ctr"/>
          <a:lstStyle/>
          <a:p>
            <a:pPr marL="0" indent="0">
              <a:buNone/>
            </a:pPr>
            <a:r>
              <a:rPr lang="en-US" sz="3400" b="1" dirty="0" err="1">
                <a:solidFill>
                  <a:srgbClr val="FFFFFF"/>
                </a:solidFill>
                <a:latin typeface="맑은 고딕" pitchFamily="34" charset="0"/>
                <a:ea typeface="맑은 고딕" pitchFamily="34" charset="-122"/>
                <a:cs typeface="맑은 고딕" pitchFamily="34" charset="-120"/>
              </a:rPr>
              <a:t>활용과</a:t>
            </a:r>
            <a:r>
              <a:rPr lang="en-US" sz="3400" b="1" dirty="0">
                <a:solidFill>
                  <a:srgbClr val="FFFFFF"/>
                </a:solidFill>
                <a:latin typeface="맑은 고딕" pitchFamily="34" charset="0"/>
                <a:ea typeface="맑은 고딕" pitchFamily="34" charset="-122"/>
                <a:cs typeface="맑은 고딕" pitchFamily="34" charset="-120"/>
              </a:rPr>
              <a:t> 결론</a:t>
            </a:r>
            <a:endParaRPr lang="en-US" sz="3400" dirty="0"/>
          </a:p>
        </p:txBody>
      </p:sp>
      <p:sp>
        <p:nvSpPr>
          <p:cNvPr id="5" name="Text 3"/>
          <p:cNvSpPr txBox="1"/>
          <p:nvPr/>
        </p:nvSpPr>
        <p:spPr>
          <a:xfrm>
            <a:off x="658368" y="3520440"/>
            <a:ext cx="8778240" cy="365760"/>
          </a:xfrm>
          <a:prstGeom prst="rect">
            <a:avLst/>
          </a:prstGeom>
          <a:noFill/>
          <a:ln/>
        </p:spPr>
        <p:txBody>
          <a:bodyPr wrap="square" lIns="0" tIns="0" rIns="0" bIns="0" rtlCol="0" anchor="ctr"/>
          <a:lstStyle/>
          <a:p>
            <a:pPr marL="0" indent="0">
              <a:buNone/>
            </a:pPr>
            <a:r>
              <a:rPr lang="en-US" sz="1400" dirty="0">
                <a:solidFill>
                  <a:srgbClr val="D8E8F0"/>
                </a:solidFill>
                <a:latin typeface="맑은 고딕" pitchFamily="34" charset="0"/>
                <a:ea typeface="맑은 고딕" pitchFamily="34" charset="-122"/>
                <a:cs typeface="맑은 고딕" pitchFamily="34" charset="-120"/>
              </a:rPr>
              <a:t>경로 비교 시뮬레이션 · 한계 · 개선 방향</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566928" y="365760"/>
            <a:ext cx="457200" cy="457200"/>
          </a:xfrm>
          <a:prstGeom prst="ellipse">
            <a:avLst/>
          </a:prstGeom>
          <a:solidFill>
            <a:srgbClr val="1C7293"/>
          </a:solidFill>
          <a:ln w="12700">
            <a:solidFill>
              <a:srgbClr val="1C7293"/>
            </a:solidFill>
            <a:prstDash val="solid"/>
          </a:ln>
        </p:spPr>
        <p:txBody>
          <a:bodyPr/>
          <a:lstStyle/>
          <a:p>
            <a:endParaRPr lang="ko-KR" altLang="en-US"/>
          </a:p>
        </p:txBody>
      </p:sp>
      <p:sp>
        <p:nvSpPr>
          <p:cNvPr id="3" name="Text 1"/>
          <p:cNvSpPr txBox="1"/>
          <p:nvPr/>
        </p:nvSpPr>
        <p:spPr>
          <a:xfrm>
            <a:off x="566928" y="3657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27</a:t>
            </a:r>
            <a:endParaRPr lang="en-US" sz="1600" dirty="0"/>
          </a:p>
        </p:txBody>
      </p:sp>
      <p:sp>
        <p:nvSpPr>
          <p:cNvPr id="4" name="Text 2"/>
          <p:cNvSpPr txBox="1"/>
          <p:nvPr/>
        </p:nvSpPr>
        <p:spPr>
          <a:xfrm>
            <a:off x="1152144" y="310896"/>
            <a:ext cx="10424160" cy="246888"/>
          </a:xfrm>
          <a:prstGeom prst="rect">
            <a:avLst/>
          </a:prstGeom>
          <a:noFill/>
          <a:ln/>
        </p:spPr>
        <p:txBody>
          <a:bodyPr wrap="square" lIns="0" tIns="0" rIns="0" bIns="0" rtlCol="0" anchor="ctr"/>
          <a:lstStyle/>
          <a:p>
            <a:pPr marL="0" indent="0">
              <a:buNone/>
            </a:pPr>
            <a:r>
              <a:rPr lang="en-US" sz="1150" b="1" kern="0" spc="100" dirty="0">
                <a:solidFill>
                  <a:srgbClr val="1C7293"/>
                </a:solidFill>
                <a:latin typeface="맑은 고딕" pitchFamily="34" charset="0"/>
                <a:ea typeface="맑은 고딕" pitchFamily="34" charset="-122"/>
                <a:cs typeface="맑은 고딕" pitchFamily="34" charset="-120"/>
              </a:rPr>
              <a:t>업무 활용 ② · 시뮬레이션 설계</a:t>
            </a:r>
            <a:endParaRPr lang="en-US" sz="1150" dirty="0"/>
          </a:p>
        </p:txBody>
      </p:sp>
      <p:sp>
        <p:nvSpPr>
          <p:cNvPr id="5" name="Text 3"/>
          <p:cNvSpPr txBox="1"/>
          <p:nvPr/>
        </p:nvSpPr>
        <p:spPr>
          <a:xfrm>
            <a:off x="1152144" y="566928"/>
            <a:ext cx="10469880" cy="530352"/>
          </a:xfrm>
          <a:prstGeom prst="rect">
            <a:avLst/>
          </a:prstGeom>
          <a:noFill/>
          <a:ln/>
        </p:spPr>
        <p:txBody>
          <a:bodyPr wrap="square" lIns="0" tIns="0" rIns="0" bIns="0" rtlCol="0" anchor="ctr"/>
          <a:lstStyle/>
          <a:p>
            <a:pPr marL="0" indent="0">
              <a:buNone/>
            </a:pPr>
            <a:r>
              <a:rPr lang="en-US" sz="2500" b="1" dirty="0">
                <a:solidFill>
                  <a:srgbClr val="0E3A5C"/>
                </a:solidFill>
                <a:latin typeface="맑은 고딕" pitchFamily="34" charset="0"/>
                <a:ea typeface="맑은 고딕" pitchFamily="34" charset="-122"/>
                <a:cs typeface="맑은 고딕" pitchFamily="34" charset="-120"/>
              </a:rPr>
              <a:t>속도가 아니라 도로 경사로 절약하도록 설계했다</a:t>
            </a:r>
            <a:endParaRPr lang="en-US" sz="2500" dirty="0"/>
          </a:p>
        </p:txBody>
      </p:sp>
      <p:sp>
        <p:nvSpPr>
          <p:cNvPr id="6" name="Text 4"/>
          <p:cNvSpPr txBox="1"/>
          <p:nvPr/>
        </p:nvSpPr>
        <p:spPr>
          <a:xfrm>
            <a:off x="8686800" y="6519672"/>
            <a:ext cx="2926080" cy="274320"/>
          </a:xfrm>
          <a:prstGeom prst="rect">
            <a:avLst/>
          </a:prstGeom>
          <a:noFill/>
          <a:ln/>
        </p:spPr>
        <p:txBody>
          <a:bodyPr wrap="square" lIns="0" tIns="0" rIns="0" bIns="0" rtlCol="0" anchor="ctr"/>
          <a:lstStyle/>
          <a:p>
            <a:pPr marL="0" indent="0" algn="r">
              <a:buNone/>
            </a:pPr>
            <a:r>
              <a:rPr lang="en-US" sz="1000" dirty="0">
                <a:solidFill>
                  <a:srgbClr val="A8B4BE"/>
                </a:solidFill>
                <a:latin typeface="맑은 고딕" pitchFamily="34" charset="0"/>
                <a:ea typeface="맑은 고딕" pitchFamily="34" charset="-122"/>
                <a:cs typeface="맑은 고딕" pitchFamily="34" charset="-120"/>
              </a:rPr>
              <a:t>6. 업무 활용 · 결론</a:t>
            </a:r>
            <a:endParaRPr lang="en-US" sz="1000" dirty="0"/>
          </a:p>
        </p:txBody>
      </p:sp>
      <p:sp>
        <p:nvSpPr>
          <p:cNvPr id="7" name="Text 5"/>
          <p:cNvSpPr txBox="1"/>
          <p:nvPr/>
        </p:nvSpPr>
        <p:spPr>
          <a:xfrm>
            <a:off x="566928" y="1298448"/>
            <a:ext cx="11064240" cy="274320"/>
          </a:xfrm>
          <a:prstGeom prst="rect">
            <a:avLst/>
          </a:prstGeom>
          <a:noFill/>
          <a:ln/>
        </p:spPr>
        <p:txBody>
          <a:bodyPr wrap="square" lIns="0" tIns="0" rIns="0" bIns="0" rtlCol="0" anchor="ctr"/>
          <a:lstStyle/>
          <a:p>
            <a:pPr marL="0" indent="0">
              <a:buNone/>
            </a:pPr>
            <a:r>
              <a:rPr lang="en-US" sz="1300" dirty="0">
                <a:solidFill>
                  <a:srgbClr val="5F6B78"/>
                </a:solidFill>
                <a:latin typeface="맑은 고딕" pitchFamily="34" charset="0"/>
                <a:ea typeface="맑은 고딕" pitchFamily="34" charset="-122"/>
                <a:cs typeface="맑은 고딕" pitchFamily="34" charset="-120"/>
              </a:rPr>
              <a:t>세 경로의 주행 속도는 90~120km/h로 비슷하게 두고, 경로 C만 경사가 완만한 우회 노선으로 설정했다. 속도를 낮춰 아끼면 시간이 그만큼 늘어나기 때문이다.</a:t>
            </a:r>
            <a:endParaRPr lang="en-US" sz="13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11064240" cy="2194560"/>
        </p:xfrm>
        <a:graphic>
          <a:graphicData uri="http://schemas.openxmlformats.org/drawingml/2006/table">
            <a:tbl>
              <a:tblPr/>
              <a:tblGrid>
                <a:gridCol w="201168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1554480">
                  <a:extLst>
                    <a:ext uri="{9D8B030D-6E8A-4147-A177-3AD203B41FA5}">
                      <a16:colId xmlns:a16="http://schemas.microsoft.com/office/drawing/2014/main" val="20005"/>
                    </a:ext>
                  </a:extLst>
                </a:gridCol>
                <a:gridCol w="2011680">
                  <a:extLst>
                    <a:ext uri="{9D8B030D-6E8A-4147-A177-3AD203B41FA5}">
                      <a16:colId xmlns:a16="http://schemas.microsoft.com/office/drawing/2014/main" val="20006"/>
                    </a:ext>
                  </a:extLst>
                </a:gridCol>
              </a:tblGrid>
              <a:tr h="219456">
                <a:tc>
                  <a:txBody>
                    <a:bodyPr/>
                    <a:lstStyle/>
                    <a:p>
                      <a:pPr marL="0" indent="0" algn="ctr">
                        <a:buNone/>
                      </a:pPr>
                      <a:r>
                        <a:rPr lang="en-US" sz="1050" b="1" dirty="0">
                          <a:solidFill>
                            <a:srgbClr val="0E3A5C"/>
                          </a:solidFill>
                          <a:latin typeface="맑은 고딕" pitchFamily="34" charset="0"/>
                          <a:ea typeface="맑은 고딕" pitchFamily="34" charset="-122"/>
                          <a:cs typeface="맑은 고딕" pitchFamily="34" charset="-120"/>
                        </a:rPr>
                        <a:t>경로</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050" b="1" dirty="0">
                          <a:solidFill>
                            <a:srgbClr val="0E3A5C"/>
                          </a:solidFill>
                          <a:latin typeface="맑은 고딕" pitchFamily="34" charset="0"/>
                          <a:ea typeface="맑은 고딕" pitchFamily="34" charset="-122"/>
                          <a:cs typeface="맑은 고딕" pitchFamily="34" charset="-120"/>
                        </a:rPr>
                        <a:t>구간</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050" b="1" dirty="0">
                          <a:solidFill>
                            <a:srgbClr val="0E3A5C"/>
                          </a:solidFill>
                          <a:latin typeface="맑은 고딕" pitchFamily="34" charset="0"/>
                          <a:ea typeface="맑은 고딕" pitchFamily="34" charset="-122"/>
                          <a:cs typeface="맑은 고딕" pitchFamily="34" charset="-120"/>
                        </a:rPr>
                        <a:t>거리(km)</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050" b="1" dirty="0">
                          <a:solidFill>
                            <a:srgbClr val="0E3A5C"/>
                          </a:solidFill>
                          <a:latin typeface="맑은 고딕" pitchFamily="34" charset="0"/>
                          <a:ea typeface="맑은 고딕" pitchFamily="34" charset="-122"/>
                          <a:cs typeface="맑은 고딕" pitchFamily="34" charset="-120"/>
                        </a:rPr>
                        <a:t>예상 속도(km/h)</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050" b="1" dirty="0">
                          <a:solidFill>
                            <a:srgbClr val="0E3A5C"/>
                          </a:solidFill>
                          <a:latin typeface="맑은 고딕" pitchFamily="34" charset="0"/>
                          <a:ea typeface="맑은 고딕" pitchFamily="34" charset="-122"/>
                          <a:cs typeface="맑은 고딕" pitchFamily="34" charset="-120"/>
                        </a:rPr>
                        <a:t>도로 경사(%)</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050" b="1" dirty="0">
                          <a:solidFill>
                            <a:srgbClr val="0E3A5C"/>
                          </a:solidFill>
                          <a:latin typeface="맑은 고딕" pitchFamily="34" charset="0"/>
                          <a:ea typeface="맑은 고딕" pitchFamily="34" charset="-122"/>
                          <a:cs typeface="맑은 고딕" pitchFamily="34" charset="-120"/>
                        </a:rPr>
                        <a:t>예측 소비율</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050" b="1" dirty="0">
                          <a:solidFill>
                            <a:srgbClr val="0E3A5C"/>
                          </a:solidFill>
                          <a:latin typeface="맑은 고딕" pitchFamily="34" charset="0"/>
                          <a:ea typeface="맑은 고딕" pitchFamily="34" charset="-122"/>
                          <a:cs typeface="맑은 고딕" pitchFamily="34" charset="-120"/>
                        </a:rPr>
                        <a:t>구간 소비량(kWh)</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extLst>
                  <a:ext uri="{0D108BD9-81ED-4DB2-BD59-A6C34878D82A}">
                    <a16:rowId xmlns:a16="http://schemas.microsoft.com/office/drawing/2014/main" val="10000"/>
                  </a:ext>
                </a:extLst>
              </a:tr>
              <a:tr h="219456">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A 최단거리 (구릉지)</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맑은 고딕" pitchFamily="34" charset="0"/>
                          <a:ea typeface="맑은 고딕" pitchFamily="34" charset="-122"/>
                          <a:cs typeface="맑은 고딕" pitchFamily="34" charset="-120"/>
                        </a:rPr>
                        <a:t>1</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50</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95</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3.0</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27.65</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13.82</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A 최단거리 (구릉지)</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맑은 고딕" pitchFamily="34" charset="0"/>
                          <a:ea typeface="맑은 고딕" pitchFamily="34" charset="-122"/>
                          <a:cs typeface="맑은 고딕" pitchFamily="34" charset="-120"/>
                        </a:rPr>
                        <a:t>2</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50</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90</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4.0</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27.88</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13.94</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19456">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A 최단거리 (구릉지)</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맑은 고딕" pitchFamily="34" charset="0"/>
                          <a:ea typeface="맑은 고딕" pitchFamily="34" charset="-122"/>
                          <a:cs typeface="맑은 고딕" pitchFamily="34" charset="-120"/>
                        </a:rPr>
                        <a:t>3</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48</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98</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1.5</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27.04</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12.98</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19456">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B 고속도로</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맑은 고딕" pitchFamily="34" charset="0"/>
                          <a:ea typeface="맑은 고딕" pitchFamily="34" charset="-122"/>
                          <a:cs typeface="맑은 고딕" pitchFamily="34" charset="-120"/>
                        </a:rPr>
                        <a:t>1</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56</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115</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1.5</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28.00</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15.68</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19456">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B 고속도로</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맑은 고딕" pitchFamily="34" charset="0"/>
                          <a:ea typeface="맑은 고딕" pitchFamily="34" charset="-122"/>
                          <a:cs typeface="맑은 고딕" pitchFamily="34" charset="-120"/>
                        </a:rPr>
                        <a:t>2</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58</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120</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2.0</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28.52</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16.54</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19456">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B 고속도로</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맑은 고딕" pitchFamily="34" charset="0"/>
                          <a:ea typeface="맑은 고딕" pitchFamily="34" charset="-122"/>
                          <a:cs typeface="맑은 고딕" pitchFamily="34" charset="-120"/>
                        </a:rPr>
                        <a:t>3</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52</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110</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1.0</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27.45</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14.27</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19456">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C 완만 우회 (평탄)</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맑은 고딕" pitchFamily="34" charset="0"/>
                          <a:ea typeface="맑은 고딕" pitchFamily="34" charset="-122"/>
                          <a:cs typeface="맑은 고딕" pitchFamily="34" charset="-120"/>
                        </a:rPr>
                        <a:t>1</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50</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90</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0.5</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26.15</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13.07</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19456">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C 완만 우회 (평탄)</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맑은 고딕" pitchFamily="34" charset="0"/>
                          <a:ea typeface="맑은 고딕" pitchFamily="34" charset="-122"/>
                          <a:cs typeface="맑은 고딕" pitchFamily="34" charset="-120"/>
                        </a:rPr>
                        <a:t>2</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51</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92</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0.0</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26.01</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13.27</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19456">
                <a:tc>
                  <a:txBody>
                    <a:bodyPr/>
                    <a:lstStyle/>
                    <a:p>
                      <a:pPr marL="0" indent="0" algn="l">
                        <a:buNone/>
                      </a:pPr>
                      <a:r>
                        <a:rPr lang="en-US" sz="1050" dirty="0">
                          <a:solidFill>
                            <a:srgbClr val="1A1A1A"/>
                          </a:solidFill>
                          <a:latin typeface="맑은 고딕" pitchFamily="34" charset="0"/>
                          <a:ea typeface="맑은 고딕" pitchFamily="34" charset="-122"/>
                          <a:cs typeface="맑은 고딕" pitchFamily="34" charset="-120"/>
                        </a:rPr>
                        <a:t>C 완만 우회 (평탄)</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맑은 고딕" pitchFamily="34" charset="0"/>
                          <a:ea typeface="맑은 고딕" pitchFamily="34" charset="-122"/>
                          <a:cs typeface="맑은 고딕" pitchFamily="34" charset="-120"/>
                        </a:rPr>
                        <a:t>3</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50</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90</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0.0</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25.90</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맑은 고딕" pitchFamily="34" charset="0"/>
                          <a:ea typeface="맑은 고딕" pitchFamily="34" charset="-122"/>
                          <a:cs typeface="맑은 고딕" pitchFamily="34" charset="-120"/>
                        </a:rPr>
                        <a:t>12.95</a:t>
                      </a:r>
                      <a:endParaRPr lang="en-US" sz="1050" dirty="0">
                        <a:latin typeface="맑은 고딕" charset="0"/>
                        <a:ea typeface="맑은 고딕" charset="0"/>
                        <a:cs typeface="맑은 고딕" charset="0"/>
                      </a:endParaRPr>
                    </a:p>
                  </a:txBody>
                  <a:tcPr marL="25400" marR="25400" marT="25400" marB="254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9" name="Shape 6"/>
          <p:cNvSpPr/>
          <p:nvPr/>
        </p:nvSpPr>
        <p:spPr>
          <a:xfrm>
            <a:off x="566928" y="4663440"/>
            <a:ext cx="5394960" cy="1371600"/>
          </a:xfrm>
          <a:prstGeom prst="roundRect">
            <a:avLst>
              <a:gd name="adj" fmla="val 3333"/>
            </a:avLst>
          </a:prstGeom>
          <a:solidFill>
            <a:srgbClr val="D8E8F0"/>
          </a:solidFill>
          <a:ln w="12700">
            <a:solidFill>
              <a:srgbClr val="1C7293"/>
            </a:solidFill>
            <a:prstDash val="solid"/>
          </a:ln>
        </p:spPr>
        <p:txBody>
          <a:bodyPr/>
          <a:lstStyle/>
          <a:p>
            <a:endParaRPr lang="ko-KR" altLang="en-US"/>
          </a:p>
        </p:txBody>
      </p:sp>
      <p:sp>
        <p:nvSpPr>
          <p:cNvPr id="10" name="Text 7"/>
          <p:cNvSpPr txBox="1"/>
          <p:nvPr/>
        </p:nvSpPr>
        <p:spPr>
          <a:xfrm>
            <a:off x="804672" y="4663440"/>
            <a:ext cx="4919472" cy="1371600"/>
          </a:xfrm>
          <a:prstGeom prst="rect">
            <a:avLst/>
          </a:prstGeom>
          <a:noFill/>
          <a:ln/>
        </p:spPr>
        <p:txBody>
          <a:bodyPr wrap="square" lIns="0" tIns="0" rIns="0" bIns="0" rtlCol="0" anchor="ctr"/>
          <a:lstStyle/>
          <a:p>
            <a:pPr marL="0" indent="0">
              <a:lnSpc>
                <a:spcPts val="1900"/>
              </a:lnSpc>
              <a:buNone/>
            </a:pPr>
            <a:r>
              <a:rPr lang="en-US" sz="1250" b="1" dirty="0">
                <a:solidFill>
                  <a:srgbClr val="0E3A5C"/>
                </a:solidFill>
                <a:latin typeface="맑은 고딕" pitchFamily="34" charset="0"/>
                <a:ea typeface="맑은 고딕" pitchFamily="34" charset="-122"/>
                <a:cs typeface="맑은 고딕" pitchFamily="34" charset="-120"/>
              </a:rPr>
              <a:t>절약의 원인은 경사   </a:t>
            </a:r>
            <a:r>
              <a:rPr lang="en-US" sz="1250" dirty="0">
                <a:solidFill>
                  <a:srgbClr val="1A1A1A"/>
                </a:solidFill>
                <a:latin typeface="맑은 고딕" pitchFamily="34" charset="0"/>
                <a:ea typeface="맑은 고딕" pitchFamily="34" charset="-122"/>
                <a:cs typeface="맑은 고딕" pitchFamily="34" charset="-120"/>
              </a:rPr>
              <a:t>세 경로의 속도는 90~120km/h로 비슷하다. 경사만 A는 1.5~4.0%, C는 0~0.5%로 다르다.</a:t>
            </a:r>
            <a:endParaRPr lang="en-US" sz="1250" dirty="0"/>
          </a:p>
        </p:txBody>
      </p:sp>
      <p:sp>
        <p:nvSpPr>
          <p:cNvPr id="11" name="Shape 8"/>
          <p:cNvSpPr/>
          <p:nvPr/>
        </p:nvSpPr>
        <p:spPr>
          <a:xfrm>
            <a:off x="6236208" y="4663440"/>
            <a:ext cx="5394960" cy="1371600"/>
          </a:xfrm>
          <a:prstGeom prst="roundRect">
            <a:avLst>
              <a:gd name="adj" fmla="val 3333"/>
            </a:avLst>
          </a:prstGeom>
          <a:solidFill>
            <a:srgbClr val="FFFFFF"/>
          </a:solidFill>
          <a:ln w="12700">
            <a:solidFill>
              <a:srgbClr val="D8E8F0"/>
            </a:solidFill>
            <a:prstDash val="solid"/>
          </a:ln>
        </p:spPr>
        <p:txBody>
          <a:bodyPr/>
          <a:lstStyle/>
          <a:p>
            <a:endParaRPr lang="ko-KR" altLang="en-US"/>
          </a:p>
        </p:txBody>
      </p:sp>
      <p:sp>
        <p:nvSpPr>
          <p:cNvPr id="12" name="Text 9"/>
          <p:cNvSpPr txBox="1"/>
          <p:nvPr/>
        </p:nvSpPr>
        <p:spPr>
          <a:xfrm>
            <a:off x="6473952" y="4663440"/>
            <a:ext cx="4919472" cy="1371600"/>
          </a:xfrm>
          <a:prstGeom prst="rect">
            <a:avLst/>
          </a:prstGeom>
          <a:noFill/>
          <a:ln/>
        </p:spPr>
        <p:txBody>
          <a:bodyPr wrap="square" lIns="0" tIns="0" rIns="0" bIns="0" rtlCol="0" anchor="ctr"/>
          <a:lstStyle/>
          <a:p>
            <a:pPr marL="0" indent="0">
              <a:lnSpc>
                <a:spcPts val="1900"/>
              </a:lnSpc>
              <a:buNone/>
            </a:pPr>
            <a:r>
              <a:rPr lang="en-US" sz="1250" b="1" dirty="0">
                <a:solidFill>
                  <a:srgbClr val="0E3A5C"/>
                </a:solidFill>
                <a:latin typeface="맑은 고딕" pitchFamily="34" charset="0"/>
                <a:ea typeface="맑은 고딕" pitchFamily="34" charset="-122"/>
                <a:cs typeface="맑은 고딕" pitchFamily="34" charset="-120"/>
              </a:rPr>
              <a:t>세 경로 동일   </a:t>
            </a:r>
            <a:r>
              <a:rPr lang="en-US" sz="1250" dirty="0">
                <a:solidFill>
                  <a:srgbClr val="1A1A1A"/>
                </a:solidFill>
                <a:latin typeface="맑은 고딕" pitchFamily="34" charset="0"/>
                <a:ea typeface="맑은 고딕" pitchFamily="34" charset="-122"/>
                <a:cs typeface="맑은 고딕" pitchFamily="34" charset="-120"/>
              </a:rPr>
              <a:t>적재중량 250kg · 외기온 -5°C · 공조 3.0kW · 배터리 온도 25°C · 운전 습관 0.5 · 공기압 2.4bar. 같은 시점에 출발하므로 동일하게 두었다.</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566928" y="365760"/>
            <a:ext cx="457200" cy="457200"/>
          </a:xfrm>
          <a:prstGeom prst="ellipse">
            <a:avLst/>
          </a:prstGeom>
          <a:solidFill>
            <a:srgbClr val="1C7293"/>
          </a:solidFill>
          <a:ln w="12700">
            <a:solidFill>
              <a:srgbClr val="1C7293"/>
            </a:solidFill>
            <a:prstDash val="solid"/>
          </a:ln>
        </p:spPr>
        <p:txBody>
          <a:bodyPr/>
          <a:lstStyle/>
          <a:p>
            <a:endParaRPr lang="ko-KR" altLang="en-US"/>
          </a:p>
        </p:txBody>
      </p:sp>
      <p:sp>
        <p:nvSpPr>
          <p:cNvPr id="3" name="Text 1"/>
          <p:cNvSpPr txBox="1"/>
          <p:nvPr/>
        </p:nvSpPr>
        <p:spPr>
          <a:xfrm>
            <a:off x="566928" y="3657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28</a:t>
            </a:r>
            <a:endParaRPr lang="en-US" sz="1600" dirty="0"/>
          </a:p>
        </p:txBody>
      </p:sp>
      <p:sp>
        <p:nvSpPr>
          <p:cNvPr id="4" name="Text 2"/>
          <p:cNvSpPr txBox="1"/>
          <p:nvPr/>
        </p:nvSpPr>
        <p:spPr>
          <a:xfrm>
            <a:off x="1152144" y="310896"/>
            <a:ext cx="10424160" cy="246888"/>
          </a:xfrm>
          <a:prstGeom prst="rect">
            <a:avLst/>
          </a:prstGeom>
          <a:noFill/>
          <a:ln/>
        </p:spPr>
        <p:txBody>
          <a:bodyPr wrap="square" lIns="0" tIns="0" rIns="0" bIns="0" rtlCol="0" anchor="ctr"/>
          <a:lstStyle/>
          <a:p>
            <a:pPr marL="0" indent="0">
              <a:buNone/>
            </a:pPr>
            <a:r>
              <a:rPr lang="en-US" sz="1150" b="1" kern="0" spc="100" dirty="0">
                <a:solidFill>
                  <a:srgbClr val="1C7293"/>
                </a:solidFill>
                <a:latin typeface="맑은 고딕" pitchFamily="34" charset="0"/>
                <a:ea typeface="맑은 고딕" pitchFamily="34" charset="-122"/>
                <a:cs typeface="맑은 고딕" pitchFamily="34" charset="-120"/>
              </a:rPr>
              <a:t>업무 활용 ③ · 경로 비교 결과</a:t>
            </a:r>
            <a:endParaRPr lang="en-US" sz="1150" dirty="0"/>
          </a:p>
        </p:txBody>
      </p:sp>
      <p:sp>
        <p:nvSpPr>
          <p:cNvPr id="5" name="Text 3"/>
          <p:cNvSpPr txBox="1"/>
          <p:nvPr/>
        </p:nvSpPr>
        <p:spPr>
          <a:xfrm>
            <a:off x="1152144" y="566928"/>
            <a:ext cx="10469880" cy="530352"/>
          </a:xfrm>
          <a:prstGeom prst="rect">
            <a:avLst/>
          </a:prstGeom>
          <a:noFill/>
          <a:ln/>
        </p:spPr>
        <p:txBody>
          <a:bodyPr wrap="square" lIns="0" tIns="0" rIns="0" bIns="0" rtlCol="0" anchor="ctr"/>
          <a:lstStyle/>
          <a:p>
            <a:pPr marL="0" indent="0">
              <a:buNone/>
            </a:pPr>
            <a:r>
              <a:rPr lang="en-US" sz="2500" b="1" dirty="0">
                <a:solidFill>
                  <a:srgbClr val="0E3A5C"/>
                </a:solidFill>
                <a:latin typeface="맑은 고딕" pitchFamily="34" charset="0"/>
                <a:ea typeface="맑은 고딕" pitchFamily="34" charset="-122"/>
                <a:cs typeface="맑은 고딕" pitchFamily="34" charset="-120"/>
              </a:rPr>
              <a:t>최단거리도, 최단시간도 최소 에너지 경로가 아니었다</a:t>
            </a:r>
            <a:endParaRPr lang="en-US" sz="2500" dirty="0"/>
          </a:p>
        </p:txBody>
      </p:sp>
      <p:sp>
        <p:nvSpPr>
          <p:cNvPr id="6" name="Text 4"/>
          <p:cNvSpPr txBox="1"/>
          <p:nvPr/>
        </p:nvSpPr>
        <p:spPr>
          <a:xfrm>
            <a:off x="8686800" y="6519672"/>
            <a:ext cx="2926080" cy="274320"/>
          </a:xfrm>
          <a:prstGeom prst="rect">
            <a:avLst/>
          </a:prstGeom>
          <a:noFill/>
          <a:ln/>
        </p:spPr>
        <p:txBody>
          <a:bodyPr wrap="square" lIns="0" tIns="0" rIns="0" bIns="0" rtlCol="0" anchor="ctr"/>
          <a:lstStyle/>
          <a:p>
            <a:pPr marL="0" indent="0" algn="r">
              <a:buNone/>
            </a:pPr>
            <a:r>
              <a:rPr lang="en-US" sz="1000" dirty="0">
                <a:solidFill>
                  <a:srgbClr val="A8B4BE"/>
                </a:solidFill>
                <a:latin typeface="맑은 고딕" pitchFamily="34" charset="0"/>
                <a:ea typeface="맑은 고딕" pitchFamily="34" charset="-122"/>
                <a:cs typeface="맑은 고딕" pitchFamily="34" charset="-120"/>
              </a:rPr>
              <a:t>6. 업무 활용 · 결론</a:t>
            </a:r>
            <a:endParaRPr lang="en-US" sz="1000" dirty="0"/>
          </a:p>
        </p:txBody>
      </p:sp>
      <p:graphicFrame>
        <p:nvGraphicFramePr>
          <p:cNvPr id="7" name="Chart 0"/>
          <p:cNvGraphicFramePr/>
          <p:nvPr/>
        </p:nvGraphicFramePr>
        <p:xfrm>
          <a:off x="429768" y="1298448"/>
          <a:ext cx="4160520" cy="28803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1"/>
          <p:cNvGraphicFramePr/>
          <p:nvPr/>
        </p:nvGraphicFramePr>
        <p:xfrm>
          <a:off x="4709160" y="1298448"/>
          <a:ext cx="4206240" cy="2880360"/>
        </p:xfrm>
        <a:graphic>
          <a:graphicData uri="http://schemas.openxmlformats.org/drawingml/2006/chart">
            <c:chart xmlns:c="http://schemas.openxmlformats.org/drawingml/2006/chart" xmlns:r="http://schemas.openxmlformats.org/officeDocument/2006/relationships" r:id="rId4"/>
          </a:graphicData>
        </a:graphic>
      </p:graphicFrame>
      <p:sp>
        <p:nvSpPr>
          <p:cNvPr id="9" name="Shape 5"/>
          <p:cNvSpPr/>
          <p:nvPr/>
        </p:nvSpPr>
        <p:spPr>
          <a:xfrm>
            <a:off x="9098280" y="1371600"/>
            <a:ext cx="2532888" cy="2788920"/>
          </a:xfrm>
          <a:prstGeom prst="roundRect">
            <a:avLst>
              <a:gd name="adj" fmla="val 1805"/>
            </a:avLst>
          </a:prstGeom>
          <a:solidFill>
            <a:srgbClr val="EFF6FA"/>
          </a:solidFill>
          <a:ln w="12700">
            <a:solidFill>
              <a:srgbClr val="D8E8F0"/>
            </a:solidFill>
            <a:prstDash val="solid"/>
          </a:ln>
        </p:spPr>
        <p:txBody>
          <a:bodyPr/>
          <a:lstStyle/>
          <a:p>
            <a:endParaRPr lang="ko-KR" altLang="en-US"/>
          </a:p>
        </p:txBody>
      </p:sp>
      <p:sp>
        <p:nvSpPr>
          <p:cNvPr id="10" name="Text 6"/>
          <p:cNvSpPr txBox="1"/>
          <p:nvPr/>
        </p:nvSpPr>
        <p:spPr>
          <a:xfrm>
            <a:off x="9281160" y="1517904"/>
            <a:ext cx="2194560" cy="274320"/>
          </a:xfrm>
          <a:prstGeom prst="rect">
            <a:avLst/>
          </a:prstGeom>
          <a:noFill/>
          <a:ln/>
        </p:spPr>
        <p:txBody>
          <a:bodyPr wrap="square" lIns="0" tIns="0" rIns="0" bIns="0" rtlCol="0" anchor="ctr"/>
          <a:lstStyle/>
          <a:p>
            <a:pPr marL="0" indent="0">
              <a:buNone/>
            </a:pPr>
            <a:r>
              <a:rPr lang="en-US" sz="1300" b="1" dirty="0">
                <a:solidFill>
                  <a:srgbClr val="1C7293"/>
                </a:solidFill>
                <a:latin typeface="맑은 고딕" pitchFamily="34" charset="0"/>
                <a:ea typeface="맑은 고딕" pitchFamily="34" charset="-122"/>
                <a:cs typeface="맑은 고딕" pitchFamily="34" charset="-120"/>
              </a:rPr>
              <a:t>가정</a:t>
            </a:r>
            <a:endParaRPr lang="en-US" sz="1300" dirty="0"/>
          </a:p>
        </p:txBody>
      </p:sp>
      <p:sp>
        <p:nvSpPr>
          <p:cNvPr id="11" name="Text 7"/>
          <p:cNvSpPr txBox="1"/>
          <p:nvPr/>
        </p:nvSpPr>
        <p:spPr>
          <a:xfrm>
            <a:off x="9281160" y="1828800"/>
            <a:ext cx="2194560" cy="2194560"/>
          </a:xfrm>
          <a:prstGeom prst="rect">
            <a:avLst/>
          </a:prstGeom>
          <a:noFill/>
          <a:ln/>
        </p:spPr>
        <p:txBody>
          <a:bodyPr wrap="square" lIns="0" tIns="0" rIns="0" bIns="0" rtlCol="0" anchor="ctr"/>
          <a:lstStyle/>
          <a:p>
            <a:pPr marL="0" indent="0">
              <a:lnSpc>
                <a:spcPts val="1600"/>
              </a:lnSpc>
              <a:buNone/>
            </a:pPr>
            <a:r>
              <a:rPr lang="en-US" sz="1150" dirty="0">
                <a:solidFill>
                  <a:srgbClr val="1A1A1A"/>
                </a:solidFill>
                <a:latin typeface="맑은 고딕" pitchFamily="34" charset="0"/>
                <a:ea typeface="맑은 고딕" pitchFamily="34" charset="-122"/>
                <a:cs typeface="맑은 고딕" pitchFamily="34" charset="-120"/>
              </a:rPr>
              <a:t>출발 SOC 80%</a:t>
            </a:r>
            <a:endParaRPr lang="en-US" sz="1150" dirty="0"/>
          </a:p>
          <a:p>
            <a:pPr marL="0" indent="0">
              <a:lnSpc>
                <a:spcPts val="1600"/>
              </a:lnSpc>
              <a:buNone/>
            </a:pPr>
            <a:r>
              <a:rPr lang="en-US" sz="1150" dirty="0">
                <a:solidFill>
                  <a:srgbClr val="1A1A1A"/>
                </a:solidFill>
                <a:latin typeface="맑은 고딕" pitchFamily="34" charset="0"/>
                <a:ea typeface="맑은 고딕" pitchFamily="34" charset="-122"/>
                <a:cs typeface="맑은 고딕" pitchFamily="34" charset="-120"/>
              </a:rPr>
              <a:t>사용 가능 배터리 60kWh</a:t>
            </a:r>
            <a:endParaRPr lang="en-US" sz="1150" dirty="0"/>
          </a:p>
          <a:p>
            <a:pPr marL="0" indent="0">
              <a:lnSpc>
                <a:spcPts val="1600"/>
              </a:lnSpc>
              <a:buNone/>
            </a:pPr>
            <a:r>
              <a:rPr lang="en-US" sz="1150" dirty="0">
                <a:solidFill>
                  <a:srgbClr val="1A1A1A"/>
                </a:solidFill>
                <a:latin typeface="맑은 고딕" pitchFamily="34" charset="0"/>
                <a:ea typeface="맑은 고딕" pitchFamily="34" charset="-122"/>
                <a:cs typeface="맑은 고딕" pitchFamily="34" charset="-120"/>
              </a:rPr>
              <a:t>최소 안전 도착 SOC 10%</a:t>
            </a:r>
            <a:endParaRPr lang="en-US" sz="1150" dirty="0"/>
          </a:p>
          <a:p>
            <a:pPr marL="0" indent="0">
              <a:lnSpc>
                <a:spcPts val="1600"/>
              </a:lnSpc>
              <a:buNone/>
            </a:pPr>
            <a:endParaRPr lang="en-US" sz="1150" dirty="0"/>
          </a:p>
          <a:p>
            <a:pPr marL="0" indent="0">
              <a:lnSpc>
                <a:spcPts val="1600"/>
              </a:lnSpc>
              <a:buNone/>
            </a:pPr>
            <a:r>
              <a:rPr lang="en-US" sz="1150" dirty="0">
                <a:solidFill>
                  <a:srgbClr val="1A1A1A"/>
                </a:solidFill>
                <a:latin typeface="맑은 고딕" pitchFamily="34" charset="0"/>
                <a:ea typeface="맑은 고딕" pitchFamily="34" charset="-122"/>
                <a:cs typeface="맑은 고딕" pitchFamily="34" charset="-120"/>
              </a:rPr>
              <a:t>추천 규칙</a:t>
            </a:r>
            <a:endParaRPr lang="en-US" sz="1150" dirty="0"/>
          </a:p>
          <a:p>
            <a:pPr marL="0" indent="0">
              <a:lnSpc>
                <a:spcPts val="1600"/>
              </a:lnSpc>
              <a:buNone/>
            </a:pPr>
            <a:r>
              <a:rPr lang="en-US" sz="1150" dirty="0">
                <a:solidFill>
                  <a:srgbClr val="1A1A1A"/>
                </a:solidFill>
                <a:latin typeface="맑은 고딕" pitchFamily="34" charset="0"/>
                <a:ea typeface="맑은 고딕" pitchFamily="34" charset="-122"/>
                <a:cs typeface="맑은 고딕" pitchFamily="34" charset="-120"/>
              </a:rPr>
              <a:t>① 도착 SOC 10% 미만 제외</a:t>
            </a:r>
            <a:endParaRPr lang="en-US" sz="1150" dirty="0"/>
          </a:p>
          <a:p>
            <a:pPr marL="0" indent="0">
              <a:lnSpc>
                <a:spcPts val="1600"/>
              </a:lnSpc>
              <a:buNone/>
            </a:pPr>
            <a:r>
              <a:rPr lang="en-US" sz="1150" dirty="0">
                <a:solidFill>
                  <a:srgbClr val="1A1A1A"/>
                </a:solidFill>
                <a:latin typeface="맑은 고딕" pitchFamily="34" charset="0"/>
                <a:ea typeface="맑은 고딕" pitchFamily="34" charset="-122"/>
                <a:cs typeface="맑은 고딕" pitchFamily="34" charset="-120"/>
              </a:rPr>
              <a:t>② 남은 경로 중 소비전력량</a:t>
            </a:r>
            <a:endParaRPr lang="en-US" sz="1150" dirty="0"/>
          </a:p>
          <a:p>
            <a:pPr marL="0" indent="0">
              <a:lnSpc>
                <a:spcPts val="1600"/>
              </a:lnSpc>
              <a:buNone/>
            </a:pPr>
            <a:r>
              <a:rPr lang="en-US" sz="1150" dirty="0">
                <a:solidFill>
                  <a:srgbClr val="1A1A1A"/>
                </a:solidFill>
                <a:latin typeface="맑은 고딕" pitchFamily="34" charset="0"/>
                <a:ea typeface="맑은 고딕" pitchFamily="34" charset="-122"/>
                <a:cs typeface="맑은 고딕" pitchFamily="34" charset="-120"/>
              </a:rPr>
              <a:t>    최소인 경로 추천</a:t>
            </a:r>
            <a:endParaRPr lang="en-US" sz="115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66928" y="4370832"/>
          <a:ext cx="11064240" cy="1170432"/>
        </p:xfrm>
        <a:graphic>
          <a:graphicData uri="http://schemas.openxmlformats.org/drawingml/2006/table">
            <a:tbl>
              <a:tblPr/>
              <a:tblGrid>
                <a:gridCol w="20116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gridCol w="1554480">
                  <a:extLst>
                    <a:ext uri="{9D8B030D-6E8A-4147-A177-3AD203B41FA5}">
                      <a16:colId xmlns:a16="http://schemas.microsoft.com/office/drawing/2014/main" val="20006"/>
                    </a:ext>
                  </a:extLst>
                </a:gridCol>
              </a:tblGrid>
              <a:tr h="292608">
                <a:tc>
                  <a:txBody>
                    <a:bodyPr/>
                    <a:lstStyle/>
                    <a:p>
                      <a:pPr marL="0" indent="0" algn="ctr">
                        <a:buNone/>
                      </a:pPr>
                      <a:r>
                        <a:rPr lang="en-US" sz="1200" b="1" dirty="0">
                          <a:solidFill>
                            <a:srgbClr val="0E3A5C"/>
                          </a:solidFill>
                          <a:latin typeface="맑은 고딕" pitchFamily="34" charset="0"/>
                          <a:ea typeface="맑은 고딕" pitchFamily="34" charset="-122"/>
                          <a:cs typeface="맑은 고딕" pitchFamily="34" charset="-120"/>
                        </a:rPr>
                        <a:t>경로</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200" b="1" dirty="0">
                          <a:solidFill>
                            <a:srgbClr val="0E3A5C"/>
                          </a:solidFill>
                          <a:latin typeface="맑은 고딕" pitchFamily="34" charset="0"/>
                          <a:ea typeface="맑은 고딕" pitchFamily="34" charset="-122"/>
                          <a:cs typeface="맑은 고딕" pitchFamily="34" charset="-120"/>
                        </a:rPr>
                        <a:t>총 거리</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200" b="1" dirty="0">
                          <a:solidFill>
                            <a:srgbClr val="0E3A5C"/>
                          </a:solidFill>
                          <a:latin typeface="맑은 고딕" pitchFamily="34" charset="0"/>
                          <a:ea typeface="맑은 고딕" pitchFamily="34" charset="-122"/>
                          <a:cs typeface="맑은 고딕" pitchFamily="34" charset="-120"/>
                        </a:rPr>
                        <a:t>예상 시간</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200" b="1" dirty="0">
                          <a:solidFill>
                            <a:srgbClr val="0E3A5C"/>
                          </a:solidFill>
                          <a:latin typeface="맑은 고딕" pitchFamily="34" charset="0"/>
                          <a:ea typeface="맑은 고딕" pitchFamily="34" charset="-122"/>
                          <a:cs typeface="맑은 고딕" pitchFamily="34" charset="-120"/>
                        </a:rPr>
                        <a:t>평균 소비율</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200" b="1" dirty="0">
                          <a:solidFill>
                            <a:srgbClr val="0E3A5C"/>
                          </a:solidFill>
                          <a:latin typeface="맑은 고딕" pitchFamily="34" charset="0"/>
                          <a:ea typeface="맑은 고딕" pitchFamily="34" charset="-122"/>
                          <a:cs typeface="맑은 고딕" pitchFamily="34" charset="-120"/>
                        </a:rPr>
                        <a:t>예상 소비전력량</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200" b="1" dirty="0">
                          <a:solidFill>
                            <a:srgbClr val="0E3A5C"/>
                          </a:solidFill>
                          <a:latin typeface="맑은 고딕" pitchFamily="34" charset="0"/>
                          <a:ea typeface="맑은 고딕" pitchFamily="34" charset="-122"/>
                          <a:cs typeface="맑은 고딕" pitchFamily="34" charset="-120"/>
                        </a:rPr>
                        <a:t>도착 SOC</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200" b="1" dirty="0">
                          <a:solidFill>
                            <a:srgbClr val="0E3A5C"/>
                          </a:solidFill>
                          <a:latin typeface="맑은 고딕" pitchFamily="34" charset="0"/>
                          <a:ea typeface="맑은 고딕" pitchFamily="34" charset="-122"/>
                          <a:cs typeface="맑은 고딕" pitchFamily="34" charset="-120"/>
                        </a:rPr>
                        <a:t>판정</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extLst>
                  <a:ext uri="{0D108BD9-81ED-4DB2-BD59-A6C34878D82A}">
                    <a16:rowId xmlns:a16="http://schemas.microsoft.com/office/drawing/2014/main" val="10000"/>
                  </a:ext>
                </a:extLst>
              </a:tr>
              <a:tr h="292608">
                <a:tc>
                  <a:txBody>
                    <a:bodyPr/>
                    <a:lstStyle/>
                    <a:p>
                      <a:pPr marL="0" indent="0" algn="l">
                        <a:buNone/>
                      </a:pPr>
                      <a:r>
                        <a:rPr lang="en-US" sz="1200" dirty="0">
                          <a:solidFill>
                            <a:srgbClr val="1A1A1A"/>
                          </a:solidFill>
                          <a:latin typeface="맑은 고딕" pitchFamily="34" charset="0"/>
                          <a:ea typeface="맑은 고딕" pitchFamily="34" charset="-122"/>
                          <a:cs typeface="맑은 고딕" pitchFamily="34" charset="-120"/>
                        </a:rPr>
                        <a:t>A 최단거리</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00" dirty="0">
                          <a:solidFill>
                            <a:srgbClr val="1A1A1A"/>
                          </a:solidFill>
                          <a:latin typeface="맑은 고딕" pitchFamily="34" charset="0"/>
                          <a:ea typeface="맑은 고딕" pitchFamily="34" charset="-122"/>
                          <a:cs typeface="맑은 고딕" pitchFamily="34" charset="-120"/>
                        </a:rPr>
                        <a:t>148 km</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00" dirty="0">
                          <a:solidFill>
                            <a:srgbClr val="1A1A1A"/>
                          </a:solidFill>
                          <a:latin typeface="맑은 고딕" pitchFamily="34" charset="0"/>
                          <a:ea typeface="맑은 고딕" pitchFamily="34" charset="-122"/>
                          <a:cs typeface="맑은 고딕" pitchFamily="34" charset="-120"/>
                        </a:rPr>
                        <a:t>94.30 분</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00" dirty="0">
                          <a:solidFill>
                            <a:srgbClr val="1A1A1A"/>
                          </a:solidFill>
                          <a:latin typeface="맑은 고딕" pitchFamily="34" charset="0"/>
                          <a:ea typeface="맑은 고딕" pitchFamily="34" charset="-122"/>
                          <a:cs typeface="맑은 고딕" pitchFamily="34" charset="-120"/>
                        </a:rPr>
                        <a:t>27.53</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00" dirty="0">
                          <a:solidFill>
                            <a:srgbClr val="1A1A1A"/>
                          </a:solidFill>
                          <a:latin typeface="맑은 고딕" pitchFamily="34" charset="0"/>
                          <a:ea typeface="맑은 고딕" pitchFamily="34" charset="-122"/>
                          <a:cs typeface="맑은 고딕" pitchFamily="34" charset="-120"/>
                        </a:rPr>
                        <a:t>40.74 kWh</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00" dirty="0">
                          <a:solidFill>
                            <a:srgbClr val="1A1A1A"/>
                          </a:solidFill>
                          <a:latin typeface="맑은 고딕" pitchFamily="34" charset="0"/>
                          <a:ea typeface="맑은 고딕" pitchFamily="34" charset="-122"/>
                          <a:cs typeface="맑은 고딕" pitchFamily="34" charset="-120"/>
                        </a:rPr>
                        <a:t>12.10 %</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1A1A"/>
                          </a:solidFill>
                          <a:latin typeface="맑은 고딕" pitchFamily="34" charset="0"/>
                          <a:ea typeface="맑은 고딕" pitchFamily="34" charset="-122"/>
                          <a:cs typeface="맑은 고딕" pitchFamily="34" charset="-120"/>
                        </a:rPr>
                        <a:t>충족</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lgn="l">
                        <a:buNone/>
                      </a:pPr>
                      <a:r>
                        <a:rPr lang="en-US" sz="1200" dirty="0">
                          <a:solidFill>
                            <a:srgbClr val="1A1A1A"/>
                          </a:solidFill>
                          <a:latin typeface="맑은 고딕" pitchFamily="34" charset="0"/>
                          <a:ea typeface="맑은 고딕" pitchFamily="34" charset="-122"/>
                          <a:cs typeface="맑은 고딕" pitchFamily="34" charset="-120"/>
                        </a:rPr>
                        <a:t>B 고속도로</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00" dirty="0">
                          <a:solidFill>
                            <a:srgbClr val="1A1A1A"/>
                          </a:solidFill>
                          <a:latin typeface="맑은 고딕" pitchFamily="34" charset="0"/>
                          <a:ea typeface="맑은 고딕" pitchFamily="34" charset="-122"/>
                          <a:cs typeface="맑은 고딕" pitchFamily="34" charset="-120"/>
                        </a:rPr>
                        <a:t>166 km</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00" dirty="0">
                          <a:solidFill>
                            <a:srgbClr val="1A1A1A"/>
                          </a:solidFill>
                          <a:latin typeface="맑은 고딕" pitchFamily="34" charset="0"/>
                          <a:ea typeface="맑은 고딕" pitchFamily="34" charset="-122"/>
                          <a:cs typeface="맑은 고딕" pitchFamily="34" charset="-120"/>
                        </a:rPr>
                        <a:t>86.58 분</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00" dirty="0">
                          <a:solidFill>
                            <a:srgbClr val="1A1A1A"/>
                          </a:solidFill>
                          <a:latin typeface="맑은 고딕" pitchFamily="34" charset="0"/>
                          <a:ea typeface="맑은 고딕" pitchFamily="34" charset="-122"/>
                          <a:cs typeface="맑은 고딕" pitchFamily="34" charset="-120"/>
                        </a:rPr>
                        <a:t>28.01</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00" dirty="0">
                          <a:solidFill>
                            <a:srgbClr val="1A1A1A"/>
                          </a:solidFill>
                          <a:latin typeface="맑은 고딕" pitchFamily="34" charset="0"/>
                          <a:ea typeface="맑은 고딕" pitchFamily="34" charset="-122"/>
                          <a:cs typeface="맑은 고딕" pitchFamily="34" charset="-120"/>
                        </a:rPr>
                        <a:t>46.50 kWh</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00" dirty="0">
                          <a:solidFill>
                            <a:srgbClr val="1A1A1A"/>
                          </a:solidFill>
                          <a:latin typeface="맑은 고딕" pitchFamily="34" charset="0"/>
                          <a:ea typeface="맑은 고딕" pitchFamily="34" charset="-122"/>
                          <a:cs typeface="맑은 고딕" pitchFamily="34" charset="-120"/>
                        </a:rPr>
                        <a:t>2.51 %</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1A1A"/>
                          </a:solidFill>
                          <a:latin typeface="맑은 고딕" pitchFamily="34" charset="0"/>
                          <a:ea typeface="맑은 고딕" pitchFamily="34" charset="-122"/>
                          <a:cs typeface="맑은 고딕" pitchFamily="34" charset="-120"/>
                        </a:rPr>
                        <a:t>안전 기준 미달</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lgn="l">
                        <a:buNone/>
                      </a:pPr>
                      <a:r>
                        <a:rPr lang="en-US" sz="1200" b="1" dirty="0">
                          <a:solidFill>
                            <a:srgbClr val="0E3A5C"/>
                          </a:solidFill>
                          <a:latin typeface="맑은 고딕" pitchFamily="34" charset="0"/>
                          <a:ea typeface="맑은 고딕" pitchFamily="34" charset="-122"/>
                          <a:cs typeface="맑은 고딕" pitchFamily="34" charset="-120"/>
                        </a:rPr>
                        <a:t>C 완만 우회</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tc>
                  <a:txBody>
                    <a:bodyPr/>
                    <a:lstStyle/>
                    <a:p>
                      <a:pPr marL="0" indent="0" algn="r">
                        <a:buNone/>
                      </a:pPr>
                      <a:r>
                        <a:rPr lang="en-US" sz="1200" b="1" dirty="0">
                          <a:solidFill>
                            <a:srgbClr val="0E3A5C"/>
                          </a:solidFill>
                          <a:latin typeface="맑은 고딕" pitchFamily="34" charset="0"/>
                          <a:ea typeface="맑은 고딕" pitchFamily="34" charset="-122"/>
                          <a:cs typeface="맑은 고딕" pitchFamily="34" charset="-120"/>
                        </a:rPr>
                        <a:t>151 km</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tc>
                  <a:txBody>
                    <a:bodyPr/>
                    <a:lstStyle/>
                    <a:p>
                      <a:pPr marL="0" indent="0" algn="r">
                        <a:buNone/>
                      </a:pPr>
                      <a:r>
                        <a:rPr lang="en-US" sz="1200" b="1" dirty="0">
                          <a:solidFill>
                            <a:srgbClr val="0E3A5C"/>
                          </a:solidFill>
                          <a:latin typeface="맑은 고딕" pitchFamily="34" charset="0"/>
                          <a:ea typeface="맑은 고딕" pitchFamily="34" charset="-122"/>
                          <a:cs typeface="맑은 고딕" pitchFamily="34" charset="-120"/>
                        </a:rPr>
                        <a:t>99.93 분</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tc>
                  <a:txBody>
                    <a:bodyPr/>
                    <a:lstStyle/>
                    <a:p>
                      <a:pPr marL="0" indent="0" algn="r">
                        <a:buNone/>
                      </a:pPr>
                      <a:r>
                        <a:rPr lang="en-US" sz="1200" b="1" dirty="0">
                          <a:solidFill>
                            <a:srgbClr val="0E3A5C"/>
                          </a:solidFill>
                          <a:latin typeface="맑은 고딕" pitchFamily="34" charset="0"/>
                          <a:ea typeface="맑은 고딕" pitchFamily="34" charset="-122"/>
                          <a:cs typeface="맑은 고딕" pitchFamily="34" charset="-120"/>
                        </a:rPr>
                        <a:t>26.02</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tc>
                  <a:txBody>
                    <a:bodyPr/>
                    <a:lstStyle/>
                    <a:p>
                      <a:pPr marL="0" indent="0" algn="r">
                        <a:buNone/>
                      </a:pPr>
                      <a:r>
                        <a:rPr lang="en-US" sz="1200" b="1" dirty="0">
                          <a:solidFill>
                            <a:srgbClr val="0E3A5C"/>
                          </a:solidFill>
                          <a:latin typeface="맑은 고딕" pitchFamily="34" charset="0"/>
                          <a:ea typeface="맑은 고딕" pitchFamily="34" charset="-122"/>
                          <a:cs typeface="맑은 고딕" pitchFamily="34" charset="-120"/>
                        </a:rPr>
                        <a:t>39.29 kWh</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tc>
                  <a:txBody>
                    <a:bodyPr/>
                    <a:lstStyle/>
                    <a:p>
                      <a:pPr marL="0" indent="0" algn="r">
                        <a:buNone/>
                      </a:pPr>
                      <a:r>
                        <a:rPr lang="en-US" sz="1200" b="1" dirty="0">
                          <a:solidFill>
                            <a:srgbClr val="0E3A5C"/>
                          </a:solidFill>
                          <a:latin typeface="맑은 고딕" pitchFamily="34" charset="0"/>
                          <a:ea typeface="맑은 고딕" pitchFamily="34" charset="-122"/>
                          <a:cs typeface="맑은 고딕" pitchFamily="34" charset="-120"/>
                        </a:rPr>
                        <a:t>14.52 %</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tc>
                  <a:txBody>
                    <a:bodyPr/>
                    <a:lstStyle/>
                    <a:p>
                      <a:pPr marL="0" indent="0" algn="ctr">
                        <a:buNone/>
                      </a:pPr>
                      <a:r>
                        <a:rPr lang="en-US" sz="1200" b="1" dirty="0">
                          <a:solidFill>
                            <a:srgbClr val="0E3A5C"/>
                          </a:solidFill>
                          <a:latin typeface="맑은 고딕" pitchFamily="34" charset="0"/>
                          <a:ea typeface="맑은 고딕" pitchFamily="34" charset="-122"/>
                          <a:cs typeface="맑은 고딕" pitchFamily="34" charset="-120"/>
                        </a:rPr>
                        <a:t>최소 에너지 · 추천</a:t>
                      </a:r>
                      <a:endParaRPr lang="en-US" sz="1200" dirty="0">
                        <a:latin typeface="맑은 고딕" charset="0"/>
                        <a:ea typeface="맑은 고딕" charset="0"/>
                        <a:cs typeface="맑은 고딕" charset="0"/>
                      </a:endParaRPr>
                    </a:p>
                  </a:txBody>
                  <a:tcPr marL="38100" marR="38100" marT="38100" marB="381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D8E8F0"/>
                    </a:solidFill>
                  </a:tcPr>
                </a:tc>
                <a:extLst>
                  <a:ext uri="{0D108BD9-81ED-4DB2-BD59-A6C34878D82A}">
                    <a16:rowId xmlns:a16="http://schemas.microsoft.com/office/drawing/2014/main" val="10003"/>
                  </a:ext>
                </a:extLst>
              </a:tr>
            </a:tbl>
          </a:graphicData>
        </a:graphic>
      </p:graphicFrame>
      <p:sp>
        <p:nvSpPr>
          <p:cNvPr id="13" name="Shape 8"/>
          <p:cNvSpPr/>
          <p:nvPr/>
        </p:nvSpPr>
        <p:spPr>
          <a:xfrm>
            <a:off x="566928" y="5833872"/>
            <a:ext cx="11064240" cy="621792"/>
          </a:xfrm>
          <a:prstGeom prst="roundRect">
            <a:avLst>
              <a:gd name="adj" fmla="val 7353"/>
            </a:avLst>
          </a:prstGeom>
          <a:solidFill>
            <a:srgbClr val="D8E8F0"/>
          </a:solidFill>
          <a:ln w="12700">
            <a:solidFill>
              <a:srgbClr val="1C7293"/>
            </a:solidFill>
            <a:prstDash val="solid"/>
          </a:ln>
        </p:spPr>
        <p:txBody>
          <a:bodyPr/>
          <a:lstStyle/>
          <a:p>
            <a:endParaRPr lang="ko-KR" altLang="en-US"/>
          </a:p>
        </p:txBody>
      </p:sp>
      <p:sp>
        <p:nvSpPr>
          <p:cNvPr id="14" name="Text 9"/>
          <p:cNvSpPr txBox="1"/>
          <p:nvPr/>
        </p:nvSpPr>
        <p:spPr>
          <a:xfrm>
            <a:off x="804672" y="5833872"/>
            <a:ext cx="10588752" cy="621792"/>
          </a:xfrm>
          <a:prstGeom prst="rect">
            <a:avLst/>
          </a:prstGeom>
          <a:noFill/>
          <a:ln/>
        </p:spPr>
        <p:txBody>
          <a:bodyPr wrap="square" lIns="0" tIns="0" rIns="0" bIns="0" rtlCol="0" anchor="ctr"/>
          <a:lstStyle/>
          <a:p>
            <a:pPr marL="0" indent="0">
              <a:lnSpc>
                <a:spcPts val="1900"/>
              </a:lnSpc>
              <a:buNone/>
            </a:pPr>
            <a:r>
              <a:rPr lang="en-US" sz="1300" b="1" dirty="0">
                <a:solidFill>
                  <a:srgbClr val="0E3A5C"/>
                </a:solidFill>
                <a:latin typeface="맑은 고딕" pitchFamily="34" charset="0"/>
                <a:ea typeface="맑은 고딕" pitchFamily="34" charset="-122"/>
                <a:cs typeface="맑은 고딕" pitchFamily="34" charset="-120"/>
              </a:rPr>
              <a:t>핵심   </a:t>
            </a:r>
            <a:r>
              <a:rPr lang="en-US" sz="1300" dirty="0">
                <a:solidFill>
                  <a:srgbClr val="1A1A1A"/>
                </a:solidFill>
                <a:latin typeface="맑은 고딕" pitchFamily="34" charset="0"/>
                <a:ea typeface="맑은 고딕" pitchFamily="34" charset="-122"/>
                <a:cs typeface="맑은 고딕" pitchFamily="34" charset="-120"/>
              </a:rPr>
              <a:t>가장 짧은 길도, 가장 빠른 길도 에너지가 가장 적게 드는 길이 아니었다. 그리고 최소 에너지 경로가 가장 느린 길일 필요도 없다.</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566928" y="365760"/>
            <a:ext cx="457200" cy="457200"/>
          </a:xfrm>
          <a:prstGeom prst="ellipse">
            <a:avLst/>
          </a:prstGeom>
          <a:solidFill>
            <a:srgbClr val="1C7293"/>
          </a:solidFill>
          <a:ln w="12700">
            <a:solidFill>
              <a:srgbClr val="1C7293"/>
            </a:solidFill>
            <a:prstDash val="solid"/>
          </a:ln>
        </p:spPr>
        <p:txBody>
          <a:bodyPr/>
          <a:lstStyle/>
          <a:p>
            <a:endParaRPr lang="ko-KR" altLang="en-US"/>
          </a:p>
        </p:txBody>
      </p:sp>
      <p:sp>
        <p:nvSpPr>
          <p:cNvPr id="3" name="Text 1"/>
          <p:cNvSpPr txBox="1"/>
          <p:nvPr/>
        </p:nvSpPr>
        <p:spPr>
          <a:xfrm>
            <a:off x="566928" y="3657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29</a:t>
            </a:r>
            <a:endParaRPr lang="en-US" sz="1600" dirty="0"/>
          </a:p>
        </p:txBody>
      </p:sp>
      <p:sp>
        <p:nvSpPr>
          <p:cNvPr id="4" name="Text 2"/>
          <p:cNvSpPr txBox="1"/>
          <p:nvPr/>
        </p:nvSpPr>
        <p:spPr>
          <a:xfrm>
            <a:off x="1152144" y="310896"/>
            <a:ext cx="10424160" cy="246888"/>
          </a:xfrm>
          <a:prstGeom prst="rect">
            <a:avLst/>
          </a:prstGeom>
          <a:noFill/>
          <a:ln/>
        </p:spPr>
        <p:txBody>
          <a:bodyPr wrap="square" lIns="0" tIns="0" rIns="0" bIns="0" rtlCol="0" anchor="ctr"/>
          <a:lstStyle/>
          <a:p>
            <a:pPr marL="0" indent="0">
              <a:buNone/>
            </a:pPr>
            <a:r>
              <a:rPr lang="en-US" sz="1150" b="1" kern="0" spc="100" dirty="0">
                <a:solidFill>
                  <a:srgbClr val="1C7293"/>
                </a:solidFill>
                <a:latin typeface="맑은 고딕" pitchFamily="34" charset="0"/>
                <a:ea typeface="맑은 고딕" pitchFamily="34" charset="-122"/>
                <a:cs typeface="맑은 고딕" pitchFamily="34" charset="-120"/>
              </a:rPr>
              <a:t>업무 활용 ④ · 해석과 서비스 연결</a:t>
            </a:r>
            <a:endParaRPr lang="en-US" sz="1150" dirty="0"/>
          </a:p>
        </p:txBody>
      </p:sp>
      <p:sp>
        <p:nvSpPr>
          <p:cNvPr id="5" name="Text 3"/>
          <p:cNvSpPr txBox="1"/>
          <p:nvPr/>
        </p:nvSpPr>
        <p:spPr>
          <a:xfrm>
            <a:off x="1152144" y="566928"/>
            <a:ext cx="10469880" cy="530352"/>
          </a:xfrm>
          <a:prstGeom prst="rect">
            <a:avLst/>
          </a:prstGeom>
          <a:noFill/>
          <a:ln/>
        </p:spPr>
        <p:txBody>
          <a:bodyPr wrap="square" lIns="0" tIns="0" rIns="0" bIns="0" rtlCol="0" anchor="ctr"/>
          <a:lstStyle/>
          <a:p>
            <a:pPr marL="0" indent="0">
              <a:buNone/>
            </a:pPr>
            <a:r>
              <a:rPr lang="en-US" sz="2500" b="1" dirty="0">
                <a:solidFill>
                  <a:srgbClr val="0E3A5C"/>
                </a:solidFill>
                <a:latin typeface="맑은 고딕" pitchFamily="34" charset="0"/>
                <a:ea typeface="맑은 고딕" pitchFamily="34" charset="-122"/>
                <a:cs typeface="맑은 고딕" pitchFamily="34" charset="-120"/>
              </a:rPr>
              <a:t>5.6분을 더 쓰고 도착 SOC를 2.4%p 얻는다</a:t>
            </a:r>
            <a:endParaRPr lang="en-US" sz="2500" dirty="0"/>
          </a:p>
        </p:txBody>
      </p:sp>
      <p:sp>
        <p:nvSpPr>
          <p:cNvPr id="6" name="Text 4"/>
          <p:cNvSpPr txBox="1"/>
          <p:nvPr/>
        </p:nvSpPr>
        <p:spPr>
          <a:xfrm>
            <a:off x="8686800" y="6519672"/>
            <a:ext cx="2926080" cy="274320"/>
          </a:xfrm>
          <a:prstGeom prst="rect">
            <a:avLst/>
          </a:prstGeom>
          <a:noFill/>
          <a:ln/>
        </p:spPr>
        <p:txBody>
          <a:bodyPr wrap="square" lIns="0" tIns="0" rIns="0" bIns="0" rtlCol="0" anchor="ctr"/>
          <a:lstStyle/>
          <a:p>
            <a:pPr marL="0" indent="0" algn="r">
              <a:buNone/>
            </a:pPr>
            <a:r>
              <a:rPr lang="en-US" sz="1000" dirty="0">
                <a:solidFill>
                  <a:srgbClr val="A8B4BE"/>
                </a:solidFill>
                <a:latin typeface="맑은 고딕" pitchFamily="34" charset="0"/>
                <a:ea typeface="맑은 고딕" pitchFamily="34" charset="-122"/>
                <a:cs typeface="맑은 고딕" pitchFamily="34" charset="-120"/>
              </a:rPr>
              <a:t>6. 업무 활용 · 결론</a:t>
            </a:r>
            <a:endParaRPr lang="en-US" sz="1000" dirty="0"/>
          </a:p>
        </p:txBody>
      </p:sp>
      <p:sp>
        <p:nvSpPr>
          <p:cNvPr id="7" name="Shape 5"/>
          <p:cNvSpPr/>
          <p:nvPr/>
        </p:nvSpPr>
        <p:spPr>
          <a:xfrm>
            <a:off x="566928" y="1325880"/>
            <a:ext cx="5394960" cy="2331720"/>
          </a:xfrm>
          <a:prstGeom prst="roundRect">
            <a:avLst>
              <a:gd name="adj" fmla="val 1961"/>
            </a:avLst>
          </a:prstGeom>
          <a:solidFill>
            <a:srgbClr val="EFF6FA"/>
          </a:solidFill>
          <a:ln w="12700">
            <a:solidFill>
              <a:srgbClr val="D8E8F0"/>
            </a:solidFill>
            <a:prstDash val="solid"/>
          </a:ln>
        </p:spPr>
        <p:txBody>
          <a:bodyPr/>
          <a:lstStyle/>
          <a:p>
            <a:endParaRPr lang="ko-KR" altLang="en-US"/>
          </a:p>
        </p:txBody>
      </p:sp>
      <p:sp>
        <p:nvSpPr>
          <p:cNvPr id="8" name="Text 6"/>
          <p:cNvSpPr txBox="1"/>
          <p:nvPr/>
        </p:nvSpPr>
        <p:spPr>
          <a:xfrm>
            <a:off x="804672" y="1481328"/>
            <a:ext cx="4937760" cy="329184"/>
          </a:xfrm>
          <a:prstGeom prst="rect">
            <a:avLst/>
          </a:prstGeom>
          <a:noFill/>
          <a:ln/>
        </p:spPr>
        <p:txBody>
          <a:bodyPr wrap="square" lIns="0" tIns="0" rIns="0" bIns="0" rtlCol="0" anchor="ctr"/>
          <a:lstStyle/>
          <a:p>
            <a:pPr marL="0" indent="0">
              <a:buNone/>
            </a:pPr>
            <a:r>
              <a:rPr lang="en-US" sz="1450" b="1" dirty="0">
                <a:solidFill>
                  <a:srgbClr val="1C7293"/>
                </a:solidFill>
                <a:latin typeface="맑은 고딕" pitchFamily="34" charset="0"/>
                <a:ea typeface="맑은 고딕" pitchFamily="34" charset="-122"/>
                <a:cs typeface="맑은 고딕" pitchFamily="34" charset="-120"/>
              </a:rPr>
              <a:t>경로 A 대비 경로 C</a:t>
            </a:r>
            <a:endParaRPr lang="en-US" sz="1450" dirty="0"/>
          </a:p>
        </p:txBody>
      </p:sp>
      <p:sp>
        <p:nvSpPr>
          <p:cNvPr id="9" name="Text 7"/>
          <p:cNvSpPr txBox="1"/>
          <p:nvPr/>
        </p:nvSpPr>
        <p:spPr>
          <a:xfrm>
            <a:off x="804672" y="1901952"/>
            <a:ext cx="1645920" cy="329184"/>
          </a:xfrm>
          <a:prstGeom prst="rect">
            <a:avLst/>
          </a:prstGeom>
          <a:noFill/>
          <a:ln/>
        </p:spPr>
        <p:txBody>
          <a:bodyPr wrap="square" lIns="0" tIns="0" rIns="0" bIns="0" rtlCol="0" anchor="ctr"/>
          <a:lstStyle/>
          <a:p>
            <a:pPr marL="0" indent="0">
              <a:buNone/>
            </a:pPr>
            <a:r>
              <a:rPr lang="en-US" sz="1300" dirty="0">
                <a:solidFill>
                  <a:srgbClr val="1A1A1A"/>
                </a:solidFill>
                <a:latin typeface="맑은 고딕" pitchFamily="34" charset="0"/>
                <a:ea typeface="맑은 고딕" pitchFamily="34" charset="-122"/>
                <a:cs typeface="맑은 고딕" pitchFamily="34" charset="-120"/>
              </a:rPr>
              <a:t>거리</a:t>
            </a:r>
            <a:endParaRPr lang="en-US" sz="1300" dirty="0"/>
          </a:p>
        </p:txBody>
      </p:sp>
      <p:sp>
        <p:nvSpPr>
          <p:cNvPr id="10" name="Text 8"/>
          <p:cNvSpPr txBox="1"/>
          <p:nvPr/>
        </p:nvSpPr>
        <p:spPr>
          <a:xfrm>
            <a:off x="2487168" y="1901952"/>
            <a:ext cx="3200400" cy="329184"/>
          </a:xfrm>
          <a:prstGeom prst="rect">
            <a:avLst/>
          </a:prstGeom>
          <a:noFill/>
          <a:ln/>
        </p:spPr>
        <p:txBody>
          <a:bodyPr wrap="square" lIns="0" tIns="0" rIns="0" bIns="0" rtlCol="0" anchor="ctr"/>
          <a:lstStyle/>
          <a:p>
            <a:pPr marL="0" indent="0">
              <a:buNone/>
            </a:pPr>
            <a:r>
              <a:rPr lang="en-US" sz="1300" b="1" dirty="0">
                <a:solidFill>
                  <a:srgbClr val="5F6B78"/>
                </a:solidFill>
                <a:latin typeface="맑은 고딕" pitchFamily="34" charset="0"/>
                <a:ea typeface="맑은 고딕" pitchFamily="34" charset="-122"/>
                <a:cs typeface="맑은 고딕" pitchFamily="34" charset="-120"/>
              </a:rPr>
              <a:t>+3 km (더 길다)</a:t>
            </a:r>
            <a:endParaRPr lang="en-US" sz="1300" dirty="0"/>
          </a:p>
        </p:txBody>
      </p:sp>
      <p:sp>
        <p:nvSpPr>
          <p:cNvPr id="11" name="Text 9"/>
          <p:cNvSpPr txBox="1"/>
          <p:nvPr/>
        </p:nvSpPr>
        <p:spPr>
          <a:xfrm>
            <a:off x="804672" y="2322576"/>
            <a:ext cx="1645920" cy="329184"/>
          </a:xfrm>
          <a:prstGeom prst="rect">
            <a:avLst/>
          </a:prstGeom>
          <a:noFill/>
          <a:ln/>
        </p:spPr>
        <p:txBody>
          <a:bodyPr wrap="square" lIns="0" tIns="0" rIns="0" bIns="0" rtlCol="0" anchor="ctr"/>
          <a:lstStyle/>
          <a:p>
            <a:pPr marL="0" indent="0">
              <a:buNone/>
            </a:pPr>
            <a:r>
              <a:rPr lang="en-US" sz="1300" dirty="0">
                <a:solidFill>
                  <a:srgbClr val="1A1A1A"/>
                </a:solidFill>
                <a:latin typeface="맑은 고딕" pitchFamily="34" charset="0"/>
                <a:ea typeface="맑은 고딕" pitchFamily="34" charset="-122"/>
                <a:cs typeface="맑은 고딕" pitchFamily="34" charset="-120"/>
              </a:rPr>
              <a:t>에너지</a:t>
            </a:r>
            <a:endParaRPr lang="en-US" sz="1300" dirty="0"/>
          </a:p>
        </p:txBody>
      </p:sp>
      <p:sp>
        <p:nvSpPr>
          <p:cNvPr id="12" name="Text 10"/>
          <p:cNvSpPr txBox="1"/>
          <p:nvPr/>
        </p:nvSpPr>
        <p:spPr>
          <a:xfrm>
            <a:off x="2487168" y="2322576"/>
            <a:ext cx="3200400" cy="329184"/>
          </a:xfrm>
          <a:prstGeom prst="rect">
            <a:avLst/>
          </a:prstGeom>
          <a:noFill/>
          <a:ln/>
        </p:spPr>
        <p:txBody>
          <a:bodyPr wrap="square" lIns="0" tIns="0" rIns="0" bIns="0" rtlCol="0" anchor="ctr"/>
          <a:lstStyle/>
          <a:p>
            <a:pPr marL="0" indent="0">
              <a:buNone/>
            </a:pPr>
            <a:r>
              <a:rPr lang="en-US" sz="1300" b="1" dirty="0">
                <a:solidFill>
                  <a:srgbClr val="2E8B57"/>
                </a:solidFill>
                <a:latin typeface="맑은 고딕" pitchFamily="34" charset="0"/>
                <a:ea typeface="맑은 고딕" pitchFamily="34" charset="-122"/>
                <a:cs typeface="맑은 고딕" pitchFamily="34" charset="-120"/>
              </a:rPr>
              <a:t>-1.45 kWh (절약)</a:t>
            </a:r>
            <a:endParaRPr lang="en-US" sz="1300" dirty="0"/>
          </a:p>
        </p:txBody>
      </p:sp>
      <p:sp>
        <p:nvSpPr>
          <p:cNvPr id="13" name="Text 11"/>
          <p:cNvSpPr txBox="1"/>
          <p:nvPr/>
        </p:nvSpPr>
        <p:spPr>
          <a:xfrm>
            <a:off x="804672" y="2743200"/>
            <a:ext cx="1645920" cy="329184"/>
          </a:xfrm>
          <a:prstGeom prst="rect">
            <a:avLst/>
          </a:prstGeom>
          <a:noFill/>
          <a:ln/>
        </p:spPr>
        <p:txBody>
          <a:bodyPr wrap="square" lIns="0" tIns="0" rIns="0" bIns="0" rtlCol="0" anchor="ctr"/>
          <a:lstStyle/>
          <a:p>
            <a:pPr marL="0" indent="0">
              <a:buNone/>
            </a:pPr>
            <a:r>
              <a:rPr lang="en-US" sz="1300" dirty="0">
                <a:solidFill>
                  <a:srgbClr val="1A1A1A"/>
                </a:solidFill>
                <a:latin typeface="맑은 고딕" pitchFamily="34" charset="0"/>
                <a:ea typeface="맑은 고딕" pitchFamily="34" charset="-122"/>
                <a:cs typeface="맑은 고딕" pitchFamily="34" charset="-120"/>
              </a:rPr>
              <a:t>도착 SOC</a:t>
            </a:r>
            <a:endParaRPr lang="en-US" sz="1300" dirty="0"/>
          </a:p>
        </p:txBody>
      </p:sp>
      <p:sp>
        <p:nvSpPr>
          <p:cNvPr id="14" name="Text 12"/>
          <p:cNvSpPr txBox="1"/>
          <p:nvPr/>
        </p:nvSpPr>
        <p:spPr>
          <a:xfrm>
            <a:off x="2487168" y="2743200"/>
            <a:ext cx="3200400" cy="329184"/>
          </a:xfrm>
          <a:prstGeom prst="rect">
            <a:avLst/>
          </a:prstGeom>
          <a:noFill/>
          <a:ln/>
        </p:spPr>
        <p:txBody>
          <a:bodyPr wrap="square" lIns="0" tIns="0" rIns="0" bIns="0" rtlCol="0" anchor="ctr"/>
          <a:lstStyle/>
          <a:p>
            <a:pPr marL="0" indent="0">
              <a:buNone/>
            </a:pPr>
            <a:r>
              <a:rPr lang="en-US" sz="1300" b="1" dirty="0">
                <a:solidFill>
                  <a:srgbClr val="2E8B57"/>
                </a:solidFill>
                <a:latin typeface="맑은 고딕" pitchFamily="34" charset="0"/>
                <a:ea typeface="맑은 고딕" pitchFamily="34" charset="-122"/>
                <a:cs typeface="맑은 고딕" pitchFamily="34" charset="-120"/>
              </a:rPr>
              <a:t>+2.42 %p (여유)</a:t>
            </a:r>
            <a:endParaRPr lang="en-US" sz="1300" dirty="0"/>
          </a:p>
        </p:txBody>
      </p:sp>
      <p:sp>
        <p:nvSpPr>
          <p:cNvPr id="15" name="Text 13"/>
          <p:cNvSpPr txBox="1"/>
          <p:nvPr/>
        </p:nvSpPr>
        <p:spPr>
          <a:xfrm>
            <a:off x="804672" y="3163824"/>
            <a:ext cx="1645920" cy="329184"/>
          </a:xfrm>
          <a:prstGeom prst="rect">
            <a:avLst/>
          </a:prstGeom>
          <a:noFill/>
          <a:ln/>
        </p:spPr>
        <p:txBody>
          <a:bodyPr wrap="square" lIns="0" tIns="0" rIns="0" bIns="0" rtlCol="0" anchor="ctr"/>
          <a:lstStyle/>
          <a:p>
            <a:pPr marL="0" indent="0">
              <a:buNone/>
            </a:pPr>
            <a:r>
              <a:rPr lang="en-US" sz="1300" dirty="0">
                <a:solidFill>
                  <a:srgbClr val="1A1A1A"/>
                </a:solidFill>
                <a:latin typeface="맑은 고딕" pitchFamily="34" charset="0"/>
                <a:ea typeface="맑은 고딕" pitchFamily="34" charset="-122"/>
                <a:cs typeface="맑은 고딕" pitchFamily="34" charset="-120"/>
              </a:rPr>
              <a:t>소요 시간</a:t>
            </a:r>
            <a:endParaRPr lang="en-US" sz="1300" dirty="0"/>
          </a:p>
        </p:txBody>
      </p:sp>
      <p:sp>
        <p:nvSpPr>
          <p:cNvPr id="16" name="Text 14"/>
          <p:cNvSpPr txBox="1"/>
          <p:nvPr/>
        </p:nvSpPr>
        <p:spPr>
          <a:xfrm>
            <a:off x="2487168" y="3163824"/>
            <a:ext cx="3200400" cy="329184"/>
          </a:xfrm>
          <a:prstGeom prst="rect">
            <a:avLst/>
          </a:prstGeom>
          <a:noFill/>
          <a:ln/>
        </p:spPr>
        <p:txBody>
          <a:bodyPr wrap="square" lIns="0" tIns="0" rIns="0" bIns="0" rtlCol="0" anchor="ctr"/>
          <a:lstStyle/>
          <a:p>
            <a:pPr marL="0" indent="0">
              <a:buNone/>
            </a:pPr>
            <a:r>
              <a:rPr lang="en-US" sz="1300" b="1" dirty="0">
                <a:solidFill>
                  <a:srgbClr val="5F6B78"/>
                </a:solidFill>
                <a:latin typeface="맑은 고딕" pitchFamily="34" charset="0"/>
                <a:ea typeface="맑은 고딕" pitchFamily="34" charset="-122"/>
                <a:cs typeface="맑은 고딕" pitchFamily="34" charset="-120"/>
              </a:rPr>
              <a:t>+5.63 분 (더 걸린다)</a:t>
            </a:r>
            <a:endParaRPr lang="en-US" sz="1300" dirty="0"/>
          </a:p>
        </p:txBody>
      </p:sp>
      <p:sp>
        <p:nvSpPr>
          <p:cNvPr id="17" name="Shape 15"/>
          <p:cNvSpPr/>
          <p:nvPr/>
        </p:nvSpPr>
        <p:spPr>
          <a:xfrm>
            <a:off x="6236208" y="1325880"/>
            <a:ext cx="5394960" cy="2331720"/>
          </a:xfrm>
          <a:prstGeom prst="roundRect">
            <a:avLst>
              <a:gd name="adj" fmla="val 1961"/>
            </a:avLst>
          </a:prstGeom>
          <a:solidFill>
            <a:srgbClr val="D8E8F0"/>
          </a:solidFill>
          <a:ln w="12700">
            <a:solidFill>
              <a:srgbClr val="1C7293"/>
            </a:solidFill>
            <a:prstDash val="solid"/>
          </a:ln>
        </p:spPr>
        <p:txBody>
          <a:bodyPr/>
          <a:lstStyle/>
          <a:p>
            <a:endParaRPr lang="ko-KR" altLang="en-US"/>
          </a:p>
        </p:txBody>
      </p:sp>
      <p:sp>
        <p:nvSpPr>
          <p:cNvPr id="18" name="Text 16"/>
          <p:cNvSpPr txBox="1"/>
          <p:nvPr/>
        </p:nvSpPr>
        <p:spPr>
          <a:xfrm>
            <a:off x="6473952" y="1325880"/>
            <a:ext cx="4919472" cy="2331720"/>
          </a:xfrm>
          <a:prstGeom prst="rect">
            <a:avLst/>
          </a:prstGeom>
          <a:noFill/>
          <a:ln/>
        </p:spPr>
        <p:txBody>
          <a:bodyPr wrap="square" lIns="0" tIns="0" rIns="0" bIns="0" rtlCol="0" anchor="ctr"/>
          <a:lstStyle/>
          <a:p>
            <a:pPr marL="0" indent="0">
              <a:lnSpc>
                <a:spcPts val="1900"/>
              </a:lnSpc>
              <a:buNone/>
            </a:pPr>
            <a:r>
              <a:rPr lang="en-US" sz="1300" b="1" dirty="0">
                <a:solidFill>
                  <a:srgbClr val="0E3A5C"/>
                </a:solidFill>
                <a:latin typeface="맑은 고딕" pitchFamily="34" charset="0"/>
                <a:ea typeface="맑은 고딕" pitchFamily="34" charset="-122"/>
                <a:cs typeface="맑은 고딕" pitchFamily="34" charset="-120"/>
              </a:rPr>
              <a:t>그래서 어떤 화면이 되어야 하나   </a:t>
            </a:r>
            <a:r>
              <a:rPr lang="en-US" sz="1300" dirty="0">
                <a:solidFill>
                  <a:srgbClr val="1A1A1A"/>
                </a:solidFill>
                <a:latin typeface="맑은 고딕" pitchFamily="34" charset="0"/>
                <a:ea typeface="맑은 고딕" pitchFamily="34" charset="-122"/>
                <a:cs typeface="맑은 고딕" pitchFamily="34" charset="-120"/>
              </a:rPr>
              <a:t>경로 B와 비교하면 13.4분을 더 쓰고 7.21kWh를 아낀다. 최소 에너지 경로가 항상 최적인 것은 아니므로, 서비스는 최단시간·최단거리·에너지 우선 경로를 함께 제시하고 안전 기준에 미달하는 경로에는 충전 경유 안내를 붙이는 형태가 적절하다.</a:t>
            </a:r>
            <a:endParaRPr lang="en-US" sz="1300" dirty="0"/>
          </a:p>
        </p:txBody>
      </p:sp>
      <p:sp>
        <p:nvSpPr>
          <p:cNvPr id="19" name="Text 17"/>
          <p:cNvSpPr txBox="1"/>
          <p:nvPr/>
        </p:nvSpPr>
        <p:spPr>
          <a:xfrm>
            <a:off x="566928" y="3840480"/>
            <a:ext cx="5486400" cy="292608"/>
          </a:xfrm>
          <a:prstGeom prst="rect">
            <a:avLst/>
          </a:prstGeom>
          <a:noFill/>
          <a:ln/>
        </p:spPr>
        <p:txBody>
          <a:bodyPr wrap="square" lIns="0" tIns="0" rIns="0" bIns="0" rtlCol="0" anchor="ctr"/>
          <a:lstStyle/>
          <a:p>
            <a:pPr marL="0" indent="0">
              <a:buNone/>
            </a:pPr>
            <a:r>
              <a:rPr lang="en-US" sz="1500" b="1" dirty="0">
                <a:solidFill>
                  <a:srgbClr val="0E3A5C"/>
                </a:solidFill>
                <a:latin typeface="맑은 고딕" pitchFamily="34" charset="0"/>
                <a:ea typeface="맑은 고딕" pitchFamily="34" charset="-122"/>
                <a:cs typeface="맑은 고딕" pitchFamily="34" charset="-120"/>
              </a:rPr>
              <a:t>예상 활용 시나리오</a:t>
            </a:r>
            <a:endParaRPr lang="en-US" sz="1500" dirty="0"/>
          </a:p>
        </p:txBody>
      </p:sp>
      <p:sp>
        <p:nvSpPr>
          <p:cNvPr id="20" name="Shape 18"/>
          <p:cNvSpPr/>
          <p:nvPr/>
        </p:nvSpPr>
        <p:spPr>
          <a:xfrm>
            <a:off x="566928" y="4206240"/>
            <a:ext cx="5394960" cy="896112"/>
          </a:xfrm>
          <a:prstGeom prst="roundRect">
            <a:avLst>
              <a:gd name="adj" fmla="val 5102"/>
            </a:avLst>
          </a:prstGeom>
          <a:solidFill>
            <a:srgbClr val="FFFFFF"/>
          </a:solidFill>
          <a:ln w="12700">
            <a:solidFill>
              <a:srgbClr val="D8E8F0"/>
            </a:solidFill>
            <a:prstDash val="solid"/>
          </a:ln>
        </p:spPr>
        <p:txBody>
          <a:bodyPr/>
          <a:lstStyle/>
          <a:p>
            <a:endParaRPr lang="ko-KR" altLang="en-US"/>
          </a:p>
        </p:txBody>
      </p:sp>
      <p:sp>
        <p:nvSpPr>
          <p:cNvPr id="21" name="Text 19"/>
          <p:cNvSpPr txBox="1"/>
          <p:nvPr/>
        </p:nvSpPr>
        <p:spPr>
          <a:xfrm>
            <a:off x="768096" y="4297680"/>
            <a:ext cx="5029200" cy="274320"/>
          </a:xfrm>
          <a:prstGeom prst="rect">
            <a:avLst/>
          </a:prstGeom>
          <a:noFill/>
          <a:ln/>
        </p:spPr>
        <p:txBody>
          <a:bodyPr wrap="square" lIns="0" tIns="0" rIns="0" bIns="0" rtlCol="0" anchor="ctr"/>
          <a:lstStyle/>
          <a:p>
            <a:pPr marL="0" indent="0">
              <a:buNone/>
            </a:pPr>
            <a:r>
              <a:rPr lang="en-US" sz="1350" b="1" dirty="0">
                <a:solidFill>
                  <a:srgbClr val="1C7293"/>
                </a:solidFill>
                <a:latin typeface="맑은 고딕" pitchFamily="34" charset="0"/>
                <a:ea typeface="맑은 고딕" pitchFamily="34" charset="-122"/>
                <a:cs typeface="맑은 고딕" pitchFamily="34" charset="-120"/>
              </a:rPr>
              <a:t>주행가능거리 안내</a:t>
            </a:r>
            <a:endParaRPr lang="en-US" sz="1350" dirty="0"/>
          </a:p>
        </p:txBody>
      </p:sp>
      <p:sp>
        <p:nvSpPr>
          <p:cNvPr id="22" name="Text 20"/>
          <p:cNvSpPr txBox="1"/>
          <p:nvPr/>
        </p:nvSpPr>
        <p:spPr>
          <a:xfrm>
            <a:off x="768096" y="4590288"/>
            <a:ext cx="5029200" cy="457200"/>
          </a:xfrm>
          <a:prstGeom prst="rect">
            <a:avLst/>
          </a:prstGeom>
          <a:noFill/>
          <a:ln/>
        </p:spPr>
        <p:txBody>
          <a:bodyPr wrap="square" lIns="0" tIns="0" rIns="0" bIns="0" rtlCol="0" anchor="ctr"/>
          <a:lstStyle/>
          <a:p>
            <a:pPr marL="0" indent="0">
              <a:lnSpc>
                <a:spcPts val="1600"/>
              </a:lnSpc>
              <a:buNone/>
            </a:pPr>
            <a:r>
              <a:rPr lang="en-US" sz="1150" dirty="0">
                <a:solidFill>
                  <a:srgbClr val="1A1A1A"/>
                </a:solidFill>
                <a:latin typeface="맑은 고딕" pitchFamily="34" charset="0"/>
                <a:ea typeface="맑은 고딕" pitchFamily="34" charset="-122"/>
                <a:cs typeface="맑은 고딕" pitchFamily="34" charset="-120"/>
              </a:rPr>
              <a:t>고정 공인 전비 대신 현재 조건 기반 예측 소비율로 잔여 주행가능거리를 계산</a:t>
            </a:r>
            <a:endParaRPr lang="en-US" sz="1150" dirty="0"/>
          </a:p>
        </p:txBody>
      </p:sp>
      <p:sp>
        <p:nvSpPr>
          <p:cNvPr id="23" name="Shape 21"/>
          <p:cNvSpPr/>
          <p:nvPr/>
        </p:nvSpPr>
        <p:spPr>
          <a:xfrm>
            <a:off x="6236208" y="4206240"/>
            <a:ext cx="5394960" cy="896112"/>
          </a:xfrm>
          <a:prstGeom prst="roundRect">
            <a:avLst>
              <a:gd name="adj" fmla="val 5102"/>
            </a:avLst>
          </a:prstGeom>
          <a:solidFill>
            <a:srgbClr val="FFFFFF"/>
          </a:solidFill>
          <a:ln w="12700">
            <a:solidFill>
              <a:srgbClr val="D8E8F0"/>
            </a:solidFill>
            <a:prstDash val="solid"/>
          </a:ln>
        </p:spPr>
        <p:txBody>
          <a:bodyPr/>
          <a:lstStyle/>
          <a:p>
            <a:endParaRPr lang="ko-KR" altLang="en-US"/>
          </a:p>
        </p:txBody>
      </p:sp>
      <p:sp>
        <p:nvSpPr>
          <p:cNvPr id="24" name="Text 22"/>
          <p:cNvSpPr txBox="1"/>
          <p:nvPr/>
        </p:nvSpPr>
        <p:spPr>
          <a:xfrm>
            <a:off x="6437376" y="4297680"/>
            <a:ext cx="5029200" cy="274320"/>
          </a:xfrm>
          <a:prstGeom prst="rect">
            <a:avLst/>
          </a:prstGeom>
          <a:noFill/>
          <a:ln/>
        </p:spPr>
        <p:txBody>
          <a:bodyPr wrap="square" lIns="0" tIns="0" rIns="0" bIns="0" rtlCol="0" anchor="ctr"/>
          <a:lstStyle/>
          <a:p>
            <a:pPr marL="0" indent="0">
              <a:buNone/>
            </a:pPr>
            <a:r>
              <a:rPr lang="en-US" sz="1350" b="1" dirty="0">
                <a:solidFill>
                  <a:srgbClr val="1C7293"/>
                </a:solidFill>
                <a:latin typeface="맑은 고딕" pitchFamily="34" charset="0"/>
                <a:ea typeface="맑은 고딕" pitchFamily="34" charset="-122"/>
                <a:cs typeface="맑은 고딕" pitchFamily="34" charset="-120"/>
              </a:rPr>
              <a:t>충전 계획</a:t>
            </a:r>
            <a:endParaRPr lang="en-US" sz="1350" dirty="0"/>
          </a:p>
        </p:txBody>
      </p:sp>
      <p:sp>
        <p:nvSpPr>
          <p:cNvPr id="25" name="Text 23"/>
          <p:cNvSpPr txBox="1"/>
          <p:nvPr/>
        </p:nvSpPr>
        <p:spPr>
          <a:xfrm>
            <a:off x="6437376" y="4590288"/>
            <a:ext cx="5029200" cy="457200"/>
          </a:xfrm>
          <a:prstGeom prst="rect">
            <a:avLst/>
          </a:prstGeom>
          <a:noFill/>
          <a:ln/>
        </p:spPr>
        <p:txBody>
          <a:bodyPr wrap="square" lIns="0" tIns="0" rIns="0" bIns="0" rtlCol="0" anchor="ctr"/>
          <a:lstStyle/>
          <a:p>
            <a:pPr marL="0" indent="0">
              <a:lnSpc>
                <a:spcPts val="1600"/>
              </a:lnSpc>
              <a:buNone/>
            </a:pPr>
            <a:r>
              <a:rPr lang="en-US" sz="1150" dirty="0">
                <a:solidFill>
                  <a:srgbClr val="1A1A1A"/>
                </a:solidFill>
                <a:latin typeface="맑은 고딕" pitchFamily="34" charset="0"/>
                <a:ea typeface="맑은 고딕" pitchFamily="34" charset="-122"/>
                <a:cs typeface="맑은 고딕" pitchFamily="34" charset="-120"/>
              </a:rPr>
              <a:t>도착 SOC가 안전 기준 미만인 경로에 경유 충전 필요 여부와 시점을 판단</a:t>
            </a:r>
            <a:endParaRPr lang="en-US" sz="1150" dirty="0"/>
          </a:p>
        </p:txBody>
      </p:sp>
      <p:sp>
        <p:nvSpPr>
          <p:cNvPr id="26" name="Shape 24"/>
          <p:cNvSpPr/>
          <p:nvPr/>
        </p:nvSpPr>
        <p:spPr>
          <a:xfrm>
            <a:off x="566928" y="5230368"/>
            <a:ext cx="5394960" cy="896112"/>
          </a:xfrm>
          <a:prstGeom prst="roundRect">
            <a:avLst>
              <a:gd name="adj" fmla="val 5102"/>
            </a:avLst>
          </a:prstGeom>
          <a:solidFill>
            <a:srgbClr val="FFFFFF"/>
          </a:solidFill>
          <a:ln w="12700">
            <a:solidFill>
              <a:srgbClr val="D8E8F0"/>
            </a:solidFill>
            <a:prstDash val="solid"/>
          </a:ln>
        </p:spPr>
        <p:txBody>
          <a:bodyPr/>
          <a:lstStyle/>
          <a:p>
            <a:endParaRPr lang="ko-KR" altLang="en-US"/>
          </a:p>
        </p:txBody>
      </p:sp>
      <p:sp>
        <p:nvSpPr>
          <p:cNvPr id="27" name="Text 25"/>
          <p:cNvSpPr txBox="1"/>
          <p:nvPr/>
        </p:nvSpPr>
        <p:spPr>
          <a:xfrm>
            <a:off x="768096" y="5321808"/>
            <a:ext cx="5029200" cy="274320"/>
          </a:xfrm>
          <a:prstGeom prst="rect">
            <a:avLst/>
          </a:prstGeom>
          <a:noFill/>
          <a:ln/>
        </p:spPr>
        <p:txBody>
          <a:bodyPr wrap="square" lIns="0" tIns="0" rIns="0" bIns="0" rtlCol="0" anchor="ctr"/>
          <a:lstStyle/>
          <a:p>
            <a:pPr marL="0" indent="0">
              <a:buNone/>
            </a:pPr>
            <a:r>
              <a:rPr lang="en-US" sz="1350" b="1" dirty="0">
                <a:solidFill>
                  <a:srgbClr val="1C7293"/>
                </a:solidFill>
                <a:latin typeface="맑은 고딕" pitchFamily="34" charset="0"/>
                <a:ea typeface="맑은 고딕" pitchFamily="34" charset="-122"/>
                <a:cs typeface="맑은 고딕" pitchFamily="34" charset="-120"/>
              </a:rPr>
              <a:t>에너지 우선 경로</a:t>
            </a:r>
            <a:endParaRPr lang="en-US" sz="1350" dirty="0"/>
          </a:p>
        </p:txBody>
      </p:sp>
      <p:sp>
        <p:nvSpPr>
          <p:cNvPr id="28" name="Text 26"/>
          <p:cNvSpPr txBox="1"/>
          <p:nvPr/>
        </p:nvSpPr>
        <p:spPr>
          <a:xfrm>
            <a:off x="768096" y="5614416"/>
            <a:ext cx="5029200" cy="457200"/>
          </a:xfrm>
          <a:prstGeom prst="rect">
            <a:avLst/>
          </a:prstGeom>
          <a:noFill/>
          <a:ln/>
        </p:spPr>
        <p:txBody>
          <a:bodyPr wrap="square" lIns="0" tIns="0" rIns="0" bIns="0" rtlCol="0" anchor="ctr"/>
          <a:lstStyle/>
          <a:p>
            <a:pPr marL="0" indent="0">
              <a:lnSpc>
                <a:spcPts val="1600"/>
              </a:lnSpc>
              <a:buNone/>
            </a:pPr>
            <a:r>
              <a:rPr lang="en-US" sz="1150" dirty="0">
                <a:solidFill>
                  <a:srgbClr val="1A1A1A"/>
                </a:solidFill>
                <a:latin typeface="맑은 고딕" pitchFamily="34" charset="0"/>
                <a:ea typeface="맑은 고딕" pitchFamily="34" charset="-122"/>
                <a:cs typeface="맑은 고딕" pitchFamily="34" charset="-120"/>
              </a:rPr>
              <a:t>경로 후보별 예상 소비전력량을 비교해 에너지 관점의 선택지를 추가 제공</a:t>
            </a:r>
            <a:endParaRPr lang="en-US" sz="1150" dirty="0"/>
          </a:p>
        </p:txBody>
      </p:sp>
      <p:sp>
        <p:nvSpPr>
          <p:cNvPr id="29" name="Shape 27"/>
          <p:cNvSpPr/>
          <p:nvPr/>
        </p:nvSpPr>
        <p:spPr>
          <a:xfrm>
            <a:off x="6236208" y="5230368"/>
            <a:ext cx="5394960" cy="896112"/>
          </a:xfrm>
          <a:prstGeom prst="roundRect">
            <a:avLst>
              <a:gd name="adj" fmla="val 5102"/>
            </a:avLst>
          </a:prstGeom>
          <a:solidFill>
            <a:srgbClr val="FFFFFF"/>
          </a:solidFill>
          <a:ln w="12700">
            <a:solidFill>
              <a:srgbClr val="D8E8F0"/>
            </a:solidFill>
            <a:prstDash val="solid"/>
          </a:ln>
        </p:spPr>
        <p:txBody>
          <a:bodyPr/>
          <a:lstStyle/>
          <a:p>
            <a:endParaRPr lang="ko-KR" altLang="en-US"/>
          </a:p>
        </p:txBody>
      </p:sp>
      <p:sp>
        <p:nvSpPr>
          <p:cNvPr id="30" name="Text 28"/>
          <p:cNvSpPr txBox="1"/>
          <p:nvPr/>
        </p:nvSpPr>
        <p:spPr>
          <a:xfrm>
            <a:off x="6437376" y="5321808"/>
            <a:ext cx="5029200" cy="274320"/>
          </a:xfrm>
          <a:prstGeom prst="rect">
            <a:avLst/>
          </a:prstGeom>
          <a:noFill/>
          <a:ln/>
        </p:spPr>
        <p:txBody>
          <a:bodyPr wrap="square" lIns="0" tIns="0" rIns="0" bIns="0" rtlCol="0" anchor="ctr"/>
          <a:lstStyle/>
          <a:p>
            <a:pPr marL="0" indent="0">
              <a:buNone/>
            </a:pPr>
            <a:r>
              <a:rPr lang="en-US" sz="1350" b="1" dirty="0">
                <a:solidFill>
                  <a:srgbClr val="1C7293"/>
                </a:solidFill>
                <a:latin typeface="맑은 고딕" pitchFamily="34" charset="0"/>
                <a:ea typeface="맑은 고딕" pitchFamily="34" charset="-122"/>
                <a:cs typeface="맑은 고딕" pitchFamily="34" charset="-120"/>
              </a:rPr>
              <a:t>운영비 추정</a:t>
            </a:r>
            <a:endParaRPr lang="en-US" sz="1350" dirty="0"/>
          </a:p>
        </p:txBody>
      </p:sp>
      <p:sp>
        <p:nvSpPr>
          <p:cNvPr id="31" name="Text 29"/>
          <p:cNvSpPr txBox="1"/>
          <p:nvPr/>
        </p:nvSpPr>
        <p:spPr>
          <a:xfrm>
            <a:off x="6437376" y="5614416"/>
            <a:ext cx="5029200" cy="457200"/>
          </a:xfrm>
          <a:prstGeom prst="rect">
            <a:avLst/>
          </a:prstGeom>
          <a:noFill/>
          <a:ln/>
        </p:spPr>
        <p:txBody>
          <a:bodyPr wrap="square" lIns="0" tIns="0" rIns="0" bIns="0" rtlCol="0" anchor="ctr"/>
          <a:lstStyle/>
          <a:p>
            <a:pPr marL="0" indent="0">
              <a:lnSpc>
                <a:spcPts val="1600"/>
              </a:lnSpc>
              <a:buNone/>
            </a:pPr>
            <a:r>
              <a:rPr lang="en-US" sz="1150" dirty="0">
                <a:solidFill>
                  <a:srgbClr val="1A1A1A"/>
                </a:solidFill>
                <a:latin typeface="맑은 고딕" pitchFamily="34" charset="0"/>
                <a:ea typeface="맑은 고딕" pitchFamily="34" charset="-122"/>
                <a:cs typeface="맑은 고딕" pitchFamily="34" charset="-120"/>
              </a:rPr>
              <a:t>예상 소비전력량에 충전 단가를 곱해 경로별 예상 전기요금을 사전 제시</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566928" y="365760"/>
            <a:ext cx="457200" cy="457200"/>
          </a:xfrm>
          <a:prstGeom prst="ellipse">
            <a:avLst/>
          </a:prstGeom>
          <a:solidFill>
            <a:srgbClr val="1C7293"/>
          </a:solidFill>
          <a:ln w="12700">
            <a:solidFill>
              <a:srgbClr val="1C7293"/>
            </a:solidFill>
            <a:prstDash val="solid"/>
          </a:ln>
        </p:spPr>
        <p:txBody>
          <a:bodyPr/>
          <a:lstStyle/>
          <a:p>
            <a:endParaRPr lang="ko-KR" altLang="en-US"/>
          </a:p>
        </p:txBody>
      </p:sp>
      <p:sp>
        <p:nvSpPr>
          <p:cNvPr id="3" name="Text 1"/>
          <p:cNvSpPr txBox="1"/>
          <p:nvPr/>
        </p:nvSpPr>
        <p:spPr>
          <a:xfrm>
            <a:off x="566928" y="3657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30</a:t>
            </a:r>
            <a:endParaRPr lang="en-US" sz="1600" dirty="0"/>
          </a:p>
        </p:txBody>
      </p:sp>
      <p:sp>
        <p:nvSpPr>
          <p:cNvPr id="4" name="Text 2"/>
          <p:cNvSpPr txBox="1"/>
          <p:nvPr/>
        </p:nvSpPr>
        <p:spPr>
          <a:xfrm>
            <a:off x="1152144" y="310896"/>
            <a:ext cx="10424160" cy="246888"/>
          </a:xfrm>
          <a:prstGeom prst="rect">
            <a:avLst/>
          </a:prstGeom>
          <a:noFill/>
          <a:ln/>
        </p:spPr>
        <p:txBody>
          <a:bodyPr wrap="square" lIns="0" tIns="0" rIns="0" bIns="0" rtlCol="0" anchor="ctr"/>
          <a:lstStyle/>
          <a:p>
            <a:pPr marL="0" indent="0">
              <a:buNone/>
            </a:pPr>
            <a:r>
              <a:rPr lang="en-US" sz="1150" b="1" kern="0" spc="100" dirty="0">
                <a:solidFill>
                  <a:srgbClr val="1C7293"/>
                </a:solidFill>
                <a:latin typeface="맑은 고딕" pitchFamily="34" charset="0"/>
                <a:ea typeface="맑은 고딕" pitchFamily="34" charset="-122"/>
                <a:cs typeface="맑은 고딕" pitchFamily="34" charset="-120"/>
              </a:rPr>
              <a:t>결론 · 한계</a:t>
            </a:r>
            <a:endParaRPr lang="en-US" sz="1150" dirty="0"/>
          </a:p>
        </p:txBody>
      </p:sp>
      <p:sp>
        <p:nvSpPr>
          <p:cNvPr id="5" name="Text 3"/>
          <p:cNvSpPr txBox="1"/>
          <p:nvPr/>
        </p:nvSpPr>
        <p:spPr>
          <a:xfrm>
            <a:off x="1152144" y="566928"/>
            <a:ext cx="10469880" cy="530352"/>
          </a:xfrm>
          <a:prstGeom prst="rect">
            <a:avLst/>
          </a:prstGeom>
          <a:noFill/>
          <a:ln/>
        </p:spPr>
        <p:txBody>
          <a:bodyPr wrap="square" lIns="0" tIns="0" rIns="0" bIns="0" rtlCol="0" anchor="ctr"/>
          <a:lstStyle/>
          <a:p>
            <a:pPr marL="0" indent="0">
              <a:buNone/>
            </a:pPr>
            <a:r>
              <a:rPr lang="en-US" sz="2500" b="1" dirty="0">
                <a:solidFill>
                  <a:srgbClr val="0E3A5C"/>
                </a:solidFill>
                <a:latin typeface="맑은 고딕" pitchFamily="34" charset="0"/>
                <a:ea typeface="맑은 고딕" pitchFamily="34" charset="-122"/>
                <a:cs typeface="맑은 고딕" pitchFamily="34" charset="-120"/>
              </a:rPr>
              <a:t>이 결과가 말할 수 없는 것</a:t>
            </a:r>
            <a:endParaRPr lang="en-US" sz="2500" dirty="0"/>
          </a:p>
        </p:txBody>
      </p:sp>
      <p:sp>
        <p:nvSpPr>
          <p:cNvPr id="6" name="Text 4"/>
          <p:cNvSpPr txBox="1"/>
          <p:nvPr/>
        </p:nvSpPr>
        <p:spPr>
          <a:xfrm>
            <a:off x="8686800" y="6519672"/>
            <a:ext cx="2926080" cy="274320"/>
          </a:xfrm>
          <a:prstGeom prst="rect">
            <a:avLst/>
          </a:prstGeom>
          <a:noFill/>
          <a:ln/>
        </p:spPr>
        <p:txBody>
          <a:bodyPr wrap="square" lIns="0" tIns="0" rIns="0" bIns="0" rtlCol="0" anchor="ctr"/>
          <a:lstStyle/>
          <a:p>
            <a:pPr marL="0" indent="0" algn="r">
              <a:buNone/>
            </a:pPr>
            <a:r>
              <a:rPr lang="en-US" sz="1000" dirty="0">
                <a:solidFill>
                  <a:srgbClr val="A8B4BE"/>
                </a:solidFill>
                <a:latin typeface="맑은 고딕" pitchFamily="34" charset="0"/>
                <a:ea typeface="맑은 고딕" pitchFamily="34" charset="-122"/>
                <a:cs typeface="맑은 고딕" pitchFamily="34" charset="-120"/>
              </a:rPr>
              <a:t>6. 업무 활용 · 결론</a:t>
            </a:r>
            <a:endParaRPr lang="en-US" sz="1000" dirty="0"/>
          </a:p>
        </p:txBody>
      </p:sp>
      <p:sp>
        <p:nvSpPr>
          <p:cNvPr id="7" name="Shape 5"/>
          <p:cNvSpPr/>
          <p:nvPr/>
        </p:nvSpPr>
        <p:spPr>
          <a:xfrm>
            <a:off x="566928" y="1325880"/>
            <a:ext cx="5394960" cy="1115568"/>
          </a:xfrm>
          <a:prstGeom prst="roundRect">
            <a:avLst>
              <a:gd name="adj" fmla="val 4098"/>
            </a:avLst>
          </a:prstGeom>
          <a:solidFill>
            <a:srgbClr val="FFFFFF"/>
          </a:solidFill>
          <a:ln w="12700">
            <a:solidFill>
              <a:srgbClr val="D8E8F0"/>
            </a:solidFill>
            <a:prstDash val="solid"/>
          </a:ln>
        </p:spPr>
        <p:txBody>
          <a:bodyPr/>
          <a:lstStyle/>
          <a:p>
            <a:endParaRPr lang="ko-KR" altLang="en-US"/>
          </a:p>
        </p:txBody>
      </p:sp>
      <p:sp>
        <p:nvSpPr>
          <p:cNvPr id="8" name="Text 6"/>
          <p:cNvSpPr txBox="1"/>
          <p:nvPr/>
        </p:nvSpPr>
        <p:spPr>
          <a:xfrm>
            <a:off x="768096" y="1435608"/>
            <a:ext cx="5029200" cy="274320"/>
          </a:xfrm>
          <a:prstGeom prst="rect">
            <a:avLst/>
          </a:prstGeom>
          <a:noFill/>
          <a:ln/>
        </p:spPr>
        <p:txBody>
          <a:bodyPr wrap="square" lIns="0" tIns="0" rIns="0" bIns="0" rtlCol="0" anchor="ctr"/>
          <a:lstStyle/>
          <a:p>
            <a:pPr marL="0" indent="0">
              <a:buNone/>
            </a:pPr>
            <a:r>
              <a:rPr lang="en-US" sz="1300" b="1" dirty="0">
                <a:solidFill>
                  <a:srgbClr val="0E3A5C"/>
                </a:solidFill>
                <a:latin typeface="맑은 고딕" pitchFamily="34" charset="0"/>
                <a:ea typeface="맑은 고딕" pitchFamily="34" charset="-122"/>
                <a:cs typeface="맑은 고딕" pitchFamily="34" charset="-120"/>
              </a:rPr>
              <a:t>학습 데이터의 성격</a:t>
            </a:r>
            <a:endParaRPr lang="en-US" sz="1300" dirty="0"/>
          </a:p>
        </p:txBody>
      </p:sp>
      <p:sp>
        <p:nvSpPr>
          <p:cNvPr id="9" name="Text 7"/>
          <p:cNvSpPr txBox="1"/>
          <p:nvPr/>
        </p:nvSpPr>
        <p:spPr>
          <a:xfrm>
            <a:off x="768096" y="1728216"/>
            <a:ext cx="5029200" cy="640080"/>
          </a:xfrm>
          <a:prstGeom prst="rect">
            <a:avLst/>
          </a:prstGeom>
          <a:noFill/>
          <a:ln/>
        </p:spPr>
        <p:txBody>
          <a:bodyPr wrap="square" lIns="0" tIns="0" rIns="0" bIns="0" rtlCol="0" anchor="ctr"/>
          <a:lstStyle/>
          <a:p>
            <a:pPr marL="0" indent="0">
              <a:lnSpc>
                <a:spcPts val="1600"/>
              </a:lnSpc>
              <a:buNone/>
            </a:pPr>
            <a:r>
              <a:rPr lang="en-US" sz="1150" dirty="0">
                <a:solidFill>
                  <a:srgbClr val="1A1A1A"/>
                </a:solidFill>
                <a:latin typeface="맑은 고딕" pitchFamily="34" charset="0"/>
                <a:ea typeface="맑은 고딕" pitchFamily="34" charset="-122"/>
                <a:cs typeface="맑은 고딕" pitchFamily="34" charset="-120"/>
              </a:rPr>
              <a:t>교육용 데이터이므로 실차 계측값과 분포·잡음 특성이 다를 수 있다. 성능 수치는 이 데이터 범위 안에서만 유효하다.</a:t>
            </a:r>
            <a:endParaRPr lang="en-US" sz="1150" dirty="0"/>
          </a:p>
        </p:txBody>
      </p:sp>
      <p:sp>
        <p:nvSpPr>
          <p:cNvPr id="10" name="Shape 8"/>
          <p:cNvSpPr/>
          <p:nvPr/>
        </p:nvSpPr>
        <p:spPr>
          <a:xfrm>
            <a:off x="6236208" y="1325880"/>
            <a:ext cx="5394960" cy="1115568"/>
          </a:xfrm>
          <a:prstGeom prst="roundRect">
            <a:avLst>
              <a:gd name="adj" fmla="val 4098"/>
            </a:avLst>
          </a:prstGeom>
          <a:solidFill>
            <a:srgbClr val="FFFFFF"/>
          </a:solidFill>
          <a:ln w="12700">
            <a:solidFill>
              <a:srgbClr val="D8E8F0"/>
            </a:solidFill>
            <a:prstDash val="solid"/>
          </a:ln>
        </p:spPr>
        <p:txBody>
          <a:bodyPr/>
          <a:lstStyle/>
          <a:p>
            <a:endParaRPr lang="ko-KR" altLang="en-US"/>
          </a:p>
        </p:txBody>
      </p:sp>
      <p:sp>
        <p:nvSpPr>
          <p:cNvPr id="11" name="Text 9"/>
          <p:cNvSpPr txBox="1"/>
          <p:nvPr/>
        </p:nvSpPr>
        <p:spPr>
          <a:xfrm>
            <a:off x="6437376" y="1435608"/>
            <a:ext cx="5029200" cy="274320"/>
          </a:xfrm>
          <a:prstGeom prst="rect">
            <a:avLst/>
          </a:prstGeom>
          <a:noFill/>
          <a:ln/>
        </p:spPr>
        <p:txBody>
          <a:bodyPr wrap="square" lIns="0" tIns="0" rIns="0" bIns="0" rtlCol="0" anchor="ctr"/>
          <a:lstStyle/>
          <a:p>
            <a:pPr marL="0" indent="0">
              <a:buNone/>
            </a:pPr>
            <a:r>
              <a:rPr lang="en-US" sz="1300" b="1" dirty="0">
                <a:solidFill>
                  <a:srgbClr val="0E3A5C"/>
                </a:solidFill>
                <a:latin typeface="맑은 고딕" pitchFamily="34" charset="0"/>
                <a:ea typeface="맑은 고딕" pitchFamily="34" charset="-122"/>
                <a:cs typeface="맑은 고딕" pitchFamily="34" charset="-120"/>
              </a:rPr>
              <a:t>분석 단위의 불일치</a:t>
            </a:r>
            <a:endParaRPr lang="en-US" sz="1300" dirty="0"/>
          </a:p>
        </p:txBody>
      </p:sp>
      <p:sp>
        <p:nvSpPr>
          <p:cNvPr id="12" name="Text 10"/>
          <p:cNvSpPr txBox="1"/>
          <p:nvPr/>
        </p:nvSpPr>
        <p:spPr>
          <a:xfrm>
            <a:off x="6437376" y="1728216"/>
            <a:ext cx="5029200" cy="640080"/>
          </a:xfrm>
          <a:prstGeom prst="rect">
            <a:avLst/>
          </a:prstGeom>
          <a:noFill/>
          <a:ln/>
        </p:spPr>
        <p:txBody>
          <a:bodyPr wrap="square" lIns="0" tIns="0" rIns="0" bIns="0" rtlCol="0" anchor="ctr"/>
          <a:lstStyle/>
          <a:p>
            <a:pPr marL="0" indent="0">
              <a:lnSpc>
                <a:spcPts val="1600"/>
              </a:lnSpc>
              <a:buNone/>
            </a:pPr>
            <a:r>
              <a:rPr lang="en-US" sz="1150" dirty="0">
                <a:solidFill>
                  <a:srgbClr val="1A1A1A"/>
                </a:solidFill>
                <a:latin typeface="맑은 고딕" pitchFamily="34" charset="0"/>
                <a:ea typeface="맑은 고딕" pitchFamily="34" charset="-122"/>
                <a:cs typeface="맑은 고딕" pitchFamily="34" charset="-120"/>
              </a:rPr>
              <a:t>모델은 주행 단위 데이터로 학습되었으나, 시뮬레이션은 각 구간을 하나의 주행처럼 취급한다. 구간이 짧아질수록 이 단순화의 오차가 커진다.</a:t>
            </a:r>
            <a:endParaRPr lang="en-US" sz="1150" dirty="0"/>
          </a:p>
        </p:txBody>
      </p:sp>
      <p:sp>
        <p:nvSpPr>
          <p:cNvPr id="13" name="Shape 11"/>
          <p:cNvSpPr/>
          <p:nvPr/>
        </p:nvSpPr>
        <p:spPr>
          <a:xfrm>
            <a:off x="566928" y="2569464"/>
            <a:ext cx="5394960" cy="1115568"/>
          </a:xfrm>
          <a:prstGeom prst="roundRect">
            <a:avLst>
              <a:gd name="adj" fmla="val 4098"/>
            </a:avLst>
          </a:prstGeom>
          <a:solidFill>
            <a:srgbClr val="FFFFFF"/>
          </a:solidFill>
          <a:ln w="12700">
            <a:solidFill>
              <a:srgbClr val="D8E8F0"/>
            </a:solidFill>
            <a:prstDash val="solid"/>
          </a:ln>
        </p:spPr>
        <p:txBody>
          <a:bodyPr/>
          <a:lstStyle/>
          <a:p>
            <a:endParaRPr lang="ko-KR" altLang="en-US"/>
          </a:p>
        </p:txBody>
      </p:sp>
      <p:sp>
        <p:nvSpPr>
          <p:cNvPr id="14" name="Text 12"/>
          <p:cNvSpPr txBox="1"/>
          <p:nvPr/>
        </p:nvSpPr>
        <p:spPr>
          <a:xfrm>
            <a:off x="768096" y="2679192"/>
            <a:ext cx="5029200" cy="274320"/>
          </a:xfrm>
          <a:prstGeom prst="rect">
            <a:avLst/>
          </a:prstGeom>
          <a:noFill/>
          <a:ln/>
        </p:spPr>
        <p:txBody>
          <a:bodyPr wrap="square" lIns="0" tIns="0" rIns="0" bIns="0" rtlCol="0" anchor="ctr"/>
          <a:lstStyle/>
          <a:p>
            <a:pPr marL="0" indent="0">
              <a:buNone/>
            </a:pPr>
            <a:r>
              <a:rPr lang="en-US" sz="1300" b="1" dirty="0">
                <a:solidFill>
                  <a:srgbClr val="0E3A5C"/>
                </a:solidFill>
                <a:latin typeface="맑은 고딕" pitchFamily="34" charset="0"/>
                <a:ea typeface="맑은 고딕" pitchFamily="34" charset="-122"/>
                <a:cs typeface="맑은 고딕" pitchFamily="34" charset="-120"/>
              </a:rPr>
              <a:t>경로·시간 정보 부재</a:t>
            </a:r>
            <a:endParaRPr lang="en-US" sz="1300" dirty="0"/>
          </a:p>
        </p:txBody>
      </p:sp>
      <p:sp>
        <p:nvSpPr>
          <p:cNvPr id="15" name="Text 13"/>
          <p:cNvSpPr txBox="1"/>
          <p:nvPr/>
        </p:nvSpPr>
        <p:spPr>
          <a:xfrm>
            <a:off x="768096" y="2971800"/>
            <a:ext cx="5029200" cy="640080"/>
          </a:xfrm>
          <a:prstGeom prst="rect">
            <a:avLst/>
          </a:prstGeom>
          <a:noFill/>
          <a:ln/>
        </p:spPr>
        <p:txBody>
          <a:bodyPr wrap="square" lIns="0" tIns="0" rIns="0" bIns="0" rtlCol="0" anchor="ctr"/>
          <a:lstStyle/>
          <a:p>
            <a:pPr marL="0" indent="0">
              <a:lnSpc>
                <a:spcPts val="1600"/>
              </a:lnSpc>
              <a:buNone/>
            </a:pPr>
            <a:r>
              <a:rPr lang="en-US" sz="1150" dirty="0">
                <a:solidFill>
                  <a:srgbClr val="1A1A1A"/>
                </a:solidFill>
                <a:latin typeface="맑은 고딕" pitchFamily="34" charset="0"/>
                <a:ea typeface="맑은 고딕" pitchFamily="34" charset="-122"/>
                <a:cs typeface="맑은 고딕" pitchFamily="34" charset="-120"/>
              </a:rPr>
              <a:t>구간 연결 정보와 시간 순서가 없어 회생제동, 가감속 이력, 누적 효과를 반영하지 못한다.</a:t>
            </a:r>
            <a:endParaRPr lang="en-US" sz="1150" dirty="0"/>
          </a:p>
        </p:txBody>
      </p:sp>
      <p:sp>
        <p:nvSpPr>
          <p:cNvPr id="16" name="Shape 14"/>
          <p:cNvSpPr/>
          <p:nvPr/>
        </p:nvSpPr>
        <p:spPr>
          <a:xfrm>
            <a:off x="6236208" y="2569464"/>
            <a:ext cx="5394960" cy="1115568"/>
          </a:xfrm>
          <a:prstGeom prst="roundRect">
            <a:avLst>
              <a:gd name="adj" fmla="val 4098"/>
            </a:avLst>
          </a:prstGeom>
          <a:solidFill>
            <a:srgbClr val="FFFFFF"/>
          </a:solidFill>
          <a:ln w="12700">
            <a:solidFill>
              <a:srgbClr val="D8E8F0"/>
            </a:solidFill>
            <a:prstDash val="solid"/>
          </a:ln>
        </p:spPr>
        <p:txBody>
          <a:bodyPr/>
          <a:lstStyle/>
          <a:p>
            <a:endParaRPr lang="ko-KR" altLang="en-US"/>
          </a:p>
        </p:txBody>
      </p:sp>
      <p:sp>
        <p:nvSpPr>
          <p:cNvPr id="17" name="Text 15"/>
          <p:cNvSpPr txBox="1"/>
          <p:nvPr/>
        </p:nvSpPr>
        <p:spPr>
          <a:xfrm>
            <a:off x="6437376" y="2679192"/>
            <a:ext cx="5029200" cy="274320"/>
          </a:xfrm>
          <a:prstGeom prst="rect">
            <a:avLst/>
          </a:prstGeom>
          <a:noFill/>
          <a:ln/>
        </p:spPr>
        <p:txBody>
          <a:bodyPr wrap="square" lIns="0" tIns="0" rIns="0" bIns="0" rtlCol="0" anchor="ctr"/>
          <a:lstStyle/>
          <a:p>
            <a:pPr marL="0" indent="0">
              <a:buNone/>
            </a:pPr>
            <a:r>
              <a:rPr lang="en-US" sz="1300" b="1" dirty="0">
                <a:solidFill>
                  <a:srgbClr val="0E3A5C"/>
                </a:solidFill>
                <a:latin typeface="맑은 고딕" pitchFamily="34" charset="0"/>
                <a:ea typeface="맑은 고딕" pitchFamily="34" charset="-122"/>
                <a:cs typeface="맑은 고딕" pitchFamily="34" charset="-120"/>
              </a:rPr>
              <a:t>차량·배터리 정보 부재</a:t>
            </a:r>
            <a:endParaRPr lang="en-US" sz="1300" dirty="0"/>
          </a:p>
        </p:txBody>
      </p:sp>
      <p:sp>
        <p:nvSpPr>
          <p:cNvPr id="18" name="Text 16"/>
          <p:cNvSpPr txBox="1"/>
          <p:nvPr/>
        </p:nvSpPr>
        <p:spPr>
          <a:xfrm>
            <a:off x="6437376" y="2971800"/>
            <a:ext cx="5029200" cy="640080"/>
          </a:xfrm>
          <a:prstGeom prst="rect">
            <a:avLst/>
          </a:prstGeom>
          <a:noFill/>
          <a:ln/>
        </p:spPr>
        <p:txBody>
          <a:bodyPr wrap="square" lIns="0" tIns="0" rIns="0" bIns="0" rtlCol="0" anchor="ctr"/>
          <a:lstStyle/>
          <a:p>
            <a:pPr marL="0" indent="0">
              <a:lnSpc>
                <a:spcPts val="1600"/>
              </a:lnSpc>
              <a:buNone/>
            </a:pPr>
            <a:r>
              <a:rPr lang="en-US" sz="1150" dirty="0">
                <a:solidFill>
                  <a:srgbClr val="1A1A1A"/>
                </a:solidFill>
                <a:latin typeface="맑은 고딕" pitchFamily="34" charset="0"/>
                <a:ea typeface="맑은 고딕" pitchFamily="34" charset="-122"/>
                <a:cs typeface="맑은 고딕" pitchFamily="34" charset="-120"/>
              </a:rPr>
              <a:t>차종·사용 가능 용량·열화 상태가 없어 도착 SOC 계산은 60kWh 가정에 의존한다.</a:t>
            </a:r>
            <a:endParaRPr lang="en-US" sz="1150" dirty="0"/>
          </a:p>
        </p:txBody>
      </p:sp>
      <p:sp>
        <p:nvSpPr>
          <p:cNvPr id="19" name="Shape 17"/>
          <p:cNvSpPr/>
          <p:nvPr/>
        </p:nvSpPr>
        <p:spPr>
          <a:xfrm>
            <a:off x="566928" y="3813048"/>
            <a:ext cx="5394960" cy="1115568"/>
          </a:xfrm>
          <a:prstGeom prst="roundRect">
            <a:avLst>
              <a:gd name="adj" fmla="val 4098"/>
            </a:avLst>
          </a:prstGeom>
          <a:solidFill>
            <a:srgbClr val="FFFFFF"/>
          </a:solidFill>
          <a:ln w="12700">
            <a:solidFill>
              <a:srgbClr val="D8E8F0"/>
            </a:solidFill>
            <a:prstDash val="solid"/>
          </a:ln>
        </p:spPr>
        <p:txBody>
          <a:bodyPr/>
          <a:lstStyle/>
          <a:p>
            <a:endParaRPr lang="ko-KR" altLang="en-US"/>
          </a:p>
        </p:txBody>
      </p:sp>
      <p:sp>
        <p:nvSpPr>
          <p:cNvPr id="20" name="Text 18"/>
          <p:cNvSpPr txBox="1"/>
          <p:nvPr/>
        </p:nvSpPr>
        <p:spPr>
          <a:xfrm>
            <a:off x="768096" y="3922776"/>
            <a:ext cx="5029200" cy="274320"/>
          </a:xfrm>
          <a:prstGeom prst="rect">
            <a:avLst/>
          </a:prstGeom>
          <a:noFill/>
          <a:ln/>
        </p:spPr>
        <p:txBody>
          <a:bodyPr wrap="square" lIns="0" tIns="0" rIns="0" bIns="0" rtlCol="0" anchor="ctr"/>
          <a:lstStyle/>
          <a:p>
            <a:pPr marL="0" indent="0">
              <a:buNone/>
            </a:pPr>
            <a:r>
              <a:rPr lang="en-US" sz="1300" b="1" dirty="0">
                <a:solidFill>
                  <a:srgbClr val="0E3A5C"/>
                </a:solidFill>
                <a:latin typeface="맑은 고딕" pitchFamily="34" charset="0"/>
                <a:ea typeface="맑은 고딕" pitchFamily="34" charset="-122"/>
                <a:cs typeface="맑은 고딕" pitchFamily="34" charset="-120"/>
              </a:rPr>
              <a:t>운전 스타일 지수의 정의</a:t>
            </a:r>
            <a:endParaRPr lang="en-US" sz="1300" dirty="0"/>
          </a:p>
        </p:txBody>
      </p:sp>
      <p:sp>
        <p:nvSpPr>
          <p:cNvPr id="21" name="Text 19"/>
          <p:cNvSpPr txBox="1"/>
          <p:nvPr/>
        </p:nvSpPr>
        <p:spPr>
          <a:xfrm>
            <a:off x="768096" y="4215384"/>
            <a:ext cx="5029200" cy="640080"/>
          </a:xfrm>
          <a:prstGeom prst="rect">
            <a:avLst/>
          </a:prstGeom>
          <a:noFill/>
          <a:ln/>
        </p:spPr>
        <p:txBody>
          <a:bodyPr wrap="square" lIns="0" tIns="0" rIns="0" bIns="0" rtlCol="0" anchor="ctr"/>
          <a:lstStyle/>
          <a:p>
            <a:pPr marL="0" indent="0">
              <a:lnSpc>
                <a:spcPts val="1600"/>
              </a:lnSpc>
              <a:buNone/>
            </a:pPr>
            <a:r>
              <a:rPr lang="en-US" sz="1150" dirty="0">
                <a:solidFill>
                  <a:srgbClr val="1A1A1A"/>
                </a:solidFill>
                <a:latin typeface="맑은 고딕" pitchFamily="34" charset="0"/>
                <a:ea typeface="맑은 고딕" pitchFamily="34" charset="-122"/>
                <a:cs typeface="맑은 고딕" pitchFamily="34" charset="-120"/>
              </a:rPr>
              <a:t>driving_style_index의 산출 기준이 원자료에 없어 값의 의미를 단정할 수 없다.</a:t>
            </a:r>
            <a:endParaRPr lang="en-US" sz="1150" dirty="0"/>
          </a:p>
        </p:txBody>
      </p:sp>
      <p:sp>
        <p:nvSpPr>
          <p:cNvPr id="22" name="Shape 20"/>
          <p:cNvSpPr/>
          <p:nvPr/>
        </p:nvSpPr>
        <p:spPr>
          <a:xfrm>
            <a:off x="6236208" y="3813048"/>
            <a:ext cx="5394960" cy="1115568"/>
          </a:xfrm>
          <a:prstGeom prst="roundRect">
            <a:avLst>
              <a:gd name="adj" fmla="val 4098"/>
            </a:avLst>
          </a:prstGeom>
          <a:solidFill>
            <a:srgbClr val="FFFFFF"/>
          </a:solidFill>
          <a:ln w="12700">
            <a:solidFill>
              <a:srgbClr val="D8E8F0"/>
            </a:solidFill>
            <a:prstDash val="solid"/>
          </a:ln>
        </p:spPr>
        <p:txBody>
          <a:bodyPr/>
          <a:lstStyle/>
          <a:p>
            <a:endParaRPr lang="ko-KR" altLang="en-US"/>
          </a:p>
        </p:txBody>
      </p:sp>
      <p:sp>
        <p:nvSpPr>
          <p:cNvPr id="23" name="Text 21"/>
          <p:cNvSpPr txBox="1"/>
          <p:nvPr/>
        </p:nvSpPr>
        <p:spPr>
          <a:xfrm>
            <a:off x="6437376" y="3922776"/>
            <a:ext cx="5029200" cy="274320"/>
          </a:xfrm>
          <a:prstGeom prst="rect">
            <a:avLst/>
          </a:prstGeom>
          <a:noFill/>
          <a:ln/>
        </p:spPr>
        <p:txBody>
          <a:bodyPr wrap="square" lIns="0" tIns="0" rIns="0" bIns="0" rtlCol="0" anchor="ctr"/>
          <a:lstStyle/>
          <a:p>
            <a:pPr marL="0" indent="0">
              <a:buNone/>
            </a:pPr>
            <a:r>
              <a:rPr lang="en-US" sz="1300" b="1" dirty="0">
                <a:solidFill>
                  <a:srgbClr val="0E3A5C"/>
                </a:solidFill>
                <a:latin typeface="맑은 고딕" pitchFamily="34" charset="0"/>
                <a:ea typeface="맑은 고딕" pitchFamily="34" charset="-122"/>
                <a:cs typeface="맑은 고딕" pitchFamily="34" charset="-120"/>
              </a:rPr>
              <a:t>인과관계 아님</a:t>
            </a:r>
            <a:endParaRPr lang="en-US" sz="1300" dirty="0"/>
          </a:p>
        </p:txBody>
      </p:sp>
      <p:sp>
        <p:nvSpPr>
          <p:cNvPr id="24" name="Text 22"/>
          <p:cNvSpPr txBox="1"/>
          <p:nvPr/>
        </p:nvSpPr>
        <p:spPr>
          <a:xfrm>
            <a:off x="6437376" y="4215384"/>
            <a:ext cx="5029200" cy="640080"/>
          </a:xfrm>
          <a:prstGeom prst="rect">
            <a:avLst/>
          </a:prstGeom>
          <a:noFill/>
          <a:ln/>
        </p:spPr>
        <p:txBody>
          <a:bodyPr wrap="square" lIns="0" tIns="0" rIns="0" bIns="0" rtlCol="0" anchor="ctr"/>
          <a:lstStyle/>
          <a:p>
            <a:pPr marL="0" indent="0">
              <a:lnSpc>
                <a:spcPts val="1600"/>
              </a:lnSpc>
              <a:buNone/>
            </a:pPr>
            <a:r>
              <a:rPr lang="en-US" sz="1150" dirty="0">
                <a:solidFill>
                  <a:srgbClr val="1A1A1A"/>
                </a:solidFill>
                <a:latin typeface="맑은 고딕" pitchFamily="34" charset="0"/>
                <a:ea typeface="맑은 고딕" pitchFamily="34" charset="-122"/>
                <a:cs typeface="맑은 고딕" pitchFamily="34" charset="-120"/>
              </a:rPr>
              <a:t>상관계수와 표준화 영향도는 관계의 크기를 요약할 뿐, 인과를 증명하지 않는다.</a:t>
            </a:r>
            <a:endParaRPr lang="en-US" sz="1150" dirty="0"/>
          </a:p>
        </p:txBody>
      </p:sp>
      <p:sp>
        <p:nvSpPr>
          <p:cNvPr id="25" name="Shape 23"/>
          <p:cNvSpPr/>
          <p:nvPr/>
        </p:nvSpPr>
        <p:spPr>
          <a:xfrm>
            <a:off x="566928" y="5056632"/>
            <a:ext cx="5394960" cy="1115568"/>
          </a:xfrm>
          <a:prstGeom prst="roundRect">
            <a:avLst>
              <a:gd name="adj" fmla="val 4098"/>
            </a:avLst>
          </a:prstGeom>
          <a:solidFill>
            <a:srgbClr val="FFFFFF"/>
          </a:solidFill>
          <a:ln w="12700">
            <a:solidFill>
              <a:srgbClr val="D8E8F0"/>
            </a:solidFill>
            <a:prstDash val="solid"/>
          </a:ln>
        </p:spPr>
        <p:txBody>
          <a:bodyPr/>
          <a:lstStyle/>
          <a:p>
            <a:endParaRPr lang="ko-KR" altLang="en-US"/>
          </a:p>
        </p:txBody>
      </p:sp>
      <p:sp>
        <p:nvSpPr>
          <p:cNvPr id="26" name="Text 24"/>
          <p:cNvSpPr txBox="1"/>
          <p:nvPr/>
        </p:nvSpPr>
        <p:spPr>
          <a:xfrm>
            <a:off x="768096" y="5166360"/>
            <a:ext cx="5029200" cy="274320"/>
          </a:xfrm>
          <a:prstGeom prst="rect">
            <a:avLst/>
          </a:prstGeom>
          <a:noFill/>
          <a:ln/>
        </p:spPr>
        <p:txBody>
          <a:bodyPr wrap="square" lIns="0" tIns="0" rIns="0" bIns="0" rtlCol="0" anchor="ctr"/>
          <a:lstStyle/>
          <a:p>
            <a:pPr marL="0" indent="0">
              <a:buNone/>
            </a:pPr>
            <a:r>
              <a:rPr lang="en-US" sz="1300" b="1" dirty="0">
                <a:solidFill>
                  <a:srgbClr val="0E3A5C"/>
                </a:solidFill>
                <a:latin typeface="맑은 고딕" pitchFamily="34" charset="0"/>
                <a:ea typeface="맑은 고딕" pitchFamily="34" charset="-122"/>
                <a:cs typeface="맑은 고딕" pitchFamily="34" charset="-120"/>
              </a:rPr>
              <a:t>안전 기준의 임의성</a:t>
            </a:r>
            <a:endParaRPr lang="en-US" sz="1300" dirty="0"/>
          </a:p>
        </p:txBody>
      </p:sp>
      <p:sp>
        <p:nvSpPr>
          <p:cNvPr id="27" name="Text 25"/>
          <p:cNvSpPr txBox="1"/>
          <p:nvPr/>
        </p:nvSpPr>
        <p:spPr>
          <a:xfrm>
            <a:off x="768096" y="5458968"/>
            <a:ext cx="5029200" cy="640080"/>
          </a:xfrm>
          <a:prstGeom prst="rect">
            <a:avLst/>
          </a:prstGeom>
          <a:noFill/>
          <a:ln/>
        </p:spPr>
        <p:txBody>
          <a:bodyPr wrap="square" lIns="0" tIns="0" rIns="0" bIns="0" rtlCol="0" anchor="ctr"/>
          <a:lstStyle/>
          <a:p>
            <a:pPr marL="0" indent="0">
              <a:lnSpc>
                <a:spcPts val="1600"/>
              </a:lnSpc>
              <a:buNone/>
            </a:pPr>
            <a:r>
              <a:rPr lang="en-US" sz="1150" dirty="0">
                <a:solidFill>
                  <a:srgbClr val="1A1A1A"/>
                </a:solidFill>
                <a:latin typeface="맑은 고딕" pitchFamily="34" charset="0"/>
                <a:ea typeface="맑은 고딕" pitchFamily="34" charset="-122"/>
                <a:cs typeface="맑은 고딕" pitchFamily="34" charset="-120"/>
              </a:rPr>
              <a:t>최소 도착 SOC 10%는 시뮬레이션을 위해 설정한 값이다. 실제로는 제조사 정책과 예측 불확실성을 반영해야 한다.</a:t>
            </a:r>
            <a:endParaRPr lang="en-US" sz="1150" dirty="0"/>
          </a:p>
        </p:txBody>
      </p:sp>
      <p:sp>
        <p:nvSpPr>
          <p:cNvPr id="28" name="Shape 26"/>
          <p:cNvSpPr/>
          <p:nvPr/>
        </p:nvSpPr>
        <p:spPr>
          <a:xfrm>
            <a:off x="6236208" y="5056632"/>
            <a:ext cx="5394960" cy="1115568"/>
          </a:xfrm>
          <a:prstGeom prst="roundRect">
            <a:avLst>
              <a:gd name="adj" fmla="val 4098"/>
            </a:avLst>
          </a:prstGeom>
          <a:solidFill>
            <a:srgbClr val="FFFFFF"/>
          </a:solidFill>
          <a:ln w="12700">
            <a:solidFill>
              <a:srgbClr val="D8E8F0"/>
            </a:solidFill>
            <a:prstDash val="solid"/>
          </a:ln>
        </p:spPr>
        <p:txBody>
          <a:bodyPr/>
          <a:lstStyle/>
          <a:p>
            <a:endParaRPr lang="ko-KR" altLang="en-US"/>
          </a:p>
        </p:txBody>
      </p:sp>
      <p:sp>
        <p:nvSpPr>
          <p:cNvPr id="29" name="Text 27"/>
          <p:cNvSpPr txBox="1"/>
          <p:nvPr/>
        </p:nvSpPr>
        <p:spPr>
          <a:xfrm>
            <a:off x="6437376" y="5166360"/>
            <a:ext cx="5029200" cy="274320"/>
          </a:xfrm>
          <a:prstGeom prst="rect">
            <a:avLst/>
          </a:prstGeom>
          <a:noFill/>
          <a:ln/>
        </p:spPr>
        <p:txBody>
          <a:bodyPr wrap="square" lIns="0" tIns="0" rIns="0" bIns="0" rtlCol="0" anchor="ctr"/>
          <a:lstStyle/>
          <a:p>
            <a:pPr marL="0" indent="0">
              <a:buNone/>
            </a:pPr>
            <a:r>
              <a:rPr lang="en-US" sz="1300" b="1" dirty="0">
                <a:solidFill>
                  <a:srgbClr val="0E3A5C"/>
                </a:solidFill>
                <a:latin typeface="맑은 고딕" pitchFamily="34" charset="0"/>
                <a:ea typeface="맑은 고딕" pitchFamily="34" charset="-122"/>
                <a:cs typeface="맑은 고딕" pitchFamily="34" charset="-120"/>
              </a:rPr>
              <a:t>시나리오 기반 시연</a:t>
            </a:r>
            <a:endParaRPr lang="en-US" sz="1300" dirty="0"/>
          </a:p>
        </p:txBody>
      </p:sp>
      <p:sp>
        <p:nvSpPr>
          <p:cNvPr id="30" name="Text 28"/>
          <p:cNvSpPr txBox="1"/>
          <p:nvPr/>
        </p:nvSpPr>
        <p:spPr>
          <a:xfrm>
            <a:off x="6437376" y="5458968"/>
            <a:ext cx="5029200" cy="640080"/>
          </a:xfrm>
          <a:prstGeom prst="rect">
            <a:avLst/>
          </a:prstGeom>
          <a:noFill/>
          <a:ln/>
        </p:spPr>
        <p:txBody>
          <a:bodyPr wrap="square" lIns="0" tIns="0" rIns="0" bIns="0" rtlCol="0" anchor="ctr"/>
          <a:lstStyle/>
          <a:p>
            <a:pPr marL="0" indent="0">
              <a:lnSpc>
                <a:spcPts val="1600"/>
              </a:lnSpc>
              <a:buNone/>
            </a:pPr>
            <a:r>
              <a:rPr lang="en-US" sz="1150" dirty="0">
                <a:solidFill>
                  <a:srgbClr val="1A1A1A"/>
                </a:solidFill>
                <a:latin typeface="맑은 고딕" pitchFamily="34" charset="0"/>
                <a:ea typeface="맑은 고딕" pitchFamily="34" charset="-122"/>
                <a:cs typeface="맑은 고딕" pitchFamily="34" charset="-120"/>
              </a:rPr>
              <a:t>경로 비교는 실제 지도 데이터가 아니라 CSV 변수 범위 안에서 만든 가상 시나리오다.</a:t>
            </a:r>
            <a:endParaRPr lang="en-US" sz="11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40">
    <p:bg>
      <p:bgPr>
        <a:solidFill>
          <a:srgbClr val="0E3A5C"/>
        </a:solidFill>
        <a:effectLst/>
      </p:bgPr>
    </p:bg>
    <p:spTree>
      <p:nvGrpSpPr>
        <p:cNvPr id="1" name=""/>
        <p:cNvGrpSpPr/>
        <p:nvPr/>
      </p:nvGrpSpPr>
      <p:grpSpPr>
        <a:xfrm>
          <a:off x="0" y="0"/>
          <a:ext cx="0" cy="0"/>
          <a:chOff x="0" y="0"/>
          <a:chExt cx="0" cy="0"/>
        </a:xfrm>
      </p:grpSpPr>
      <p:sp>
        <p:nvSpPr>
          <p:cNvPr id="2" name="Shape 0"/>
          <p:cNvSpPr/>
          <p:nvPr/>
        </p:nvSpPr>
        <p:spPr>
          <a:xfrm>
            <a:off x="10241280" y="-1097280"/>
            <a:ext cx="3474720" cy="3474720"/>
          </a:xfrm>
          <a:prstGeom prst="ellipse">
            <a:avLst/>
          </a:prstGeom>
          <a:solidFill>
            <a:srgbClr val="1C7293">
              <a:alpha val="22000"/>
            </a:srgbClr>
          </a:solidFill>
          <a:ln w="12700">
            <a:solidFill>
              <a:srgbClr val="1C7293">
                <a:alpha val="0"/>
              </a:srgbClr>
            </a:solidFill>
            <a:prstDash val="solid"/>
          </a:ln>
        </p:spPr>
        <p:txBody>
          <a:bodyPr/>
          <a:lstStyle/>
          <a:p>
            <a:endParaRPr lang="ko-KR" altLang="en-US"/>
          </a:p>
        </p:txBody>
      </p:sp>
      <p:sp>
        <p:nvSpPr>
          <p:cNvPr id="3" name="Text 1"/>
          <p:cNvSpPr txBox="1"/>
          <p:nvPr/>
        </p:nvSpPr>
        <p:spPr>
          <a:xfrm>
            <a:off x="566928" y="548640"/>
            <a:ext cx="5486400" cy="548640"/>
          </a:xfrm>
          <a:prstGeom prst="rect">
            <a:avLst/>
          </a:prstGeom>
          <a:noFill/>
          <a:ln/>
        </p:spPr>
        <p:txBody>
          <a:bodyPr wrap="square" lIns="0" tIns="0" rIns="0" bIns="0" rtlCol="0" anchor="ctr"/>
          <a:lstStyle/>
          <a:p>
            <a:pPr marL="0" indent="0">
              <a:buNone/>
            </a:pPr>
            <a:r>
              <a:rPr lang="en-US" sz="3000" b="1" dirty="0">
                <a:solidFill>
                  <a:srgbClr val="FFFFFF"/>
                </a:solidFill>
                <a:latin typeface="맑은 고딕" pitchFamily="34" charset="0"/>
                <a:ea typeface="맑은 고딕" pitchFamily="34" charset="-122"/>
                <a:cs typeface="맑은 고딕" pitchFamily="34" charset="-120"/>
              </a:rPr>
              <a:t>결론</a:t>
            </a:r>
            <a:endParaRPr lang="en-US" sz="3000" dirty="0"/>
          </a:p>
        </p:txBody>
      </p:sp>
      <p:sp>
        <p:nvSpPr>
          <p:cNvPr id="4" name="Shape 2"/>
          <p:cNvSpPr/>
          <p:nvPr/>
        </p:nvSpPr>
        <p:spPr>
          <a:xfrm>
            <a:off x="566928" y="1298448"/>
            <a:ext cx="11064240" cy="1005840"/>
          </a:xfrm>
          <a:prstGeom prst="roundRect">
            <a:avLst>
              <a:gd name="adj" fmla="val 4545"/>
            </a:avLst>
          </a:prstGeom>
          <a:solidFill>
            <a:srgbClr val="17496E"/>
          </a:solidFill>
          <a:ln w="12700">
            <a:solidFill>
              <a:srgbClr val="1C7293"/>
            </a:solidFill>
            <a:prstDash val="solid"/>
          </a:ln>
        </p:spPr>
        <p:txBody>
          <a:bodyPr/>
          <a:lstStyle/>
          <a:p>
            <a:endParaRPr lang="ko-KR" altLang="en-US"/>
          </a:p>
        </p:txBody>
      </p:sp>
      <p:sp>
        <p:nvSpPr>
          <p:cNvPr id="5" name="Text 3"/>
          <p:cNvSpPr txBox="1"/>
          <p:nvPr/>
        </p:nvSpPr>
        <p:spPr>
          <a:xfrm>
            <a:off x="859536" y="1298448"/>
            <a:ext cx="10515600" cy="1005840"/>
          </a:xfrm>
          <a:prstGeom prst="rect">
            <a:avLst/>
          </a:prstGeom>
          <a:noFill/>
          <a:ln/>
        </p:spPr>
        <p:txBody>
          <a:bodyPr wrap="square" lIns="0" tIns="0" rIns="0" bIns="0" rtlCol="0" anchor="ctr"/>
          <a:lstStyle/>
          <a:p>
            <a:pPr marL="0" indent="0">
              <a:lnSpc>
                <a:spcPts val="2400"/>
              </a:lnSpc>
              <a:buNone/>
            </a:pPr>
            <a:r>
              <a:rPr lang="en-US" sz="1500" dirty="0">
                <a:solidFill>
                  <a:srgbClr val="FFFFFF"/>
                </a:solidFill>
                <a:latin typeface="맑은 고딕" pitchFamily="34" charset="0"/>
                <a:ea typeface="맑은 고딕" pitchFamily="34" charset="-122"/>
                <a:cs typeface="맑은 고딕" pitchFamily="34" charset="-120"/>
              </a:rPr>
              <a:t>9개 주행·환경 조건과 저온·고온 파생변수를 사용한 선형회귀는 소비율 변동의 95.1%를 설명하며,</a:t>
            </a:r>
            <a:endParaRPr lang="en-US" sz="1500" dirty="0"/>
          </a:p>
          <a:p>
            <a:pPr marL="0" indent="0">
              <a:lnSpc>
                <a:spcPts val="2400"/>
              </a:lnSpc>
              <a:buNone/>
            </a:pPr>
            <a:r>
              <a:rPr lang="en-US" sz="1500" dirty="0">
                <a:solidFill>
                  <a:srgbClr val="FFFFFF"/>
                </a:solidFill>
                <a:latin typeface="맑은 고딕" pitchFamily="34" charset="0"/>
                <a:ea typeface="맑은 고딕" pitchFamily="34" charset="-122"/>
                <a:cs typeface="맑은 고딕" pitchFamily="34" charset="-120"/>
              </a:rPr>
              <a:t>이 예측값은 경로별 소비전력량과 도착 SOC를 산출하는 비용 함수로 사용할 수 있다.</a:t>
            </a:r>
            <a:endParaRPr lang="en-US" sz="1500" dirty="0"/>
          </a:p>
        </p:txBody>
      </p:sp>
      <p:sp>
        <p:nvSpPr>
          <p:cNvPr id="6" name="Text 4"/>
          <p:cNvSpPr txBox="1"/>
          <p:nvPr/>
        </p:nvSpPr>
        <p:spPr>
          <a:xfrm>
            <a:off x="566928" y="2606040"/>
            <a:ext cx="3474720" cy="329184"/>
          </a:xfrm>
          <a:prstGeom prst="rect">
            <a:avLst/>
          </a:prstGeom>
          <a:noFill/>
          <a:ln/>
        </p:spPr>
        <p:txBody>
          <a:bodyPr wrap="square" lIns="0" tIns="0" rIns="0" bIns="0" rtlCol="0" anchor="ctr"/>
          <a:lstStyle/>
          <a:p>
            <a:pPr marL="0" indent="0">
              <a:buNone/>
            </a:pPr>
            <a:r>
              <a:rPr lang="en-US" sz="1500" b="1" dirty="0">
                <a:solidFill>
                  <a:srgbClr val="D8E8F0"/>
                </a:solidFill>
                <a:latin typeface="맑은 고딕" pitchFamily="34" charset="0"/>
                <a:ea typeface="맑은 고딕" pitchFamily="34" charset="-122"/>
                <a:cs typeface="맑은 고딕" pitchFamily="34" charset="-120"/>
              </a:rPr>
              <a:t>분석 과정에서 배운 것</a:t>
            </a:r>
            <a:endParaRPr lang="en-US" sz="1500" dirty="0"/>
          </a:p>
        </p:txBody>
      </p:sp>
      <p:sp>
        <p:nvSpPr>
          <p:cNvPr id="7" name="Text 5"/>
          <p:cNvSpPr txBox="1"/>
          <p:nvPr/>
        </p:nvSpPr>
        <p:spPr>
          <a:xfrm>
            <a:off x="566928" y="3035808"/>
            <a:ext cx="3474720" cy="219456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250" dirty="0">
                <a:solidFill>
                  <a:srgbClr val="E3EEF5"/>
                </a:solidFill>
                <a:latin typeface="맑은 고딕" pitchFamily="34" charset="0"/>
                <a:ea typeface="맑은 고딕" pitchFamily="34" charset="-122"/>
                <a:cs typeface="맑은 고딕" pitchFamily="34" charset="-120"/>
              </a:rPr>
              <a:t>지표가 가장 좋은 모델이 곧 옳은 모델은 아니다</a:t>
            </a:r>
            <a:endParaRPr lang="en-US" sz="1250" dirty="0"/>
          </a:p>
          <a:p>
            <a:pPr marL="342900" indent="-342900">
              <a:lnSpc>
                <a:spcPts val="2000"/>
              </a:lnSpc>
              <a:spcAft>
                <a:spcPts val="800"/>
              </a:spcAft>
              <a:buSzPct val="100000"/>
              <a:buChar char="–"/>
            </a:pPr>
            <a:r>
              <a:rPr lang="en-US" sz="1250" dirty="0">
                <a:solidFill>
                  <a:srgbClr val="E3EEF5"/>
                </a:solidFill>
                <a:latin typeface="맑은 고딕" pitchFamily="34" charset="0"/>
                <a:ea typeface="맑은 고딕" pitchFamily="34" charset="-122"/>
                <a:cs typeface="맑은 고딕" pitchFamily="34" charset="-120"/>
              </a:rPr>
              <a:t>잔차를 조건별로 나눠 보면 구조적 오류가 드러난다</a:t>
            </a:r>
            <a:endParaRPr lang="en-US" sz="1250" dirty="0"/>
          </a:p>
          <a:p>
            <a:pPr marL="342900" indent="-342900">
              <a:lnSpc>
                <a:spcPts val="2000"/>
              </a:lnSpc>
              <a:spcAft>
                <a:spcPts val="800"/>
              </a:spcAft>
              <a:buSzPct val="100000"/>
              <a:buChar char="–"/>
            </a:pPr>
            <a:r>
              <a:rPr lang="en-US" sz="1250" dirty="0">
                <a:solidFill>
                  <a:srgbClr val="E3EEF5"/>
                </a:solidFill>
                <a:latin typeface="맑은 고딕" pitchFamily="34" charset="0"/>
                <a:ea typeface="맑은 고딕" pitchFamily="34" charset="-122"/>
                <a:cs typeface="맑은 고딕" pitchFamily="34" charset="-120"/>
              </a:rPr>
              <a:t>상관계수가 작다고 영향이 작은 것은 아니다</a:t>
            </a:r>
            <a:endParaRPr lang="en-US" sz="1250" dirty="0"/>
          </a:p>
          <a:p>
            <a:pPr marL="342900" indent="-342900">
              <a:lnSpc>
                <a:spcPts val="2000"/>
              </a:lnSpc>
              <a:spcAft>
                <a:spcPts val="800"/>
              </a:spcAft>
              <a:buSzPct val="100000"/>
              <a:buChar char="–"/>
            </a:pPr>
            <a:r>
              <a:rPr lang="en-US" sz="1250" dirty="0">
                <a:solidFill>
                  <a:srgbClr val="E3EEF5"/>
                </a:solidFill>
                <a:latin typeface="맑은 고딕" pitchFamily="34" charset="0"/>
                <a:ea typeface="맑은 고딕" pitchFamily="34" charset="-122"/>
                <a:cs typeface="맑은 고딕" pitchFamily="34" charset="-120"/>
              </a:rPr>
              <a:t>단순한 모델이 이기는 경우도 있다</a:t>
            </a:r>
            <a:endParaRPr lang="en-US" sz="1250" dirty="0"/>
          </a:p>
        </p:txBody>
      </p:sp>
      <p:sp>
        <p:nvSpPr>
          <p:cNvPr id="8" name="Text 6"/>
          <p:cNvSpPr txBox="1"/>
          <p:nvPr/>
        </p:nvSpPr>
        <p:spPr>
          <a:xfrm>
            <a:off x="4270248" y="2606040"/>
            <a:ext cx="3474720" cy="329184"/>
          </a:xfrm>
          <a:prstGeom prst="rect">
            <a:avLst/>
          </a:prstGeom>
          <a:noFill/>
          <a:ln/>
        </p:spPr>
        <p:txBody>
          <a:bodyPr wrap="square" lIns="0" tIns="0" rIns="0" bIns="0" rtlCol="0" anchor="ctr"/>
          <a:lstStyle/>
          <a:p>
            <a:pPr marL="0" indent="0">
              <a:buNone/>
            </a:pPr>
            <a:r>
              <a:rPr lang="en-US" sz="1500" b="1" dirty="0">
                <a:solidFill>
                  <a:srgbClr val="8FD8B8"/>
                </a:solidFill>
                <a:latin typeface="맑은 고딕" pitchFamily="34" charset="0"/>
                <a:ea typeface="맑은 고딕" pitchFamily="34" charset="-122"/>
                <a:cs typeface="맑은 고딕" pitchFamily="34" charset="-120"/>
              </a:rPr>
              <a:t>오차의 업무적 의미</a:t>
            </a:r>
            <a:endParaRPr lang="en-US" sz="1500" dirty="0"/>
          </a:p>
        </p:txBody>
      </p:sp>
      <p:sp>
        <p:nvSpPr>
          <p:cNvPr id="9" name="Text 7"/>
          <p:cNvSpPr txBox="1"/>
          <p:nvPr/>
        </p:nvSpPr>
        <p:spPr>
          <a:xfrm>
            <a:off x="4270248" y="3035808"/>
            <a:ext cx="3474720" cy="219456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250" dirty="0">
                <a:solidFill>
                  <a:srgbClr val="E3EEF5"/>
                </a:solidFill>
                <a:latin typeface="맑은 고딕" pitchFamily="34" charset="0"/>
                <a:ea typeface="맑은 고딕" pitchFamily="34" charset="-122"/>
                <a:cs typeface="맑은 고딕" pitchFamily="34" charset="-120"/>
              </a:rPr>
              <a:t>RMSE 0.81 kWh/100km</a:t>
            </a:r>
            <a:endParaRPr lang="en-US" sz="1250" dirty="0"/>
          </a:p>
          <a:p>
            <a:pPr marL="342900" indent="-342900">
              <a:lnSpc>
                <a:spcPts val="2000"/>
              </a:lnSpc>
              <a:spcAft>
                <a:spcPts val="800"/>
              </a:spcAft>
              <a:buSzPct val="100000"/>
              <a:buChar char="–"/>
            </a:pPr>
            <a:r>
              <a:rPr lang="en-US" sz="1250" dirty="0">
                <a:solidFill>
                  <a:srgbClr val="E3EEF5"/>
                </a:solidFill>
                <a:latin typeface="맑은 고딕" pitchFamily="34" charset="0"/>
                <a:ea typeface="맑은 고딕" pitchFamily="34" charset="-122"/>
                <a:cs typeface="맑은 고딕" pitchFamily="34" charset="-120"/>
              </a:rPr>
              <a:t>150km 경로에서 약 1.22kWh</a:t>
            </a:r>
            <a:endParaRPr lang="en-US" sz="1250" dirty="0"/>
          </a:p>
          <a:p>
            <a:pPr marL="342900" indent="-342900">
              <a:lnSpc>
                <a:spcPts val="2000"/>
              </a:lnSpc>
              <a:spcAft>
                <a:spcPts val="800"/>
              </a:spcAft>
              <a:buSzPct val="100000"/>
              <a:buChar char="–"/>
            </a:pPr>
            <a:r>
              <a:rPr lang="en-US" sz="1250" dirty="0">
                <a:solidFill>
                  <a:srgbClr val="E3EEF5"/>
                </a:solidFill>
                <a:latin typeface="맑은 고딕" pitchFamily="34" charset="0"/>
                <a:ea typeface="맑은 고딕" pitchFamily="34" charset="-122"/>
                <a:cs typeface="맑은 고딕" pitchFamily="34" charset="-120"/>
              </a:rPr>
              <a:t>도착 SOC로 약 2.0%p 오차</a:t>
            </a:r>
            <a:endParaRPr lang="en-US" sz="1250" dirty="0"/>
          </a:p>
          <a:p>
            <a:pPr marL="342900" indent="-342900">
              <a:lnSpc>
                <a:spcPts val="2000"/>
              </a:lnSpc>
              <a:spcAft>
                <a:spcPts val="800"/>
              </a:spcAft>
              <a:buSzPct val="100000"/>
              <a:buChar char="–"/>
            </a:pPr>
            <a:r>
              <a:rPr lang="en-US" sz="1250" dirty="0">
                <a:solidFill>
                  <a:srgbClr val="E3EEF5"/>
                </a:solidFill>
                <a:latin typeface="맑은 고딕" pitchFamily="34" charset="0"/>
                <a:ea typeface="맑은 고딕" pitchFamily="34" charset="-122"/>
                <a:cs typeface="맑은 고딕" pitchFamily="34" charset="-120"/>
              </a:rPr>
              <a:t>안전 잔량 10%보다 충분히 작다</a:t>
            </a:r>
            <a:endParaRPr lang="en-US" sz="1250" dirty="0"/>
          </a:p>
        </p:txBody>
      </p:sp>
      <p:sp>
        <p:nvSpPr>
          <p:cNvPr id="10" name="Text 8"/>
          <p:cNvSpPr txBox="1"/>
          <p:nvPr/>
        </p:nvSpPr>
        <p:spPr>
          <a:xfrm>
            <a:off x="7973568" y="2606040"/>
            <a:ext cx="3474720" cy="329184"/>
          </a:xfrm>
          <a:prstGeom prst="rect">
            <a:avLst/>
          </a:prstGeom>
          <a:noFill/>
          <a:ln/>
        </p:spPr>
        <p:txBody>
          <a:bodyPr wrap="square" lIns="0" tIns="0" rIns="0" bIns="0" rtlCol="0" anchor="ctr"/>
          <a:lstStyle/>
          <a:p>
            <a:pPr marL="0" indent="0">
              <a:buNone/>
            </a:pPr>
            <a:r>
              <a:rPr lang="en-US" sz="1500" b="1" dirty="0">
                <a:solidFill>
                  <a:srgbClr val="F0C070"/>
                </a:solidFill>
                <a:latin typeface="맑은 고딕" pitchFamily="34" charset="0"/>
                <a:ea typeface="맑은 고딕" pitchFamily="34" charset="-122"/>
                <a:cs typeface="맑은 고딕" pitchFamily="34" charset="-120"/>
              </a:rPr>
              <a:t>업무 활용 결론</a:t>
            </a:r>
            <a:endParaRPr lang="en-US" sz="1500" dirty="0"/>
          </a:p>
        </p:txBody>
      </p:sp>
      <p:sp>
        <p:nvSpPr>
          <p:cNvPr id="11" name="Text 9"/>
          <p:cNvSpPr txBox="1"/>
          <p:nvPr/>
        </p:nvSpPr>
        <p:spPr>
          <a:xfrm>
            <a:off x="7973568" y="3035808"/>
            <a:ext cx="3474720" cy="219456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250" dirty="0">
                <a:solidFill>
                  <a:srgbClr val="E3EEF5"/>
                </a:solidFill>
                <a:latin typeface="맑은 고딕" pitchFamily="34" charset="0"/>
                <a:ea typeface="맑은 고딕" pitchFamily="34" charset="-122"/>
                <a:cs typeface="맑은 고딕" pitchFamily="34" charset="-120"/>
              </a:rPr>
              <a:t>최단거리도 최단시간도 최소 에너지가 아니다</a:t>
            </a:r>
            <a:endParaRPr lang="en-US" sz="1250" dirty="0"/>
          </a:p>
          <a:p>
            <a:pPr marL="342900" indent="-342900">
              <a:lnSpc>
                <a:spcPts val="2000"/>
              </a:lnSpc>
              <a:spcAft>
                <a:spcPts val="800"/>
              </a:spcAft>
              <a:buSzPct val="100000"/>
              <a:buChar char="–"/>
            </a:pPr>
            <a:r>
              <a:rPr lang="en-US" sz="1250" dirty="0">
                <a:solidFill>
                  <a:srgbClr val="E3EEF5"/>
                </a:solidFill>
                <a:latin typeface="맑은 고딕" pitchFamily="34" charset="0"/>
                <a:ea typeface="맑은 고딕" pitchFamily="34" charset="-122"/>
                <a:cs typeface="맑은 고딕" pitchFamily="34" charset="-120"/>
              </a:rPr>
              <a:t>최소 에너지 경로가 가장 느린 길일 필요는 없다</a:t>
            </a:r>
            <a:endParaRPr lang="en-US" sz="1250" dirty="0"/>
          </a:p>
          <a:p>
            <a:pPr marL="342900" indent="-342900">
              <a:lnSpc>
                <a:spcPts val="2000"/>
              </a:lnSpc>
              <a:spcAft>
                <a:spcPts val="800"/>
              </a:spcAft>
              <a:buSzPct val="100000"/>
              <a:buChar char="–"/>
            </a:pPr>
            <a:r>
              <a:rPr lang="en-US" sz="1250" dirty="0">
                <a:solidFill>
                  <a:srgbClr val="E3EEF5"/>
                </a:solidFill>
                <a:latin typeface="맑은 고딕" pitchFamily="34" charset="0"/>
                <a:ea typeface="맑은 고딕" pitchFamily="34" charset="-122"/>
                <a:cs typeface="맑은 고딕" pitchFamily="34" charset="-120"/>
              </a:rPr>
              <a:t>에너지 관점 경로 정보를 제공할 실익이 있다</a:t>
            </a:r>
            <a:endParaRPr lang="en-US" sz="1250" dirty="0"/>
          </a:p>
          <a:p>
            <a:pPr marL="342900" indent="-342900">
              <a:lnSpc>
                <a:spcPts val="2000"/>
              </a:lnSpc>
              <a:spcAft>
                <a:spcPts val="800"/>
              </a:spcAft>
              <a:buSzPct val="100000"/>
              <a:buChar char="–"/>
            </a:pPr>
            <a:r>
              <a:rPr lang="en-US" sz="1250" dirty="0">
                <a:solidFill>
                  <a:srgbClr val="E3EEF5"/>
                </a:solidFill>
                <a:latin typeface="맑은 고딕" pitchFamily="34" charset="0"/>
                <a:ea typeface="맑은 고딕" pitchFamily="34" charset="-122"/>
                <a:cs typeface="맑은 고딕" pitchFamily="34" charset="-120"/>
              </a:rPr>
              <a:t>도착 SOC로 안전 여부를 사전 판단할 수 있다</a:t>
            </a:r>
            <a:endParaRPr lang="en-US" sz="1250" dirty="0"/>
          </a:p>
          <a:p>
            <a:pPr marL="342900" indent="-342900">
              <a:lnSpc>
                <a:spcPts val="2000"/>
              </a:lnSpc>
              <a:spcAft>
                <a:spcPts val="800"/>
              </a:spcAft>
              <a:buSzPct val="100000"/>
              <a:buChar char="–"/>
            </a:pPr>
            <a:r>
              <a:rPr lang="en-US" sz="1250" dirty="0">
                <a:solidFill>
                  <a:srgbClr val="E3EEF5"/>
                </a:solidFill>
                <a:latin typeface="맑은 고딕" pitchFamily="34" charset="0"/>
                <a:ea typeface="맑은 고딕" pitchFamily="34" charset="-122"/>
                <a:cs typeface="맑은 고딕" pitchFamily="34" charset="-120"/>
              </a:rPr>
              <a:t>단, 실차 검증은 아직 남아 있다</a:t>
            </a:r>
            <a:endParaRPr lang="en-US" sz="1250" dirty="0"/>
          </a:p>
        </p:txBody>
      </p:sp>
      <p:sp>
        <p:nvSpPr>
          <p:cNvPr id="12" name="Text 10"/>
          <p:cNvSpPr txBox="1"/>
          <p:nvPr/>
        </p:nvSpPr>
        <p:spPr>
          <a:xfrm>
            <a:off x="566928" y="5669280"/>
            <a:ext cx="11064240" cy="365760"/>
          </a:xfrm>
          <a:prstGeom prst="rect">
            <a:avLst/>
          </a:prstGeom>
          <a:noFill/>
          <a:ln/>
        </p:spPr>
        <p:txBody>
          <a:bodyPr wrap="square" lIns="0" tIns="0" rIns="0" bIns="0" rtlCol="0" anchor="ctr"/>
          <a:lstStyle/>
          <a:p>
            <a:pPr marL="0" indent="0">
              <a:buNone/>
            </a:pPr>
            <a:r>
              <a:rPr lang="en-US" sz="1400" i="1" dirty="0">
                <a:solidFill>
                  <a:srgbClr val="D8E8F0"/>
                </a:solidFill>
                <a:latin typeface="맑은 고딕" pitchFamily="34" charset="0"/>
                <a:ea typeface="맑은 고딕" pitchFamily="34" charset="-122"/>
                <a:cs typeface="맑은 고딕" pitchFamily="34" charset="-120"/>
              </a:rPr>
              <a:t>이 프로젝트는 정답을 맞힌 기록이 아니라, 문제를 정의하고 판단의 근거를 남긴 기록입니다.</a:t>
            </a:r>
            <a:endParaRPr lang="en-US" sz="1400" dirty="0"/>
          </a:p>
        </p:txBody>
      </p:sp>
      <p:sp>
        <p:nvSpPr>
          <p:cNvPr id="13" name="Text 11"/>
          <p:cNvSpPr txBox="1"/>
          <p:nvPr/>
        </p:nvSpPr>
        <p:spPr>
          <a:xfrm>
            <a:off x="566928" y="6080760"/>
            <a:ext cx="11064240" cy="365760"/>
          </a:xfrm>
          <a:prstGeom prst="rect">
            <a:avLst/>
          </a:prstGeom>
          <a:noFill/>
          <a:ln/>
        </p:spPr>
        <p:txBody>
          <a:bodyPr wrap="square" lIns="0" tIns="0" rIns="0" bIns="0" rtlCol="0" anchor="ctr"/>
          <a:lstStyle/>
          <a:p>
            <a:pPr marL="0" indent="0">
              <a:buNone/>
            </a:pPr>
            <a:r>
              <a:rPr lang="en-US" sz="1500" b="1" dirty="0">
                <a:solidFill>
                  <a:srgbClr val="FFFFFF"/>
                </a:solidFill>
                <a:latin typeface="맑은 고딕" pitchFamily="34" charset="0"/>
                <a:ea typeface="맑은 고딕" pitchFamily="34" charset="-122"/>
                <a:cs typeface="맑은 고딕" pitchFamily="34" charset="-120"/>
              </a:rPr>
              <a:t>감사합니다.</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81</TotalTime>
  <Words>7079</Words>
  <Application>Microsoft Office PowerPoint</Application>
  <PresentationFormat>와이드스크린</PresentationFormat>
  <Paragraphs>958</Paragraphs>
  <Slides>37</Slides>
  <Notes>37</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37</vt:i4>
      </vt:variant>
    </vt:vector>
  </HeadingPairs>
  <TitlesOfParts>
    <vt:vector size="40" baseType="lpstr">
      <vt:lpstr>맑은 고딕</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전기차 에너지 소비율 예측</dc:title>
  <dc:subject>PptxGenJS Presentation</dc:subject>
  <dc:creator>EV Energy Consumption Project</dc:creator>
  <cp:lastModifiedBy>덕우 강</cp:lastModifiedBy>
  <cp:revision>6</cp:revision>
  <dcterms:created xsi:type="dcterms:W3CDTF">2026-08-28T05:17:33Z</dcterms:created>
  <dcterms:modified xsi:type="dcterms:W3CDTF">2026-08-28T07:59:58Z</dcterms:modified>
</cp:coreProperties>
</file>